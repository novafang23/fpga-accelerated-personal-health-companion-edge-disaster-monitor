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5b8c4df3-5205-5717-365c-213ebd773480}">
          <p14:sldIdLst>
            <p14:sldId id="256"/>
          </p14:sldIdLst>
        </p14:section>
        <p14:section name="Problem and solution" id="{e0471f7c-93f4-ec6e-ab5c-d63a1662d40f}">
          <p14:sldIdLst>
            <p14:sldId id="257"/>
            <p14:sldId id="258"/>
          </p14:sldIdLst>
        </p14:section>
        <p14:section name="Architecture" id="{1ed05bb5-a7c4-74bd-e3e4-b9a154d8df63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rototype and validation" id="{4f57c34b-32e4-302a-f8e5-abde615ef8e6}">
          <p14:sldIdLst>
            <p14:sldId id="265"/>
            <p14:sldId id="266"/>
            <p14:sldId id="267"/>
            <p14:sldId id="268"/>
          </p14:sldIdLst>
        </p14:section>
        <p14:section name="Impact and references" id="{5a999815-c14a-8367-afa6-c078a6ffa36a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B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B2B"/>
                </a:solidFill>
                <a:latin typeface="+mn-lt"/>
              </a:rPr>
              <a:t>Triage pipeline vs rule, 16,387 MIMIC-III records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MIMIC-III benchmark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B1B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B5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Accuracy</c:v>
                  </c:pt>
                  <c:pt idx="1">
                    <c:v>Specificity</c:v>
                  </c:pt>
                  <c:pt idx="2">
                    <c:v>Sensitivity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94.11</c:v>
                </c:pt>
                <c:pt idx="1">
                  <c:v>98.19</c:v>
                </c:pt>
                <c:pt idx="2">
                  <c:v>58.18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0B1B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B1B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7DE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60350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8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5852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VALOR  ·  SIH26181  ·  Team Chipsters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56692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Team Chipsters  ·  SIH26181  ·  MedTech and assistive wearable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SMART INDIA HACKATHON 2026  ·  SIH26181  ·  MEDTECH AND ASSISTIVE WEARABLE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4630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b="1" dirty="0">
                <a:solidFill>
                  <a:schemeClr val="bg1"/>
                </a:solidFill>
              </a:rPr>
              <a:t>VALOR</a:t>
            </a:r>
            <a:endParaRPr lang="en-US" sz="8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1546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Vital and Atmospheric Logic for Offline Rescue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An FPGA-accelerated health companion and disaster monitor that keeps working when the network does not.</a:t>
            </a:r>
            <a:endParaRPr lang="en-US" sz="1600" dirty="0"/>
          </a:p>
        </p:txBody>
      </p:sp>
      <p:sp>
        <p:nvSpPr>
          <p:cNvPr id="6" name="Pill 1"/>
          <p:cNvSpPr/>
          <p:nvPr/>
        </p:nvSpPr>
        <p:spPr>
          <a:xfrm>
            <a:off x="731520" y="534924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5349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ESP32-S3 + ForgeFPGA</a:t>
            </a:r>
            <a:endParaRPr lang="en-US" sz="1400" dirty="0"/>
          </a:p>
        </p:txBody>
      </p:sp>
      <p:sp>
        <p:nvSpPr>
          <p:cNvPr id="8" name="Pill 2"/>
          <p:cNvSpPr/>
          <p:nvPr/>
        </p:nvSpPr>
        <p:spPr>
          <a:xfrm>
            <a:off x="3291840" y="5349240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91840" y="5349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Fully offline</a:t>
            </a:r>
            <a:endParaRPr lang="en-US" sz="1400" dirty="0"/>
          </a:p>
        </p:txBody>
      </p:sp>
      <p:sp>
        <p:nvSpPr>
          <p:cNvPr id="10" name="Pill 3"/>
          <p:cNvSpPr/>
          <p:nvPr/>
        </p:nvSpPr>
        <p:spPr>
          <a:xfrm>
            <a:off x="5212080" y="5349240"/>
            <a:ext cx="274320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5349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Early warning, not diagnosis</a:t>
            </a:r>
            <a:endParaRPr lang="en-US" sz="1400" dirty="0"/>
          </a:p>
        </p:txBody>
      </p:sp>
      <p:sp>
        <p:nvSpPr>
          <p:cNvPr id="12" name="ECG motif"/>
          <p:cNvSpPr/>
          <p:nvPr/>
        </p:nvSpPr>
        <p:spPr>
          <a:xfrm>
            <a:off x="6949440" y="2011680"/>
            <a:ext cx="4800600" cy="2377440"/>
          </a:xfrm>
          <a:custGeom>
            <a:avLst/>
            <a:gdLst/>
            <a:ahLst/>
            <a:cxnLst/>
            <a:rect l="l" t="t" r="r" b="b"/>
            <a:pathLst>
              <a:path w="4800600" h="2377440">
                <a:moveTo>
                  <a:pt x="0" y="1188720"/>
                </a:moveTo>
                <a:lnTo>
                  <a:pt x="320040" y="1188720"/>
                </a:lnTo>
                <a:lnTo>
                  <a:pt x="457200" y="987552"/>
                </a:lnTo>
                <a:lnTo>
                  <a:pt x="594360" y="1188720"/>
                </a:lnTo>
                <a:lnTo>
                  <a:pt x="731520" y="1188720"/>
                </a:lnTo>
                <a:lnTo>
                  <a:pt x="804672" y="1371600"/>
                </a:lnTo>
                <a:lnTo>
                  <a:pt x="914400" y="91440"/>
                </a:lnTo>
                <a:lnTo>
                  <a:pt x="1042416" y="1828800"/>
                </a:lnTo>
                <a:lnTo>
                  <a:pt x="1133856" y="1188720"/>
                </a:lnTo>
                <a:lnTo>
                  <a:pt x="1280160" y="1188720"/>
                </a:lnTo>
                <a:lnTo>
                  <a:pt x="1417320" y="914400"/>
                </a:lnTo>
                <a:lnTo>
                  <a:pt x="1554480" y="1188720"/>
                </a:lnTo>
                <a:lnTo>
                  <a:pt x="1600200" y="1188720"/>
                </a:lnTo>
                <a:lnTo>
                  <a:pt x="1920240" y="1188720"/>
                </a:lnTo>
                <a:lnTo>
                  <a:pt x="2057400" y="987552"/>
                </a:lnTo>
                <a:lnTo>
                  <a:pt x="2194560" y="1188720"/>
                </a:lnTo>
                <a:lnTo>
                  <a:pt x="2331720" y="1188720"/>
                </a:lnTo>
                <a:lnTo>
                  <a:pt x="2404872" y="1371600"/>
                </a:lnTo>
                <a:lnTo>
                  <a:pt x="2514600" y="91440"/>
                </a:lnTo>
                <a:lnTo>
                  <a:pt x="2642616" y="1828800"/>
                </a:lnTo>
                <a:lnTo>
                  <a:pt x="2734056" y="1188720"/>
                </a:lnTo>
                <a:lnTo>
                  <a:pt x="2880360" y="1188720"/>
                </a:lnTo>
                <a:lnTo>
                  <a:pt x="3017520" y="914400"/>
                </a:lnTo>
                <a:lnTo>
                  <a:pt x="3154680" y="1188720"/>
                </a:lnTo>
                <a:lnTo>
                  <a:pt x="3200400" y="1188720"/>
                </a:lnTo>
                <a:lnTo>
                  <a:pt x="3520440" y="1188720"/>
                </a:lnTo>
                <a:lnTo>
                  <a:pt x="3657600" y="987552"/>
                </a:lnTo>
                <a:lnTo>
                  <a:pt x="3794760" y="1188720"/>
                </a:lnTo>
                <a:lnTo>
                  <a:pt x="3931920" y="1188720"/>
                </a:lnTo>
                <a:lnTo>
                  <a:pt x="4005072" y="1371600"/>
                </a:lnTo>
                <a:lnTo>
                  <a:pt x="4114800" y="91440"/>
                </a:lnTo>
                <a:lnTo>
                  <a:pt x="4242816" y="1828800"/>
                </a:lnTo>
                <a:lnTo>
                  <a:pt x="4334256" y="1188720"/>
                </a:lnTo>
                <a:lnTo>
                  <a:pt x="4480560" y="1188720"/>
                </a:lnTo>
                <a:lnTo>
                  <a:pt x="4617720" y="914400"/>
                </a:lnTo>
                <a:lnTo>
                  <a:pt x="4754880" y="1188720"/>
                </a:lnTo>
                <a:lnTo>
                  <a:pt x="4800600" y="1188720"/>
                </a:lnTo>
              </a:path>
            </a:pathLst>
          </a:custGeom>
          <a:solidFill>
            <a:schemeClr val="tx1">
              <a:alpha val="0"/>
            </a:schemeClr>
          </a:solidFill>
          <a:ln w="44450">
            <a:solidFill>
              <a:schemeClr val="accent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When networks fail, wearables go silent</a:t>
            </a:r>
            <a:endParaRPr lang="en-US" sz="3400" dirty="0"/>
          </a:p>
        </p:txBody>
      </p:sp>
      <p:sp>
        <p:nvSpPr>
          <p:cNvPr id="3" name="Problem card 1"/>
          <p:cNvSpPr/>
          <p:nvPr/>
        </p:nvSpPr>
        <p:spPr>
          <a:xfrm>
            <a:off x="548640" y="1417320"/>
            <a:ext cx="35661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4" name="Disasters cut the cloud badge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mage 0" descr="Disasters cut the 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Disasters cut the cloud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Towers and internet fail in floods, cyclones and quakes. Consumer wearables rely on a phone or cloud, so they go quiet when people need them most.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4297680" y="1417320"/>
            <a:ext cx="35661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9" name="Body and environment are split badge"/>
          <p:cNvSpPr/>
          <p:nvPr/>
        </p:nvSpPr>
        <p:spPr>
          <a:xfrm>
            <a:off x="4572000" y="16916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mage 1" descr="Body and environment are spl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745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Body and environment are split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3246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Heat, smoke and storms make a person's condition worse, yet health apps and weather tools are separate products that never read each other.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8046720" y="1417320"/>
            <a:ext cx="35661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4" name="Noisy pulse signals cause false alarms badge"/>
          <p:cNvSpPr/>
          <p:nvPr/>
        </p:nvSpPr>
        <p:spPr>
          <a:xfrm>
            <a:off x="8321040" y="16916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2" descr="Noisy pulse signals cause false alarm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745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Noisy pulse signals cause false alarms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246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Motion artifacts corrupt pulse signals. A rescue tool must gate bad data and delay escalation, or people stop trusting it.</a:t>
            </a:r>
            <a:endParaRPr lang="en-US" sz="1400" dirty="0"/>
          </a:p>
        </p:txBody>
      </p:sp>
      <p:sp>
        <p:nvSpPr>
          <p:cNvPr id="18" name="Takeaway banner"/>
          <p:cNvSpPr/>
          <p:nvPr/>
        </p:nvSpPr>
        <p:spPr>
          <a:xfrm>
            <a:off x="548640" y="493776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914400" y="49377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VALOR is built for the case where nothing is connected: </a:t>
            </a:r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it fuses body and environment signals on the wrist, runs everything on the device, and warns early.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VALOR: one wrist device, fully offline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Sense the body and the air, decide on the device, alert the wearer and the rescuer.</a:t>
            </a:r>
            <a:endParaRPr lang="en-US" sz="2000" dirty="0"/>
          </a:p>
        </p:txBody>
      </p:sp>
      <p:sp>
        <p:nvSpPr>
          <p:cNvPr id="4" name="Pillar SENSE"/>
          <p:cNvSpPr/>
          <p:nvPr/>
        </p:nvSpPr>
        <p:spPr>
          <a:xfrm>
            <a:off x="548640" y="1965960"/>
            <a:ext cx="3566160" cy="41605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SENSE badge"/>
          <p:cNvSpPr/>
          <p:nvPr/>
        </p:nvSpPr>
        <p:spPr>
          <a:xfrm>
            <a:off x="822960" y="224028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SEN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43459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240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SENSE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Pulse and SpO₂ (MAX30102)</a:t>
            </a:r>
            <a:endParaRPr lang="en-US" sz="15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Temperature, humidity, pressure (BME280)</a:t>
            </a:r>
            <a:endParaRPr lang="en-US" sz="15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Dust and smoke (PMS5003)</a:t>
            </a:r>
            <a:endParaRPr lang="en-US" sz="15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Motion and falls (MPU6050)</a:t>
            </a:r>
            <a:endParaRPr lang="en-US" sz="15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Position (GNSS module)</a:t>
            </a:r>
            <a:endParaRPr lang="en-US" sz="1500" dirty="0"/>
          </a:p>
        </p:txBody>
      </p:sp>
      <p:sp>
        <p:nvSpPr>
          <p:cNvPr id="9" name="Pillar DECIDE"/>
          <p:cNvSpPr/>
          <p:nvPr/>
        </p:nvSpPr>
        <p:spPr>
          <a:xfrm>
            <a:off x="4297680" y="1965960"/>
            <a:ext cx="3566160" cy="41605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0" name="DECIDE badge"/>
          <p:cNvSpPr/>
          <p:nvPr/>
        </p:nvSpPr>
        <p:spPr>
          <a:xfrm>
            <a:off x="4572000" y="22402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DECI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10" y="243459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2240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DECIDE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2918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FPGA beat detection in hardware</a:t>
            </a:r>
            <a:endParaRPr lang="en-US" sz="15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619-byte INT8 neural network</a:t>
            </a:r>
            <a:endParaRPr lang="en-US" sz="15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mNEWS2 and hazard rules</a:t>
            </a:r>
            <a:endParaRPr lang="en-US" sz="15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Hard rules always override the network</a:t>
            </a:r>
            <a:endParaRPr lang="en-US" sz="1500" dirty="0"/>
          </a:p>
        </p:txBody>
      </p:sp>
      <p:sp>
        <p:nvSpPr>
          <p:cNvPr id="14" name="Pillar ALERT"/>
          <p:cNvSpPr/>
          <p:nvPr/>
        </p:nvSpPr>
        <p:spPr>
          <a:xfrm>
            <a:off x="8046720" y="1965960"/>
            <a:ext cx="3566160" cy="41605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5" name="ALERT badge"/>
          <p:cNvSpPr/>
          <p:nvPr/>
        </p:nvSpPr>
        <p:spPr>
          <a:xfrm>
            <a:off x="8321040" y="22402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243459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35440" y="2240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ALERT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2918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OLED emergency card</a:t>
            </a:r>
            <a:endParaRPr lang="en-US" sz="15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Buzzer and FPGA-driven heartbeat LED</a:t>
            </a:r>
            <a:endParaRPr lang="en-US" sz="15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Offline Wi-Fi dashboard for rescuers</a:t>
            </a:r>
            <a:endParaRPr lang="en-US" sz="15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10 s cancel window against false alarms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System architecture: two brains, one wearable</a:t>
            </a:r>
            <a:endParaRPr lang="en-US" sz="3400" dirty="0"/>
          </a:p>
        </p:txBody>
      </p:sp>
      <p:sp>
        <p:nvSpPr>
          <p:cNvPr id="3" name="Sensor MAX30102"/>
          <p:cNvSpPr/>
          <p:nvPr/>
        </p:nvSpPr>
        <p:spPr>
          <a:xfrm>
            <a:off x="548640" y="1325880"/>
            <a:ext cx="28346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MAX30102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55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Pulse PPG · die temperature</a:t>
            </a:r>
            <a:endParaRPr lang="en-US" sz="1200" dirty="0"/>
          </a:p>
        </p:txBody>
      </p:sp>
      <p:sp>
        <p:nvSpPr>
          <p:cNvPr id="6" name="Bus MAX30102"/>
          <p:cNvSpPr/>
          <p:nvPr/>
        </p:nvSpPr>
        <p:spPr>
          <a:xfrm>
            <a:off x="3383280" y="1728216"/>
            <a:ext cx="914400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3383280" y="1435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I2C</a:t>
            </a:r>
            <a:endParaRPr lang="en-US" sz="1200" dirty="0"/>
          </a:p>
        </p:txBody>
      </p:sp>
      <p:sp>
        <p:nvSpPr>
          <p:cNvPr id="8" name="Sensor MPU6050"/>
          <p:cNvSpPr/>
          <p:nvPr/>
        </p:nvSpPr>
        <p:spPr>
          <a:xfrm>
            <a:off x="548640" y="2304288"/>
            <a:ext cx="28346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MPU6050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340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Motion · fall detection</a:t>
            </a:r>
            <a:endParaRPr lang="en-US" sz="1200" dirty="0"/>
          </a:p>
        </p:txBody>
      </p:sp>
      <p:sp>
        <p:nvSpPr>
          <p:cNvPr id="11" name="Bus MPU6050"/>
          <p:cNvSpPr/>
          <p:nvPr/>
        </p:nvSpPr>
        <p:spPr>
          <a:xfrm>
            <a:off x="3383280" y="2706624"/>
            <a:ext cx="914400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383280" y="24140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I2C</a:t>
            </a:r>
            <a:endParaRPr lang="en-US" sz="1200" dirty="0"/>
          </a:p>
        </p:txBody>
      </p:sp>
      <p:sp>
        <p:nvSpPr>
          <p:cNvPr id="13" name="Sensor BME280"/>
          <p:cNvSpPr/>
          <p:nvPr/>
        </p:nvSpPr>
        <p:spPr>
          <a:xfrm>
            <a:off x="548640" y="3282696"/>
            <a:ext cx="28346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3741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BME280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12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Temp · humidity · pressure</a:t>
            </a:r>
            <a:endParaRPr lang="en-US" sz="1200" dirty="0"/>
          </a:p>
        </p:txBody>
      </p:sp>
      <p:sp>
        <p:nvSpPr>
          <p:cNvPr id="16" name="Bus BME280"/>
          <p:cNvSpPr/>
          <p:nvPr/>
        </p:nvSpPr>
        <p:spPr>
          <a:xfrm>
            <a:off x="3383280" y="3685032"/>
            <a:ext cx="914400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383280" y="33924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I2C</a:t>
            </a:r>
            <a:endParaRPr lang="en-US" sz="1200" dirty="0"/>
          </a:p>
        </p:txBody>
      </p:sp>
      <p:sp>
        <p:nvSpPr>
          <p:cNvPr id="18" name="Sensor PMS5003 (5 V)"/>
          <p:cNvSpPr/>
          <p:nvPr/>
        </p:nvSpPr>
        <p:spPr>
          <a:xfrm>
            <a:off x="548640" y="4261104"/>
            <a:ext cx="28346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3525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PMS5003 (5 V)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690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PM1 / PM2.5 / PM10 particles</a:t>
            </a:r>
            <a:endParaRPr lang="en-US" sz="1200" dirty="0"/>
          </a:p>
        </p:txBody>
      </p:sp>
      <p:sp>
        <p:nvSpPr>
          <p:cNvPr id="21" name="Bus PMS5003 (5 V)"/>
          <p:cNvSpPr/>
          <p:nvPr/>
        </p:nvSpPr>
        <p:spPr>
          <a:xfrm>
            <a:off x="3383280" y="4663440"/>
            <a:ext cx="9144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383280" y="43708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UART</a:t>
            </a:r>
            <a:endParaRPr lang="en-US" sz="1200" dirty="0"/>
          </a:p>
        </p:txBody>
      </p:sp>
      <p:sp>
        <p:nvSpPr>
          <p:cNvPr id="23" name="Sensor GNSS module"/>
          <p:cNvSpPr/>
          <p:nvPr/>
        </p:nvSpPr>
        <p:spPr>
          <a:xfrm>
            <a:off x="548640" y="5239512"/>
            <a:ext cx="28346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53309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GNSS module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669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Satellite position</a:t>
            </a:r>
            <a:endParaRPr lang="en-US" sz="1200" dirty="0"/>
          </a:p>
        </p:txBody>
      </p:sp>
      <p:sp>
        <p:nvSpPr>
          <p:cNvPr id="26" name="Bus GNSS module"/>
          <p:cNvSpPr/>
          <p:nvPr/>
        </p:nvSpPr>
        <p:spPr>
          <a:xfrm>
            <a:off x="3383280" y="5641848"/>
            <a:ext cx="9144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383280" y="5349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UART</a:t>
            </a:r>
            <a:endParaRPr lang="en-US" sz="1200" dirty="0"/>
          </a:p>
        </p:txBody>
      </p:sp>
      <p:sp>
        <p:nvSpPr>
          <p:cNvPr id="28" name="ESP32 block"/>
          <p:cNvSpPr/>
          <p:nvPr/>
        </p:nvSpPr>
        <p:spPr>
          <a:xfrm>
            <a:off x="4297680" y="1325880"/>
            <a:ext cx="3383280" cy="4754880"/>
          </a:xfrm>
          <a:prstGeom prst="roundRect">
            <a:avLst>
              <a:gd name="adj" fmla="val 3243"/>
            </a:avLst>
          </a:prstGeom>
          <a:solidFill>
            <a:schemeClr val="tx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2628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ESP32-S3 · FreeRTOS</a:t>
            </a:r>
            <a:endParaRPr lang="en-US" sz="1600" dirty="0"/>
          </a:p>
        </p:txBody>
      </p:sp>
      <p:sp>
        <p:nvSpPr>
          <p:cNvPr id="30" name="Core 0"/>
          <p:cNvSpPr/>
          <p:nvPr/>
        </p:nvSpPr>
        <p:spPr>
          <a:xfrm>
            <a:off x="4526280" y="1965960"/>
            <a:ext cx="292608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709160" y="2084832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Core 0 · priority 5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100 Hz sensor read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SPI to FPGA, interval burst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SpO₂ from red / IR ratio</a:t>
            </a:r>
            <a:endParaRPr lang="en-US" sz="1200" dirty="0"/>
          </a:p>
        </p:txBody>
      </p:sp>
      <p:sp>
        <p:nvSpPr>
          <p:cNvPr id="32" name="Core 1"/>
          <p:cNvSpPr/>
          <p:nvPr/>
        </p:nvSpPr>
        <p:spPr>
          <a:xfrm>
            <a:off x="4526280" y="3703320"/>
            <a:ext cx="292608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09160" y="3822192"/>
            <a:ext cx="2606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Core 1 · 1 Hz fusion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Signal quality · HRV · mNEWS2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TinyML risk network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SOS and fall state machines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PM and GNSS parsing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Wi-Fi hotspot and web server</a:t>
            </a:r>
            <a:endParaRPr lang="en-US" sz="1200" dirty="0"/>
          </a:p>
        </p:txBody>
      </p:sp>
      <p:sp>
        <p:nvSpPr>
          <p:cNvPr id="34" name="FPGA block"/>
          <p:cNvSpPr/>
          <p:nvPr/>
        </p:nvSpPr>
        <p:spPr>
          <a:xfrm>
            <a:off x="8595360" y="1325880"/>
            <a:ext cx="3063240" cy="2697480"/>
          </a:xfrm>
          <a:prstGeom prst="roundRect">
            <a:avLst>
              <a:gd name="adj" fmla="val 4068"/>
            </a:avLst>
          </a:prstGeom>
          <a:solidFill>
            <a:schemeClr val="tx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23960" y="1444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ForgeFPGA SLG47910V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823960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50 MHz fixed clock · pure logic</a:t>
            </a:r>
            <a:endParaRPr lang="en-US" sz="1200" dirty="0"/>
          </a:p>
        </p:txBody>
      </p:sp>
      <p:sp>
        <p:nvSpPr>
          <p:cNvPr id="37" name="FPGA chip 1"/>
          <p:cNvSpPr/>
          <p:nvPr/>
        </p:nvSpPr>
        <p:spPr>
          <a:xfrm>
            <a:off x="8823960" y="2194560"/>
            <a:ext cx="2606040" cy="502920"/>
          </a:xfrm>
          <a:prstGeom prst="roundRect">
            <a:avLst>
              <a:gd name="adj" fmla="val 21818"/>
            </a:avLst>
          </a:prstGeom>
          <a:solidFill>
            <a:schemeClr val="tx2"/>
          </a:solidFill>
          <a:ln/>
        </p:spPr>
      </p:sp>
      <p:sp>
        <p:nvSpPr>
          <p:cNvPr id="38" name="Chip dot 1"/>
          <p:cNvSpPr/>
          <p:nvPr/>
        </p:nvSpPr>
        <p:spPr>
          <a:xfrm>
            <a:off x="8961120" y="2377440"/>
            <a:ext cx="137160" cy="137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18972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8-tap moving average</a:t>
            </a:r>
            <a:endParaRPr lang="en-US" sz="1300" dirty="0"/>
          </a:p>
        </p:txBody>
      </p:sp>
      <p:sp>
        <p:nvSpPr>
          <p:cNvPr id="40" name="FPGA chip 2"/>
          <p:cNvSpPr/>
          <p:nvPr/>
        </p:nvSpPr>
        <p:spPr>
          <a:xfrm>
            <a:off x="8823960" y="2798064"/>
            <a:ext cx="2606040" cy="502920"/>
          </a:xfrm>
          <a:prstGeom prst="roundRect">
            <a:avLst>
              <a:gd name="adj" fmla="val 21818"/>
            </a:avLst>
          </a:prstGeom>
          <a:solidFill>
            <a:schemeClr val="tx2"/>
          </a:solidFill>
          <a:ln/>
        </p:spPr>
      </p:sp>
      <p:sp>
        <p:nvSpPr>
          <p:cNvPr id="41" name="Chip dot 2"/>
          <p:cNvSpPr/>
          <p:nvPr/>
        </p:nvSpPr>
        <p:spPr>
          <a:xfrm>
            <a:off x="8961120" y="2980944"/>
            <a:ext cx="137160" cy="137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189720" y="27980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Peak detector FSM</a:t>
            </a:r>
            <a:endParaRPr lang="en-US" sz="1300" dirty="0"/>
          </a:p>
        </p:txBody>
      </p:sp>
      <p:sp>
        <p:nvSpPr>
          <p:cNvPr id="43" name="FPGA chip 3"/>
          <p:cNvSpPr/>
          <p:nvPr/>
        </p:nvSpPr>
        <p:spPr>
          <a:xfrm>
            <a:off x="8823960" y="3401568"/>
            <a:ext cx="2606040" cy="502920"/>
          </a:xfrm>
          <a:prstGeom prst="roundRect">
            <a:avLst>
              <a:gd name="adj" fmla="val 21818"/>
            </a:avLst>
          </a:prstGeom>
          <a:solidFill>
            <a:schemeClr val="tx2"/>
          </a:solidFill>
          <a:ln/>
        </p:spPr>
      </p:sp>
      <p:sp>
        <p:nvSpPr>
          <p:cNvPr id="44" name="Chip dot 3"/>
          <p:cNvSpPr/>
          <p:nvPr/>
        </p:nvSpPr>
        <p:spPr>
          <a:xfrm>
            <a:off x="8961120" y="3584448"/>
            <a:ext cx="137160" cy="137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189720" y="34015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LED stretcher → blue LED</a:t>
            </a:r>
            <a:endParaRPr lang="en-US" sz="1300" dirty="0"/>
          </a:p>
        </p:txBody>
      </p:sp>
      <p:sp>
        <p:nvSpPr>
          <p:cNvPr id="46" name="SPI link"/>
          <p:cNvSpPr/>
          <p:nvPr/>
        </p:nvSpPr>
        <p:spPr>
          <a:xfrm>
            <a:off x="7680960" y="2651760"/>
            <a:ext cx="91440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768096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SPI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768096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 MHz</a:t>
            </a:r>
            <a:endParaRPr lang="en-US" sz="1200" dirty="0"/>
          </a:p>
        </p:txBody>
      </p:sp>
      <p:sp>
        <p:nvSpPr>
          <p:cNvPr id="49" name="Output OLED 128×64"/>
          <p:cNvSpPr/>
          <p:nvPr/>
        </p:nvSpPr>
        <p:spPr>
          <a:xfrm>
            <a:off x="8595360" y="4251960"/>
            <a:ext cx="306324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778240" y="4288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OLED 128×64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8778240" y="45445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Emergency card</a:t>
            </a:r>
            <a:endParaRPr lang="en-US" sz="1100" dirty="0"/>
          </a:p>
        </p:txBody>
      </p:sp>
      <p:sp>
        <p:nvSpPr>
          <p:cNvPr id="52" name="Out OLED 128×64"/>
          <p:cNvSpPr/>
          <p:nvPr/>
        </p:nvSpPr>
        <p:spPr>
          <a:xfrm>
            <a:off x="7680960" y="4526280"/>
            <a:ext cx="914400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7680960" y="42519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I2C</a:t>
            </a:r>
            <a:endParaRPr lang="en-US" sz="1200" dirty="0"/>
          </a:p>
        </p:txBody>
      </p:sp>
      <p:sp>
        <p:nvSpPr>
          <p:cNvPr id="54" name="Output Buzzer"/>
          <p:cNvSpPr/>
          <p:nvPr/>
        </p:nvSpPr>
        <p:spPr>
          <a:xfrm>
            <a:off x="8595360" y="4873752"/>
            <a:ext cx="306324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778240" y="4910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Buzzer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8778240" y="5166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Sounds when SOS is active</a:t>
            </a:r>
            <a:endParaRPr lang="en-US" sz="1100" dirty="0"/>
          </a:p>
        </p:txBody>
      </p:sp>
      <p:sp>
        <p:nvSpPr>
          <p:cNvPr id="57" name="Out Buzzer"/>
          <p:cNvSpPr/>
          <p:nvPr/>
        </p:nvSpPr>
        <p:spPr>
          <a:xfrm>
            <a:off x="7680960" y="5148072"/>
            <a:ext cx="914400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7680960" y="48737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GPIO</a:t>
            </a:r>
            <a:endParaRPr lang="en-US" sz="1200" dirty="0"/>
          </a:p>
        </p:txBody>
      </p:sp>
      <p:sp>
        <p:nvSpPr>
          <p:cNvPr id="59" name="Output Wi-Fi dashboard"/>
          <p:cNvSpPr/>
          <p:nvPr/>
        </p:nvSpPr>
        <p:spPr>
          <a:xfrm>
            <a:off x="8595360" y="5495544"/>
            <a:ext cx="306324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778240" y="5532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Wi-Fi dashboard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8778240" y="57881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Offline hotspot · 192.168.4.1</a:t>
            </a:r>
            <a:endParaRPr lang="en-US" sz="1100" dirty="0"/>
          </a:p>
        </p:txBody>
      </p:sp>
      <p:sp>
        <p:nvSpPr>
          <p:cNvPr id="62" name="Out Wi-Fi dashboard"/>
          <p:cNvSpPr/>
          <p:nvPr/>
        </p:nvSpPr>
        <p:spPr>
          <a:xfrm>
            <a:off x="7680960" y="5769864"/>
            <a:ext cx="91440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3" name="Text 61"/>
          <p:cNvSpPr txBox="1"/>
          <p:nvPr/>
        </p:nvSpPr>
        <p:spPr>
          <a:xfrm>
            <a:off x="7680960" y="54955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Wi-Fi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One heartbeat, end to end</a:t>
            </a:r>
            <a:endParaRPr lang="en-US" sz="3400" dirty="0"/>
          </a:p>
        </p:txBody>
      </p:sp>
      <p:sp>
        <p:nvSpPr>
          <p:cNvPr id="3" name="Step 1"/>
          <p:cNvSpPr/>
          <p:nvPr/>
        </p:nvSpPr>
        <p:spPr>
          <a:xfrm>
            <a:off x="548640" y="1371600"/>
            <a:ext cx="262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Step number 1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ESP32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677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Sample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MAX30102 captures an IR sample every 10 ms</a:t>
            </a:r>
            <a:endParaRPr lang="en-US" sz="1300" dirty="0"/>
          </a:p>
        </p:txBody>
      </p:sp>
      <p:sp>
        <p:nvSpPr>
          <p:cNvPr id="9" name="Step 2"/>
          <p:cNvSpPr/>
          <p:nvPr/>
        </p:nvSpPr>
        <p:spPr>
          <a:xfrm>
            <a:off x="3355848" y="1371600"/>
            <a:ext cx="262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Step number 2"/>
          <p:cNvSpPr/>
          <p:nvPr/>
        </p:nvSpPr>
        <p:spPr>
          <a:xfrm>
            <a:off x="3584448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444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270248" y="1600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ESP32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22677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Condition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84448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Core 0 removes the baseline and scales to 8 bits</a:t>
            </a:r>
            <a:endParaRPr lang="en-US" sz="1300" dirty="0"/>
          </a:p>
        </p:txBody>
      </p:sp>
      <p:sp>
        <p:nvSpPr>
          <p:cNvPr id="15" name="Step 3"/>
          <p:cNvSpPr/>
          <p:nvPr/>
        </p:nvSpPr>
        <p:spPr>
          <a:xfrm>
            <a:off x="6163056" y="1371600"/>
            <a:ext cx="262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Step number 3"/>
          <p:cNvSpPr/>
          <p:nvPr/>
        </p:nvSpPr>
        <p:spPr>
          <a:xfrm>
            <a:off x="6391656" y="16002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91656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077456" y="1600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SPI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22677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Send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The sample goes to the FPGA over SPI</a:t>
            </a:r>
            <a:endParaRPr lang="en-US" sz="1300" dirty="0"/>
          </a:p>
        </p:txBody>
      </p:sp>
      <p:sp>
        <p:nvSpPr>
          <p:cNvPr id="21" name="Step 4"/>
          <p:cNvSpPr/>
          <p:nvPr/>
        </p:nvSpPr>
        <p:spPr>
          <a:xfrm>
            <a:off x="8970264" y="1371600"/>
            <a:ext cx="262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2" name="Step number 4"/>
          <p:cNvSpPr/>
          <p:nvPr/>
        </p:nvSpPr>
        <p:spPr>
          <a:xfrm>
            <a:off x="9198864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98864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884664" y="1600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FPGA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198864" y="22677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Detect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198864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FPGA runs the 8-tap filter and the peak detector</a:t>
            </a:r>
            <a:endParaRPr lang="en-US" sz="1300" dirty="0"/>
          </a:p>
        </p:txBody>
      </p:sp>
      <p:sp>
        <p:nvSpPr>
          <p:cNvPr id="27" name="Step 5"/>
          <p:cNvSpPr/>
          <p:nvPr/>
        </p:nvSpPr>
        <p:spPr>
          <a:xfrm>
            <a:off x="548640" y="3520440"/>
            <a:ext cx="262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8" name="Step number 5"/>
          <p:cNvSpPr/>
          <p:nvPr/>
        </p:nvSpPr>
        <p:spPr>
          <a:xfrm>
            <a:off x="77724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146304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FPGA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4416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Timestamp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4754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On a beat it latches a 32-bit cycle count and pulses the LED for 50 ms</a:t>
            </a:r>
            <a:endParaRPr lang="en-US" sz="1300" dirty="0"/>
          </a:p>
        </p:txBody>
      </p:sp>
      <p:sp>
        <p:nvSpPr>
          <p:cNvPr id="33" name="Step 6"/>
          <p:cNvSpPr/>
          <p:nvPr/>
        </p:nvSpPr>
        <p:spPr>
          <a:xfrm>
            <a:off x="3355848" y="3520440"/>
            <a:ext cx="262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34" name="Step number 6"/>
          <p:cNvSpPr/>
          <p:nvPr/>
        </p:nvSpPr>
        <p:spPr>
          <a:xfrm>
            <a:off x="3584448" y="3749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584448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6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4270248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SPI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584448" y="4416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Return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3584448" y="4754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Beat flag and a 5-byte interval burst come back on SPI</a:t>
            </a:r>
            <a:endParaRPr lang="en-US" sz="1300" dirty="0"/>
          </a:p>
        </p:txBody>
      </p:sp>
      <p:sp>
        <p:nvSpPr>
          <p:cNvPr id="39" name="Step 7"/>
          <p:cNvSpPr/>
          <p:nvPr/>
        </p:nvSpPr>
        <p:spPr>
          <a:xfrm>
            <a:off x="6163056" y="3520440"/>
            <a:ext cx="262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0" name="Step number 7"/>
          <p:cNvSpPr/>
          <p:nvPr/>
        </p:nvSpPr>
        <p:spPr>
          <a:xfrm>
            <a:off x="6391656" y="37490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391656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7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7077456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ESP32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391656" y="4416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Validate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6391656" y="4754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Core 0 converts cycles to ms and keeps only 30 to 250 BPM</a:t>
            </a:r>
            <a:endParaRPr lang="en-US" sz="1300" dirty="0"/>
          </a:p>
        </p:txBody>
      </p:sp>
      <p:sp>
        <p:nvSpPr>
          <p:cNvPr id="45" name="Step 8"/>
          <p:cNvSpPr/>
          <p:nvPr/>
        </p:nvSpPr>
        <p:spPr>
          <a:xfrm>
            <a:off x="8970264" y="3520440"/>
            <a:ext cx="262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6" name="Step number 8"/>
          <p:cNvSpPr/>
          <p:nvPr/>
        </p:nvSpPr>
        <p:spPr>
          <a:xfrm>
            <a:off x="9198864" y="37490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198864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8</a:t>
            </a:r>
            <a:endParaRPr lang="en-US" sz="2000" dirty="0"/>
          </a:p>
        </p:txBody>
      </p:sp>
      <p:sp>
        <p:nvSpPr>
          <p:cNvPr id="48" name="Text 46"/>
          <p:cNvSpPr txBox="1"/>
          <p:nvPr/>
        </p:nvSpPr>
        <p:spPr>
          <a:xfrm>
            <a:off x="9884664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ESP32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9198864" y="4416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Analyse</a:t>
            </a: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9198864" y="4754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Core 1 computes HR, HRV, SpO₂, respiration and risk at 1 Hz</a:t>
            </a:r>
            <a:endParaRPr lang="en-US" sz="1300" dirty="0"/>
          </a:p>
        </p:txBody>
      </p:sp>
      <p:sp>
        <p:nvSpPr>
          <p:cNvPr id="51" name="Formula strip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IBI (ms) = cycles ÷ 50,000</a:t>
            </a:r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     at 50 MHz, one cycle is 20 ns          </a:t>
            </a:r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HR (BPM) = 60,000 ÷ IBI (ms)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Beat detection runs in FPGA hardware</a:t>
            </a:r>
            <a:endParaRPr lang="en-US" sz="3400" dirty="0"/>
          </a:p>
        </p:txBody>
      </p:sp>
      <p:sp>
        <p:nvSpPr>
          <p:cNvPr id="3" name="State ARMED"/>
          <p:cNvSpPr/>
          <p:nvPr/>
        </p:nvSpPr>
        <p:spPr>
          <a:xfrm>
            <a:off x="548640" y="1417320"/>
            <a:ext cx="237744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ARMED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state code 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Waits for a rising crossing of level 120</a:t>
            </a:r>
            <a:endParaRPr lang="en-US" sz="1300" dirty="0"/>
          </a:p>
        </p:txBody>
      </p:sp>
      <p:sp>
        <p:nvSpPr>
          <p:cNvPr id="7" name="Transition 1"/>
          <p:cNvSpPr/>
          <p:nvPr/>
        </p:nvSpPr>
        <p:spPr>
          <a:xfrm>
            <a:off x="2926080" y="2212848"/>
            <a:ext cx="45720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tate RISING"/>
          <p:cNvSpPr/>
          <p:nvPr/>
        </p:nvSpPr>
        <p:spPr>
          <a:xfrm>
            <a:off x="3383280" y="1417320"/>
            <a:ext cx="237744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RISING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state code 01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240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Tracks the highest sample (the crest)</a:t>
            </a:r>
            <a:endParaRPr lang="en-US" sz="1300" dirty="0"/>
          </a:p>
        </p:txBody>
      </p:sp>
      <p:sp>
        <p:nvSpPr>
          <p:cNvPr id="12" name="Transition 2"/>
          <p:cNvSpPr/>
          <p:nvPr/>
        </p:nvSpPr>
        <p:spPr>
          <a:xfrm>
            <a:off x="5760720" y="2212848"/>
            <a:ext cx="45720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State PEAK_FOUND"/>
          <p:cNvSpPr/>
          <p:nvPr/>
        </p:nvSpPr>
        <p:spPr>
          <a:xfrm>
            <a:off x="6217920" y="1417320"/>
            <a:ext cx="2377440" cy="1600200"/>
          </a:xfrm>
          <a:prstGeom prst="roundRect">
            <a:avLst>
              <a:gd name="adj" fmla="val 6857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PEAK_FOUND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state code 10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240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clock: beat flag, latch interval, start timer</a:t>
            </a:r>
            <a:endParaRPr lang="en-US" sz="1300" dirty="0"/>
          </a:p>
        </p:txBody>
      </p:sp>
      <p:sp>
        <p:nvSpPr>
          <p:cNvPr id="17" name="Transition 3"/>
          <p:cNvSpPr/>
          <p:nvPr/>
        </p:nvSpPr>
        <p:spPr>
          <a:xfrm>
            <a:off x="8595360" y="2212848"/>
            <a:ext cx="45720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State REFRACTORY"/>
          <p:cNvSpPr/>
          <p:nvPr/>
        </p:nvSpPr>
        <p:spPr>
          <a:xfrm>
            <a:off x="9052560" y="1417320"/>
            <a:ext cx="237744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3544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REFRACTORY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state code 11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240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Ignores the dicrotic notch for 250 ms</a:t>
            </a:r>
            <a:endParaRPr lang="en-US" sz="1300" dirty="0"/>
          </a:p>
        </p:txBody>
      </p:sp>
      <p:sp>
        <p:nvSpPr>
          <p:cNvPr id="22" name="Return down"/>
          <p:cNvSpPr/>
          <p:nvPr/>
        </p:nvSpPr>
        <p:spPr>
          <a:xfrm>
            <a:off x="9601200" y="3017520"/>
            <a:ext cx="0" cy="41148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23" name="Return across"/>
          <p:cNvSpPr/>
          <p:nvPr/>
        </p:nvSpPr>
        <p:spPr>
          <a:xfrm flipH="1">
            <a:off x="1737360" y="3429000"/>
            <a:ext cx="786384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24" name="Return up"/>
          <p:cNvSpPr/>
          <p:nvPr/>
        </p:nvSpPr>
        <p:spPr>
          <a:xfrm flipV="1">
            <a:off x="1737360" y="3017520"/>
            <a:ext cx="0" cy="41148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108960" y="34930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12.5 M cycles (250 ms) pass and a new sample arrives</a:t>
            </a:r>
            <a:endParaRPr lang="en-US" sz="1200" dirty="0"/>
          </a:p>
        </p:txBody>
      </p:sp>
      <p:sp>
        <p:nvSpPr>
          <p:cNvPr id="26" name="Stat 1"/>
          <p:cNvSpPr/>
          <p:nvPr/>
        </p:nvSpPr>
        <p:spPr>
          <a:xfrm>
            <a:off x="548640" y="406908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4160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25%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846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fall below the crest confirms a peak</a:t>
            </a:r>
            <a:endParaRPr lang="en-US" sz="1400" dirty="0"/>
          </a:p>
        </p:txBody>
      </p:sp>
      <p:sp>
        <p:nvSpPr>
          <p:cNvPr id="29" name="Stat 2"/>
          <p:cNvSpPr/>
          <p:nvPr/>
        </p:nvSpPr>
        <p:spPr>
          <a:xfrm>
            <a:off x="4297680" y="406908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0" y="4160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240 BPM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4846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maximum rate, set by the 250 ms blanking</a:t>
            </a:r>
            <a:endParaRPr lang="en-US" sz="1400" dirty="0"/>
          </a:p>
        </p:txBody>
      </p:sp>
      <p:sp>
        <p:nvSpPr>
          <p:cNvPr id="32" name="Stat 3"/>
          <p:cNvSpPr/>
          <p:nvPr/>
        </p:nvSpPr>
        <p:spPr>
          <a:xfrm>
            <a:off x="8046720" y="406908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21040" y="4160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20 ns</a:t>
            </a:r>
            <a:endParaRPr lang="en-US" sz="40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846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hardware timestamp resolution at 50 MHz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Registered Moore machine · 2-bit binary encoding · 2-flop synchronizer on SPI inputs · detects a pulse shape, not a bit pattern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On-device AI, overridden by hard rules</a:t>
            </a:r>
            <a:endParaRPr lang="en-US" sz="3400" dirty="0"/>
          </a:p>
        </p:txBody>
      </p:sp>
      <p:sp>
        <p:nvSpPr>
          <p:cNvPr id="3" name="Weight"/>
          <p:cNvSpPr/>
          <p:nvPr/>
        </p:nvSpPr>
        <p:spPr>
          <a:xfrm flipV="1">
            <a:off x="2743200" y="1920240"/>
            <a:ext cx="2103120" cy="13716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" name="Weight"/>
          <p:cNvSpPr/>
          <p:nvPr/>
        </p:nvSpPr>
        <p:spPr>
          <a:xfrm>
            <a:off x="2743200" y="2057400"/>
            <a:ext cx="2103120" cy="22860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5" name="Weight"/>
          <p:cNvSpPr/>
          <p:nvPr/>
        </p:nvSpPr>
        <p:spPr>
          <a:xfrm>
            <a:off x="2743200" y="2057400"/>
            <a:ext cx="2103120" cy="59436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6" name="Weight"/>
          <p:cNvSpPr/>
          <p:nvPr/>
        </p:nvSpPr>
        <p:spPr>
          <a:xfrm>
            <a:off x="2743200" y="2057400"/>
            <a:ext cx="2103120" cy="96012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7" name="Weight"/>
          <p:cNvSpPr/>
          <p:nvPr/>
        </p:nvSpPr>
        <p:spPr>
          <a:xfrm>
            <a:off x="2743200" y="2057400"/>
            <a:ext cx="2103120" cy="132588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8" name="Weight"/>
          <p:cNvSpPr/>
          <p:nvPr/>
        </p:nvSpPr>
        <p:spPr>
          <a:xfrm>
            <a:off x="2743200" y="2057400"/>
            <a:ext cx="2103120" cy="169164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9" name="Weight"/>
          <p:cNvSpPr/>
          <p:nvPr/>
        </p:nvSpPr>
        <p:spPr>
          <a:xfrm>
            <a:off x="2743200" y="2057400"/>
            <a:ext cx="2103120" cy="205740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0" name="Weight"/>
          <p:cNvSpPr/>
          <p:nvPr/>
        </p:nvSpPr>
        <p:spPr>
          <a:xfrm>
            <a:off x="2743200" y="2057400"/>
            <a:ext cx="2103120" cy="242316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1" name="Weight"/>
          <p:cNvSpPr/>
          <p:nvPr/>
        </p:nvSpPr>
        <p:spPr>
          <a:xfrm flipV="1">
            <a:off x="2743200" y="1920240"/>
            <a:ext cx="2103120" cy="612648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2" name="Weight"/>
          <p:cNvSpPr/>
          <p:nvPr/>
        </p:nvSpPr>
        <p:spPr>
          <a:xfrm flipV="1">
            <a:off x="2743200" y="2286000"/>
            <a:ext cx="2103120" cy="246888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3" name="Weight"/>
          <p:cNvSpPr/>
          <p:nvPr/>
        </p:nvSpPr>
        <p:spPr>
          <a:xfrm>
            <a:off x="2743200" y="2532888"/>
            <a:ext cx="2103120" cy="11887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4" name="Weight"/>
          <p:cNvSpPr/>
          <p:nvPr/>
        </p:nvSpPr>
        <p:spPr>
          <a:xfrm>
            <a:off x="2743200" y="2532888"/>
            <a:ext cx="2103120" cy="48463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5" name="Weight"/>
          <p:cNvSpPr/>
          <p:nvPr/>
        </p:nvSpPr>
        <p:spPr>
          <a:xfrm>
            <a:off x="2743200" y="2532888"/>
            <a:ext cx="2103120" cy="85039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6" name="Weight"/>
          <p:cNvSpPr/>
          <p:nvPr/>
        </p:nvSpPr>
        <p:spPr>
          <a:xfrm>
            <a:off x="2743200" y="2532888"/>
            <a:ext cx="2103120" cy="121615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7" name="Weight"/>
          <p:cNvSpPr/>
          <p:nvPr/>
        </p:nvSpPr>
        <p:spPr>
          <a:xfrm>
            <a:off x="2743200" y="2532888"/>
            <a:ext cx="2103120" cy="158191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8" name="Weight"/>
          <p:cNvSpPr/>
          <p:nvPr/>
        </p:nvSpPr>
        <p:spPr>
          <a:xfrm>
            <a:off x="2743200" y="2532888"/>
            <a:ext cx="2103120" cy="194767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9" name="Weight"/>
          <p:cNvSpPr/>
          <p:nvPr/>
        </p:nvSpPr>
        <p:spPr>
          <a:xfrm flipV="1">
            <a:off x="2743200" y="1920240"/>
            <a:ext cx="2103120" cy="1088136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20" name="Weight"/>
          <p:cNvSpPr/>
          <p:nvPr/>
        </p:nvSpPr>
        <p:spPr>
          <a:xfrm flipV="1">
            <a:off x="2743200" y="2286000"/>
            <a:ext cx="2103120" cy="722376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21" name="Weight"/>
          <p:cNvSpPr/>
          <p:nvPr/>
        </p:nvSpPr>
        <p:spPr>
          <a:xfrm flipV="1">
            <a:off x="2743200" y="2651760"/>
            <a:ext cx="2103120" cy="356616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22" name="Weight"/>
          <p:cNvSpPr/>
          <p:nvPr/>
        </p:nvSpPr>
        <p:spPr>
          <a:xfrm>
            <a:off x="2743200" y="3008376"/>
            <a:ext cx="2103120" cy="914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23" name="Weight"/>
          <p:cNvSpPr/>
          <p:nvPr/>
        </p:nvSpPr>
        <p:spPr>
          <a:xfrm>
            <a:off x="2743200" y="3008376"/>
            <a:ext cx="2103120" cy="37490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24" name="Weight"/>
          <p:cNvSpPr/>
          <p:nvPr/>
        </p:nvSpPr>
        <p:spPr>
          <a:xfrm>
            <a:off x="2743200" y="3008376"/>
            <a:ext cx="2103120" cy="74066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25" name="Weight"/>
          <p:cNvSpPr/>
          <p:nvPr/>
        </p:nvSpPr>
        <p:spPr>
          <a:xfrm>
            <a:off x="2743200" y="3008376"/>
            <a:ext cx="2103120" cy="110642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26" name="Weight"/>
          <p:cNvSpPr/>
          <p:nvPr/>
        </p:nvSpPr>
        <p:spPr>
          <a:xfrm>
            <a:off x="2743200" y="3008376"/>
            <a:ext cx="2103120" cy="147218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27" name="Weight"/>
          <p:cNvSpPr/>
          <p:nvPr/>
        </p:nvSpPr>
        <p:spPr>
          <a:xfrm flipV="1">
            <a:off x="2743200" y="1920240"/>
            <a:ext cx="2103120" cy="156362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28" name="Weight"/>
          <p:cNvSpPr/>
          <p:nvPr/>
        </p:nvSpPr>
        <p:spPr>
          <a:xfrm flipV="1">
            <a:off x="2743200" y="2286000"/>
            <a:ext cx="2103120" cy="119786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29" name="Weight"/>
          <p:cNvSpPr/>
          <p:nvPr/>
        </p:nvSpPr>
        <p:spPr>
          <a:xfrm flipV="1">
            <a:off x="2743200" y="2651760"/>
            <a:ext cx="2103120" cy="83210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30" name="Weight"/>
          <p:cNvSpPr/>
          <p:nvPr/>
        </p:nvSpPr>
        <p:spPr>
          <a:xfrm flipV="1">
            <a:off x="2743200" y="3017520"/>
            <a:ext cx="2103120" cy="46634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31" name="Weight"/>
          <p:cNvSpPr/>
          <p:nvPr/>
        </p:nvSpPr>
        <p:spPr>
          <a:xfrm flipV="1">
            <a:off x="2743200" y="3383280"/>
            <a:ext cx="2103120" cy="10058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32" name="Weight"/>
          <p:cNvSpPr/>
          <p:nvPr/>
        </p:nvSpPr>
        <p:spPr>
          <a:xfrm>
            <a:off x="2743200" y="3483864"/>
            <a:ext cx="2103120" cy="265176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33" name="Weight"/>
          <p:cNvSpPr/>
          <p:nvPr/>
        </p:nvSpPr>
        <p:spPr>
          <a:xfrm>
            <a:off x="2743200" y="3483864"/>
            <a:ext cx="2103120" cy="630936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34" name="Weight"/>
          <p:cNvSpPr/>
          <p:nvPr/>
        </p:nvSpPr>
        <p:spPr>
          <a:xfrm>
            <a:off x="2743200" y="3483864"/>
            <a:ext cx="2103120" cy="996696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35" name="Weight"/>
          <p:cNvSpPr/>
          <p:nvPr/>
        </p:nvSpPr>
        <p:spPr>
          <a:xfrm flipV="1">
            <a:off x="2743200" y="1920240"/>
            <a:ext cx="2103120" cy="203911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36" name="Weight"/>
          <p:cNvSpPr/>
          <p:nvPr/>
        </p:nvSpPr>
        <p:spPr>
          <a:xfrm flipV="1">
            <a:off x="2743200" y="2286000"/>
            <a:ext cx="2103120" cy="167335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37" name="Weight"/>
          <p:cNvSpPr/>
          <p:nvPr/>
        </p:nvSpPr>
        <p:spPr>
          <a:xfrm flipV="1">
            <a:off x="2743200" y="2651760"/>
            <a:ext cx="2103120" cy="130759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38" name="Weight"/>
          <p:cNvSpPr/>
          <p:nvPr/>
        </p:nvSpPr>
        <p:spPr>
          <a:xfrm flipV="1">
            <a:off x="2743200" y="3017520"/>
            <a:ext cx="2103120" cy="94183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39" name="Weight"/>
          <p:cNvSpPr/>
          <p:nvPr/>
        </p:nvSpPr>
        <p:spPr>
          <a:xfrm flipV="1">
            <a:off x="2743200" y="3383280"/>
            <a:ext cx="2103120" cy="57607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0" name="Weight"/>
          <p:cNvSpPr/>
          <p:nvPr/>
        </p:nvSpPr>
        <p:spPr>
          <a:xfrm flipV="1">
            <a:off x="2743200" y="3749040"/>
            <a:ext cx="2103120" cy="21031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1" name="Weight"/>
          <p:cNvSpPr/>
          <p:nvPr/>
        </p:nvSpPr>
        <p:spPr>
          <a:xfrm>
            <a:off x="2743200" y="3959352"/>
            <a:ext cx="2103120" cy="155448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2" name="Weight"/>
          <p:cNvSpPr/>
          <p:nvPr/>
        </p:nvSpPr>
        <p:spPr>
          <a:xfrm>
            <a:off x="2743200" y="3959352"/>
            <a:ext cx="2103120" cy="521208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3" name="Weight"/>
          <p:cNvSpPr/>
          <p:nvPr/>
        </p:nvSpPr>
        <p:spPr>
          <a:xfrm flipV="1">
            <a:off x="2743200" y="1920240"/>
            <a:ext cx="2103120" cy="251460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4" name="Weight"/>
          <p:cNvSpPr/>
          <p:nvPr/>
        </p:nvSpPr>
        <p:spPr>
          <a:xfrm flipV="1">
            <a:off x="2743200" y="2286000"/>
            <a:ext cx="2103120" cy="214884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5" name="Weight"/>
          <p:cNvSpPr/>
          <p:nvPr/>
        </p:nvSpPr>
        <p:spPr>
          <a:xfrm flipV="1">
            <a:off x="2743200" y="2651760"/>
            <a:ext cx="2103120" cy="178308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6" name="Weight"/>
          <p:cNvSpPr/>
          <p:nvPr/>
        </p:nvSpPr>
        <p:spPr>
          <a:xfrm flipV="1">
            <a:off x="2743200" y="3017520"/>
            <a:ext cx="2103120" cy="141732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7" name="Weight"/>
          <p:cNvSpPr/>
          <p:nvPr/>
        </p:nvSpPr>
        <p:spPr>
          <a:xfrm flipV="1">
            <a:off x="2743200" y="3383280"/>
            <a:ext cx="2103120" cy="105156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8" name="Weight"/>
          <p:cNvSpPr/>
          <p:nvPr/>
        </p:nvSpPr>
        <p:spPr>
          <a:xfrm flipV="1">
            <a:off x="2743200" y="3749040"/>
            <a:ext cx="2103120" cy="68580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9" name="Weight"/>
          <p:cNvSpPr/>
          <p:nvPr/>
        </p:nvSpPr>
        <p:spPr>
          <a:xfrm flipV="1">
            <a:off x="2743200" y="4114800"/>
            <a:ext cx="2103120" cy="32004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50" name="Weight"/>
          <p:cNvSpPr/>
          <p:nvPr/>
        </p:nvSpPr>
        <p:spPr>
          <a:xfrm>
            <a:off x="2743200" y="4434840"/>
            <a:ext cx="2103120" cy="4572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51" name="Weight"/>
          <p:cNvSpPr/>
          <p:nvPr/>
        </p:nvSpPr>
        <p:spPr>
          <a:xfrm>
            <a:off x="4846320" y="1920240"/>
            <a:ext cx="2103120" cy="9144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52" name="Weight"/>
          <p:cNvSpPr/>
          <p:nvPr/>
        </p:nvSpPr>
        <p:spPr>
          <a:xfrm>
            <a:off x="4846320" y="1920240"/>
            <a:ext cx="2103120" cy="566928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53" name="Weight"/>
          <p:cNvSpPr/>
          <p:nvPr/>
        </p:nvSpPr>
        <p:spPr>
          <a:xfrm>
            <a:off x="4846320" y="1920240"/>
            <a:ext cx="2103120" cy="1042416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54" name="Weight"/>
          <p:cNvSpPr/>
          <p:nvPr/>
        </p:nvSpPr>
        <p:spPr>
          <a:xfrm>
            <a:off x="4846320" y="1920240"/>
            <a:ext cx="2103120" cy="151790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55" name="Weight"/>
          <p:cNvSpPr/>
          <p:nvPr/>
        </p:nvSpPr>
        <p:spPr>
          <a:xfrm>
            <a:off x="4846320" y="1920240"/>
            <a:ext cx="2103120" cy="199339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56" name="Weight"/>
          <p:cNvSpPr/>
          <p:nvPr/>
        </p:nvSpPr>
        <p:spPr>
          <a:xfrm>
            <a:off x="4846320" y="1920240"/>
            <a:ext cx="2103120" cy="246888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57" name="Weight"/>
          <p:cNvSpPr/>
          <p:nvPr/>
        </p:nvSpPr>
        <p:spPr>
          <a:xfrm flipV="1">
            <a:off x="4846320" y="2011680"/>
            <a:ext cx="2103120" cy="27432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58" name="Weight"/>
          <p:cNvSpPr/>
          <p:nvPr/>
        </p:nvSpPr>
        <p:spPr>
          <a:xfrm>
            <a:off x="4846320" y="2286000"/>
            <a:ext cx="2103120" cy="201168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59" name="Weight"/>
          <p:cNvSpPr/>
          <p:nvPr/>
        </p:nvSpPr>
        <p:spPr>
          <a:xfrm>
            <a:off x="4846320" y="2286000"/>
            <a:ext cx="2103120" cy="676656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60" name="Weight"/>
          <p:cNvSpPr/>
          <p:nvPr/>
        </p:nvSpPr>
        <p:spPr>
          <a:xfrm>
            <a:off x="4846320" y="2286000"/>
            <a:ext cx="2103120" cy="115214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61" name="Weight"/>
          <p:cNvSpPr/>
          <p:nvPr/>
        </p:nvSpPr>
        <p:spPr>
          <a:xfrm>
            <a:off x="4846320" y="2286000"/>
            <a:ext cx="2103120" cy="162763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62" name="Weight"/>
          <p:cNvSpPr/>
          <p:nvPr/>
        </p:nvSpPr>
        <p:spPr>
          <a:xfrm>
            <a:off x="4846320" y="2286000"/>
            <a:ext cx="2103120" cy="210312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63" name="Weight"/>
          <p:cNvSpPr/>
          <p:nvPr/>
        </p:nvSpPr>
        <p:spPr>
          <a:xfrm flipV="1">
            <a:off x="4846320" y="2011680"/>
            <a:ext cx="2103120" cy="64008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64" name="Weight"/>
          <p:cNvSpPr/>
          <p:nvPr/>
        </p:nvSpPr>
        <p:spPr>
          <a:xfrm flipV="1">
            <a:off x="4846320" y="2487168"/>
            <a:ext cx="2103120" cy="16459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65" name="Weight"/>
          <p:cNvSpPr/>
          <p:nvPr/>
        </p:nvSpPr>
        <p:spPr>
          <a:xfrm>
            <a:off x="4846320" y="2651760"/>
            <a:ext cx="2103120" cy="310896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66" name="Weight"/>
          <p:cNvSpPr/>
          <p:nvPr/>
        </p:nvSpPr>
        <p:spPr>
          <a:xfrm>
            <a:off x="4846320" y="2651760"/>
            <a:ext cx="2103120" cy="78638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67" name="Weight"/>
          <p:cNvSpPr/>
          <p:nvPr/>
        </p:nvSpPr>
        <p:spPr>
          <a:xfrm>
            <a:off x="4846320" y="2651760"/>
            <a:ext cx="2103120" cy="126187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68" name="Weight"/>
          <p:cNvSpPr/>
          <p:nvPr/>
        </p:nvSpPr>
        <p:spPr>
          <a:xfrm>
            <a:off x="4846320" y="2651760"/>
            <a:ext cx="2103120" cy="173736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69" name="Weight"/>
          <p:cNvSpPr/>
          <p:nvPr/>
        </p:nvSpPr>
        <p:spPr>
          <a:xfrm flipV="1">
            <a:off x="4846320" y="2011680"/>
            <a:ext cx="2103120" cy="100584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70" name="Weight"/>
          <p:cNvSpPr/>
          <p:nvPr/>
        </p:nvSpPr>
        <p:spPr>
          <a:xfrm flipV="1">
            <a:off x="4846320" y="2487168"/>
            <a:ext cx="2103120" cy="53035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71" name="Weight"/>
          <p:cNvSpPr/>
          <p:nvPr/>
        </p:nvSpPr>
        <p:spPr>
          <a:xfrm flipV="1">
            <a:off x="4846320" y="2962656"/>
            <a:ext cx="2103120" cy="5486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72" name="Weight"/>
          <p:cNvSpPr/>
          <p:nvPr/>
        </p:nvSpPr>
        <p:spPr>
          <a:xfrm>
            <a:off x="4846320" y="3017520"/>
            <a:ext cx="2103120" cy="42062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73" name="Weight"/>
          <p:cNvSpPr/>
          <p:nvPr/>
        </p:nvSpPr>
        <p:spPr>
          <a:xfrm>
            <a:off x="4846320" y="3017520"/>
            <a:ext cx="2103120" cy="89611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74" name="Weight"/>
          <p:cNvSpPr/>
          <p:nvPr/>
        </p:nvSpPr>
        <p:spPr>
          <a:xfrm>
            <a:off x="4846320" y="3017520"/>
            <a:ext cx="2103120" cy="137160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75" name="Weight"/>
          <p:cNvSpPr/>
          <p:nvPr/>
        </p:nvSpPr>
        <p:spPr>
          <a:xfrm flipV="1">
            <a:off x="4846320" y="2011680"/>
            <a:ext cx="2103120" cy="137160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76" name="Weight"/>
          <p:cNvSpPr/>
          <p:nvPr/>
        </p:nvSpPr>
        <p:spPr>
          <a:xfrm flipV="1">
            <a:off x="4846320" y="2487168"/>
            <a:ext cx="2103120" cy="89611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77" name="Weight"/>
          <p:cNvSpPr/>
          <p:nvPr/>
        </p:nvSpPr>
        <p:spPr>
          <a:xfrm flipV="1">
            <a:off x="4846320" y="2962656"/>
            <a:ext cx="2103120" cy="42062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78" name="Weight"/>
          <p:cNvSpPr/>
          <p:nvPr/>
        </p:nvSpPr>
        <p:spPr>
          <a:xfrm>
            <a:off x="4846320" y="3383280"/>
            <a:ext cx="2103120" cy="5486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79" name="Weight"/>
          <p:cNvSpPr/>
          <p:nvPr/>
        </p:nvSpPr>
        <p:spPr>
          <a:xfrm>
            <a:off x="4846320" y="3383280"/>
            <a:ext cx="2103120" cy="53035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80" name="Weight"/>
          <p:cNvSpPr/>
          <p:nvPr/>
        </p:nvSpPr>
        <p:spPr>
          <a:xfrm>
            <a:off x="4846320" y="3383280"/>
            <a:ext cx="2103120" cy="100584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81" name="Weight"/>
          <p:cNvSpPr/>
          <p:nvPr/>
        </p:nvSpPr>
        <p:spPr>
          <a:xfrm flipV="1">
            <a:off x="4846320" y="2011680"/>
            <a:ext cx="2103120" cy="173736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82" name="Weight"/>
          <p:cNvSpPr/>
          <p:nvPr/>
        </p:nvSpPr>
        <p:spPr>
          <a:xfrm flipV="1">
            <a:off x="4846320" y="2487168"/>
            <a:ext cx="2103120" cy="126187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83" name="Weight"/>
          <p:cNvSpPr/>
          <p:nvPr/>
        </p:nvSpPr>
        <p:spPr>
          <a:xfrm flipV="1">
            <a:off x="4846320" y="2962656"/>
            <a:ext cx="2103120" cy="78638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84" name="Weight"/>
          <p:cNvSpPr/>
          <p:nvPr/>
        </p:nvSpPr>
        <p:spPr>
          <a:xfrm flipV="1">
            <a:off x="4846320" y="3438144"/>
            <a:ext cx="2103120" cy="310896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85" name="Weight"/>
          <p:cNvSpPr/>
          <p:nvPr/>
        </p:nvSpPr>
        <p:spPr>
          <a:xfrm>
            <a:off x="4846320" y="3749040"/>
            <a:ext cx="2103120" cy="16459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86" name="Weight"/>
          <p:cNvSpPr/>
          <p:nvPr/>
        </p:nvSpPr>
        <p:spPr>
          <a:xfrm>
            <a:off x="4846320" y="3749040"/>
            <a:ext cx="2103120" cy="64008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87" name="Weight"/>
          <p:cNvSpPr/>
          <p:nvPr/>
        </p:nvSpPr>
        <p:spPr>
          <a:xfrm flipV="1">
            <a:off x="4846320" y="2011680"/>
            <a:ext cx="2103120" cy="210312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88" name="Weight"/>
          <p:cNvSpPr/>
          <p:nvPr/>
        </p:nvSpPr>
        <p:spPr>
          <a:xfrm flipV="1">
            <a:off x="4846320" y="2487168"/>
            <a:ext cx="2103120" cy="162763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89" name="Weight"/>
          <p:cNvSpPr/>
          <p:nvPr/>
        </p:nvSpPr>
        <p:spPr>
          <a:xfrm flipV="1">
            <a:off x="4846320" y="2962656"/>
            <a:ext cx="2103120" cy="115214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90" name="Weight"/>
          <p:cNvSpPr/>
          <p:nvPr/>
        </p:nvSpPr>
        <p:spPr>
          <a:xfrm flipV="1">
            <a:off x="4846320" y="3438144"/>
            <a:ext cx="2103120" cy="676656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91" name="Weight"/>
          <p:cNvSpPr/>
          <p:nvPr/>
        </p:nvSpPr>
        <p:spPr>
          <a:xfrm flipV="1">
            <a:off x="4846320" y="3913632"/>
            <a:ext cx="2103120" cy="201168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92" name="Weight"/>
          <p:cNvSpPr/>
          <p:nvPr/>
        </p:nvSpPr>
        <p:spPr>
          <a:xfrm>
            <a:off x="4846320" y="4114800"/>
            <a:ext cx="2103120" cy="27432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93" name="Weight"/>
          <p:cNvSpPr/>
          <p:nvPr/>
        </p:nvSpPr>
        <p:spPr>
          <a:xfrm flipV="1">
            <a:off x="4846320" y="2011680"/>
            <a:ext cx="2103120" cy="246888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94" name="Weight"/>
          <p:cNvSpPr/>
          <p:nvPr/>
        </p:nvSpPr>
        <p:spPr>
          <a:xfrm flipV="1">
            <a:off x="4846320" y="2487168"/>
            <a:ext cx="2103120" cy="199339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95" name="Weight"/>
          <p:cNvSpPr/>
          <p:nvPr/>
        </p:nvSpPr>
        <p:spPr>
          <a:xfrm flipV="1">
            <a:off x="4846320" y="2962656"/>
            <a:ext cx="2103120" cy="151790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96" name="Weight"/>
          <p:cNvSpPr/>
          <p:nvPr/>
        </p:nvSpPr>
        <p:spPr>
          <a:xfrm flipV="1">
            <a:off x="4846320" y="3438144"/>
            <a:ext cx="2103120" cy="1042416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97" name="Weight"/>
          <p:cNvSpPr/>
          <p:nvPr/>
        </p:nvSpPr>
        <p:spPr>
          <a:xfrm flipV="1">
            <a:off x="4846320" y="3913632"/>
            <a:ext cx="2103120" cy="566928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98" name="Weight"/>
          <p:cNvSpPr/>
          <p:nvPr/>
        </p:nvSpPr>
        <p:spPr>
          <a:xfrm flipV="1">
            <a:off x="4846320" y="4389120"/>
            <a:ext cx="2103120" cy="9144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99" name="Weight"/>
          <p:cNvSpPr/>
          <p:nvPr/>
        </p:nvSpPr>
        <p:spPr>
          <a:xfrm>
            <a:off x="6949440" y="2011680"/>
            <a:ext cx="2011680" cy="36576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00" name="Weight"/>
          <p:cNvSpPr/>
          <p:nvPr/>
        </p:nvSpPr>
        <p:spPr>
          <a:xfrm>
            <a:off x="6949440" y="2011680"/>
            <a:ext cx="2011680" cy="118872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01" name="Weight"/>
          <p:cNvSpPr/>
          <p:nvPr/>
        </p:nvSpPr>
        <p:spPr>
          <a:xfrm>
            <a:off x="6949440" y="2011680"/>
            <a:ext cx="2011680" cy="201168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02" name="Weight"/>
          <p:cNvSpPr/>
          <p:nvPr/>
        </p:nvSpPr>
        <p:spPr>
          <a:xfrm flipV="1">
            <a:off x="6949440" y="2377440"/>
            <a:ext cx="2011680" cy="109728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03" name="Weight"/>
          <p:cNvSpPr/>
          <p:nvPr/>
        </p:nvSpPr>
        <p:spPr>
          <a:xfrm>
            <a:off x="6949440" y="2487168"/>
            <a:ext cx="2011680" cy="71323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04" name="Weight"/>
          <p:cNvSpPr/>
          <p:nvPr/>
        </p:nvSpPr>
        <p:spPr>
          <a:xfrm>
            <a:off x="6949440" y="2487168"/>
            <a:ext cx="2011680" cy="153619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05" name="Weight"/>
          <p:cNvSpPr/>
          <p:nvPr/>
        </p:nvSpPr>
        <p:spPr>
          <a:xfrm flipV="1">
            <a:off x="6949440" y="2377440"/>
            <a:ext cx="2011680" cy="585216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06" name="Weight"/>
          <p:cNvSpPr/>
          <p:nvPr/>
        </p:nvSpPr>
        <p:spPr>
          <a:xfrm>
            <a:off x="6949440" y="2962656"/>
            <a:ext cx="2011680" cy="23774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07" name="Weight"/>
          <p:cNvSpPr/>
          <p:nvPr/>
        </p:nvSpPr>
        <p:spPr>
          <a:xfrm>
            <a:off x="6949440" y="2962656"/>
            <a:ext cx="2011680" cy="106070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08" name="Weight"/>
          <p:cNvSpPr/>
          <p:nvPr/>
        </p:nvSpPr>
        <p:spPr>
          <a:xfrm flipV="1">
            <a:off x="6949440" y="2377440"/>
            <a:ext cx="2011680" cy="106070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09" name="Weight"/>
          <p:cNvSpPr/>
          <p:nvPr/>
        </p:nvSpPr>
        <p:spPr>
          <a:xfrm flipV="1">
            <a:off x="6949440" y="3200400"/>
            <a:ext cx="2011680" cy="237744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10" name="Weight"/>
          <p:cNvSpPr/>
          <p:nvPr/>
        </p:nvSpPr>
        <p:spPr>
          <a:xfrm>
            <a:off x="6949440" y="3438144"/>
            <a:ext cx="2011680" cy="585216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11" name="Weight"/>
          <p:cNvSpPr/>
          <p:nvPr/>
        </p:nvSpPr>
        <p:spPr>
          <a:xfrm flipV="1">
            <a:off x="6949440" y="2377440"/>
            <a:ext cx="2011680" cy="153619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12" name="Weight"/>
          <p:cNvSpPr/>
          <p:nvPr/>
        </p:nvSpPr>
        <p:spPr>
          <a:xfrm flipV="1">
            <a:off x="6949440" y="3200400"/>
            <a:ext cx="2011680" cy="713232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13" name="Weight"/>
          <p:cNvSpPr/>
          <p:nvPr/>
        </p:nvSpPr>
        <p:spPr>
          <a:xfrm>
            <a:off x="6949440" y="3913632"/>
            <a:ext cx="2011680" cy="109728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14" name="Weight"/>
          <p:cNvSpPr/>
          <p:nvPr/>
        </p:nvSpPr>
        <p:spPr>
          <a:xfrm flipV="1">
            <a:off x="6949440" y="2377440"/>
            <a:ext cx="2011680" cy="201168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15" name="Weight"/>
          <p:cNvSpPr/>
          <p:nvPr/>
        </p:nvSpPr>
        <p:spPr>
          <a:xfrm flipV="1">
            <a:off x="6949440" y="3200400"/>
            <a:ext cx="2011680" cy="118872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16" name="Weight"/>
          <p:cNvSpPr/>
          <p:nvPr/>
        </p:nvSpPr>
        <p:spPr>
          <a:xfrm flipV="1">
            <a:off x="6949440" y="4023360"/>
            <a:ext cx="2011680" cy="365760"/>
          </a:xfrm>
          <a:prstGeom prst="line">
            <a:avLst/>
          </a:prstGeom>
          <a:noFill/>
          <a:ln w="63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54864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Heart rate</a:t>
            </a:r>
            <a:endParaRPr lang="en-US" sz="1400" dirty="0"/>
          </a:p>
        </p:txBody>
      </p:sp>
      <p:sp>
        <p:nvSpPr>
          <p:cNvPr id="118" name="Text 116"/>
          <p:cNvSpPr txBox="1"/>
          <p:nvPr/>
        </p:nvSpPr>
        <p:spPr>
          <a:xfrm>
            <a:off x="548640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RMSSD (HRV)</a:t>
            </a:r>
            <a:endParaRPr lang="en-US" sz="1400" dirty="0"/>
          </a:p>
        </p:txBody>
      </p:sp>
      <p:sp>
        <p:nvSpPr>
          <p:cNvPr id="119" name="Text 117"/>
          <p:cNvSpPr txBox="1"/>
          <p:nvPr/>
        </p:nvSpPr>
        <p:spPr>
          <a:xfrm>
            <a:off x="548640" y="28712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SpO₂</a:t>
            </a:r>
            <a:endParaRPr lang="en-US" sz="1400" dirty="0"/>
          </a:p>
        </p:txBody>
      </p:sp>
      <p:sp>
        <p:nvSpPr>
          <p:cNvPr id="120" name="Text 118"/>
          <p:cNvSpPr txBox="1"/>
          <p:nvPr/>
        </p:nvSpPr>
        <p:spPr>
          <a:xfrm>
            <a:off x="548640" y="33467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Temperature</a:t>
            </a:r>
            <a:endParaRPr lang="en-US" sz="1400" dirty="0"/>
          </a:p>
        </p:txBody>
      </p:sp>
      <p:sp>
        <p:nvSpPr>
          <p:cNvPr id="121" name="Text 119"/>
          <p:cNvSpPr txBox="1"/>
          <p:nvPr/>
        </p:nvSpPr>
        <p:spPr>
          <a:xfrm>
            <a:off x="548640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Humidity</a:t>
            </a:r>
            <a:endParaRPr lang="en-US" sz="1400" dirty="0"/>
          </a:p>
        </p:txBody>
      </p:sp>
      <p:sp>
        <p:nvSpPr>
          <p:cNvPr id="122" name="Text 120"/>
          <p:cNvSpPr txBox="1"/>
          <p:nvPr/>
        </p:nvSpPr>
        <p:spPr>
          <a:xfrm>
            <a:off x="54864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PM2.5</a:t>
            </a:r>
            <a:endParaRPr lang="en-US" sz="1400" dirty="0"/>
          </a:p>
        </p:txBody>
      </p:sp>
      <p:sp>
        <p:nvSpPr>
          <p:cNvPr id="123" name="Input node 1"/>
          <p:cNvSpPr/>
          <p:nvPr/>
        </p:nvSpPr>
        <p:spPr>
          <a:xfrm>
            <a:off x="2615184" y="1929384"/>
            <a:ext cx="256032" cy="25603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124" name="Input node 2"/>
          <p:cNvSpPr/>
          <p:nvPr/>
        </p:nvSpPr>
        <p:spPr>
          <a:xfrm>
            <a:off x="2615184" y="2404872"/>
            <a:ext cx="256032" cy="25603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125" name="Input node 3"/>
          <p:cNvSpPr/>
          <p:nvPr/>
        </p:nvSpPr>
        <p:spPr>
          <a:xfrm>
            <a:off x="2615184" y="2880360"/>
            <a:ext cx="256032" cy="25603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126" name="Input node 4"/>
          <p:cNvSpPr/>
          <p:nvPr/>
        </p:nvSpPr>
        <p:spPr>
          <a:xfrm>
            <a:off x="2615184" y="3355848"/>
            <a:ext cx="256032" cy="25603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127" name="Input node 5"/>
          <p:cNvSpPr/>
          <p:nvPr/>
        </p:nvSpPr>
        <p:spPr>
          <a:xfrm>
            <a:off x="2615184" y="3831336"/>
            <a:ext cx="256032" cy="25603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128" name="Input node 6"/>
          <p:cNvSpPr/>
          <p:nvPr/>
        </p:nvSpPr>
        <p:spPr>
          <a:xfrm>
            <a:off x="2615184" y="4306824"/>
            <a:ext cx="256032" cy="25603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129" name="Hidden 1 node 1"/>
          <p:cNvSpPr/>
          <p:nvPr/>
        </p:nvSpPr>
        <p:spPr>
          <a:xfrm>
            <a:off x="4718304" y="1792224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0" name="Hidden 1 node 2"/>
          <p:cNvSpPr/>
          <p:nvPr/>
        </p:nvSpPr>
        <p:spPr>
          <a:xfrm>
            <a:off x="4718304" y="2157984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1" name="Hidden 1 node 3"/>
          <p:cNvSpPr/>
          <p:nvPr/>
        </p:nvSpPr>
        <p:spPr>
          <a:xfrm>
            <a:off x="4718304" y="2523744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2" name="Hidden 1 node 4"/>
          <p:cNvSpPr/>
          <p:nvPr/>
        </p:nvSpPr>
        <p:spPr>
          <a:xfrm>
            <a:off x="4718304" y="2889504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3" name="Hidden 1 node 5"/>
          <p:cNvSpPr/>
          <p:nvPr/>
        </p:nvSpPr>
        <p:spPr>
          <a:xfrm>
            <a:off x="4718304" y="3255264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4" name="Hidden 1 node 6"/>
          <p:cNvSpPr/>
          <p:nvPr/>
        </p:nvSpPr>
        <p:spPr>
          <a:xfrm>
            <a:off x="4718304" y="3621024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5" name="Hidden 1 node 7"/>
          <p:cNvSpPr/>
          <p:nvPr/>
        </p:nvSpPr>
        <p:spPr>
          <a:xfrm>
            <a:off x="4718304" y="3986784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6" name="Hidden 1 node 8"/>
          <p:cNvSpPr/>
          <p:nvPr/>
        </p:nvSpPr>
        <p:spPr>
          <a:xfrm>
            <a:off x="4718304" y="4352544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7" name="Hidden 2 node 1"/>
          <p:cNvSpPr/>
          <p:nvPr/>
        </p:nvSpPr>
        <p:spPr>
          <a:xfrm>
            <a:off x="6821424" y="1883664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8" name="Hidden 2 node 2"/>
          <p:cNvSpPr/>
          <p:nvPr/>
        </p:nvSpPr>
        <p:spPr>
          <a:xfrm>
            <a:off x="6821424" y="2359152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9" name="Hidden 2 node 3"/>
          <p:cNvSpPr/>
          <p:nvPr/>
        </p:nvSpPr>
        <p:spPr>
          <a:xfrm>
            <a:off x="6821424" y="2834640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0" name="Hidden 2 node 4"/>
          <p:cNvSpPr/>
          <p:nvPr/>
        </p:nvSpPr>
        <p:spPr>
          <a:xfrm>
            <a:off x="6821424" y="3310128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1" name="Hidden 2 node 5"/>
          <p:cNvSpPr/>
          <p:nvPr/>
        </p:nvSpPr>
        <p:spPr>
          <a:xfrm>
            <a:off x="6821424" y="3785616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2" name="Hidden 2 node 6"/>
          <p:cNvSpPr/>
          <p:nvPr/>
        </p:nvSpPr>
        <p:spPr>
          <a:xfrm>
            <a:off x="6821424" y="4261104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3" name="Output node 1"/>
          <p:cNvSpPr/>
          <p:nvPr/>
        </p:nvSpPr>
        <p:spPr>
          <a:xfrm>
            <a:off x="8778240" y="219456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44" name="Output node 2"/>
          <p:cNvSpPr/>
          <p:nvPr/>
        </p:nvSpPr>
        <p:spPr>
          <a:xfrm>
            <a:off x="8778240" y="301752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45" name="Output node 3"/>
          <p:cNvSpPr/>
          <p:nvPr/>
        </p:nvSpPr>
        <p:spPr>
          <a:xfrm>
            <a:off x="8778240" y="384048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928116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Heat risk</a:t>
            </a:r>
            <a:endParaRPr lang="en-US" sz="1400" dirty="0"/>
          </a:p>
        </p:txBody>
      </p:sp>
      <p:sp>
        <p:nvSpPr>
          <p:cNvPr id="147" name="Text 145"/>
          <p:cNvSpPr txBox="1"/>
          <p:nvPr/>
        </p:nvSpPr>
        <p:spPr>
          <a:xfrm>
            <a:off x="928116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Pollution risk</a:t>
            </a:r>
            <a:endParaRPr lang="en-US" sz="1400" dirty="0"/>
          </a:p>
        </p:txBody>
      </p:sp>
      <p:sp>
        <p:nvSpPr>
          <p:cNvPr id="148" name="Text 146"/>
          <p:cNvSpPr txBox="1"/>
          <p:nvPr/>
        </p:nvSpPr>
        <p:spPr>
          <a:xfrm>
            <a:off x="928116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Flood / cold-exposure risk</a:t>
            </a:r>
            <a:endParaRPr lang="en-US" sz="1400" dirty="0"/>
          </a:p>
        </p:txBody>
      </p:sp>
      <p:sp>
        <p:nvSpPr>
          <p:cNvPr id="149" name="Text 147"/>
          <p:cNvSpPr txBox="1"/>
          <p:nvPr/>
        </p:nvSpPr>
        <p:spPr>
          <a:xfrm>
            <a:off x="173736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Inputs, scaled 0–1</a:t>
            </a:r>
            <a:endParaRPr lang="en-US" sz="1400" dirty="0"/>
          </a:p>
        </p:txBody>
      </p:sp>
      <p:sp>
        <p:nvSpPr>
          <p:cNvPr id="150" name="Text 148"/>
          <p:cNvSpPr txBox="1"/>
          <p:nvPr/>
        </p:nvSpPr>
        <p:spPr>
          <a:xfrm>
            <a:off x="384048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Hidden · 24 neurons</a:t>
            </a:r>
            <a:endParaRPr lang="en-US" sz="1400" dirty="0"/>
          </a:p>
        </p:txBody>
      </p:sp>
      <p:sp>
        <p:nvSpPr>
          <p:cNvPr id="151" name="Text 149"/>
          <p:cNvSpPr txBox="1"/>
          <p:nvPr/>
        </p:nvSpPr>
        <p:spPr>
          <a:xfrm>
            <a:off x="594360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Hidden · 16 neurons</a:t>
            </a:r>
            <a:endParaRPr lang="en-US" sz="1400" dirty="0"/>
          </a:p>
        </p:txBody>
      </p:sp>
      <p:sp>
        <p:nvSpPr>
          <p:cNvPr id="152" name="Text 150"/>
          <p:cNvSpPr txBox="1"/>
          <p:nvPr/>
        </p:nvSpPr>
        <p:spPr>
          <a:xfrm>
            <a:off x="795528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Outputs, 0–1</a:t>
            </a:r>
            <a:endParaRPr lang="en-US" sz="1400" dirty="0"/>
          </a:p>
        </p:txBody>
      </p:sp>
      <p:sp>
        <p:nvSpPr>
          <p:cNvPr id="153" name="Text 151"/>
          <p:cNvSpPr txBox="1"/>
          <p:nvPr/>
        </p:nvSpPr>
        <p:spPr>
          <a:xfrm>
            <a:off x="3840480" y="4526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8 of 24 drawn</a:t>
            </a:r>
            <a:endParaRPr lang="en-US" sz="1200" dirty="0"/>
          </a:p>
        </p:txBody>
      </p:sp>
      <p:sp>
        <p:nvSpPr>
          <p:cNvPr id="154" name="Text 152"/>
          <p:cNvSpPr txBox="1"/>
          <p:nvPr/>
        </p:nvSpPr>
        <p:spPr>
          <a:xfrm>
            <a:off x="5943600" y="4526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6 of 16 drawn</a:t>
            </a:r>
            <a:endParaRPr lang="en-US" sz="1200" dirty="0"/>
          </a:p>
        </p:txBody>
      </p:sp>
      <p:sp>
        <p:nvSpPr>
          <p:cNvPr id="155" name="AI card 1"/>
          <p:cNvSpPr/>
          <p:nvPr/>
        </p:nvSpPr>
        <p:spPr>
          <a:xfrm>
            <a:off x="548640" y="5074920"/>
            <a:ext cx="35661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56" name="Text 154"/>
          <p:cNvSpPr txBox="1"/>
          <p:nvPr/>
        </p:nvSpPr>
        <p:spPr>
          <a:xfrm>
            <a:off x="777240" y="5166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Trained on synthetic data</a:t>
            </a:r>
            <a:endParaRPr lang="en-US" sz="1600" dirty="0"/>
          </a:p>
        </p:txBody>
      </p:sp>
      <p:sp>
        <p:nvSpPr>
          <p:cNvPr id="157" name="Text 155"/>
          <p:cNvSpPr txBox="1"/>
          <p:nvPr/>
        </p:nvSpPr>
        <p:spPr>
          <a:xfrm>
            <a:off x="777240" y="55046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Rule-derived vitals, not patients. INT8 matches its teacher at 88.39%.</a:t>
            </a:r>
            <a:endParaRPr lang="en-US" sz="1300" dirty="0"/>
          </a:p>
        </p:txBody>
      </p:sp>
      <p:sp>
        <p:nvSpPr>
          <p:cNvPr id="158" name="AI card 2"/>
          <p:cNvSpPr/>
          <p:nvPr/>
        </p:nvSpPr>
        <p:spPr>
          <a:xfrm>
            <a:off x="4297680" y="5074920"/>
            <a:ext cx="35661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4526280" y="5166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INT8, 619 bytes of flash</a:t>
            </a:r>
            <a:endParaRPr lang="en-US" sz="1600" dirty="0"/>
          </a:p>
        </p:txBody>
      </p:sp>
      <p:sp>
        <p:nvSpPr>
          <p:cNvPr id="160" name="Text 158"/>
          <p:cNvSpPr txBox="1"/>
          <p:nvPr/>
        </p:nvSpPr>
        <p:spPr>
          <a:xfrm>
            <a:off x="4526280" y="55046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Float math on dequantized weights. 211 of 619 values carry signal.</a:t>
            </a:r>
            <a:endParaRPr lang="en-US" sz="1300" dirty="0"/>
          </a:p>
        </p:txBody>
      </p:sp>
      <p:sp>
        <p:nvSpPr>
          <p:cNvPr id="161" name="AI card 3"/>
          <p:cNvSpPr/>
          <p:nvPr/>
        </p:nvSpPr>
        <p:spPr>
          <a:xfrm>
            <a:off x="8046720" y="5074920"/>
            <a:ext cx="3566160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/>
        </p:spPr>
      </p:sp>
      <p:sp>
        <p:nvSpPr>
          <p:cNvPr id="162" name="Text 160"/>
          <p:cNvSpPr txBox="1"/>
          <p:nvPr/>
        </p:nvSpPr>
        <p:spPr>
          <a:xfrm>
            <a:off x="8275320" y="5166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Hard rules always win</a:t>
            </a:r>
            <a:endParaRPr lang="en-US" sz="1600" dirty="0"/>
          </a:p>
        </p:txBody>
      </p:sp>
      <p:sp>
        <p:nvSpPr>
          <p:cNvPr id="163" name="Text 161"/>
          <p:cNvSpPr txBox="1"/>
          <p:nvPr/>
        </p:nvSpPr>
        <p:spPr>
          <a:xfrm>
            <a:off x="8275320" y="55046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SpO₂ ≤ 88%, HR ≥ 150, mNEWS2 ≥ 7 or pressure fall ≤ −2.0 hPa/hr force CRITICAL.</a:t>
            </a:r>
            <a:endParaRPr lang="en-US" sz="1300" dirty="0"/>
          </a:p>
        </p:txBody>
      </p:sp>
      <p:sp>
        <p:nvSpPr>
          <p:cNvPr id="164" name="Override arrow"/>
          <p:cNvSpPr/>
          <p:nvPr/>
        </p:nvSpPr>
        <p:spPr>
          <a:xfrm flipV="1">
            <a:off x="10058400" y="4572000"/>
            <a:ext cx="0" cy="5029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5" name="Text 163"/>
          <p:cNvSpPr txBox="1"/>
          <p:nvPr/>
        </p:nvSpPr>
        <p:spPr>
          <a:xfrm>
            <a:off x="10195560" y="4681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overrides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Clinical and disaster rules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206240"/>
                <a:gridCol w="5303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Hazard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Signal used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Tiers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Cyclone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Pressure fall rate (180-minute least squares)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≤ −0.5 moderate · ≤ −1.0 high · ≤ −2.0 critical hPa/hr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Heat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NOAA Rothfusz heat index plus HR and HRV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≥ 35 caution · 40 moderate · 45 high · 54 critical °C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Smoke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PM2.5 (EPA-corrected) plus SpO₂ and HR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≥ 35 caution · 75 moderate · 150 high · 300 critical µg/m³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Vitals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mNEWS2 from pulse, SpO₂ and respiration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0–4 low · 5–6 medium · ≥ 7 high; any single parameter scoring 3 is a red flag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ule note 1"/>
          <p:cNvSpPr/>
          <p:nvPr/>
        </p:nvSpPr>
        <p:spPr>
          <a:xfrm>
            <a:off x="548640" y="443484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Hybrid safety envelope badge"/>
          <p:cNvSpPr/>
          <p:nvPr/>
        </p:nvSpPr>
        <p:spPr>
          <a:xfrm>
            <a:off x="777240" y="461772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0" descr="Hybrid safety envelo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74345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4617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Hybrid safety envelope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52578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The network gives smooth risk scores. Fixed rules give hard limits that always win.</a:t>
            </a:r>
            <a:endParaRPr lang="en-US" sz="1300" dirty="0"/>
          </a:p>
        </p:txBody>
      </p:sp>
      <p:sp>
        <p:nvSpPr>
          <p:cNvPr id="9" name="Rule note 2"/>
          <p:cNvSpPr/>
          <p:nvPr/>
        </p:nvSpPr>
        <p:spPr>
          <a:xfrm>
            <a:off x="4297680" y="443484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Cross-domain guards badge"/>
          <p:cNvSpPr/>
          <p:nvPr/>
        </p:nvSpPr>
        <p:spPr>
          <a:xfrm>
            <a:off x="4526280" y="461772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1" descr="Cross-domain guar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010" y="474345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166360" y="4617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Cross-domain guards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52578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 heat alert is suppressed in cold air, because the Rothfusz formula only holds in warm, humid conditions.</a:t>
            </a:r>
            <a:endParaRPr lang="en-US" sz="1300" dirty="0"/>
          </a:p>
        </p:txBody>
      </p:sp>
      <p:sp>
        <p:nvSpPr>
          <p:cNvPr id="14" name="Rule note 3"/>
          <p:cNvSpPr/>
          <p:nvPr/>
        </p:nvSpPr>
        <p:spPr>
          <a:xfrm>
            <a:off x="8046720" y="443484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5" name="Pressure trend, not value badge"/>
          <p:cNvSpPr/>
          <p:nvPr/>
        </p:nvSpPr>
        <p:spPr>
          <a:xfrm>
            <a:off x="8275320" y="461772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Image 2" descr="Pressure trend, not val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050" y="474345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15400" y="4617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Pressure trend, not value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52578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Absolute pressure depends on altitude. A fast fall signals an approaching storm anywhere.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Emergency response: fall detection and SOS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Fall detection (IMU, 40 Hz)</a:t>
            </a:r>
            <a:endParaRPr lang="en-US" sz="1600" dirty="0"/>
          </a:p>
        </p:txBody>
      </p:sp>
      <p:sp>
        <p:nvSpPr>
          <p:cNvPr id="4" name="Fall state MONITORING"/>
          <p:cNvSpPr/>
          <p:nvPr/>
        </p:nvSpPr>
        <p:spPr>
          <a:xfrm>
            <a:off x="548640" y="164592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MONITORING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574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Normal motion</a:t>
            </a:r>
            <a:endParaRPr lang="en-US" sz="1200" dirty="0"/>
          </a:p>
        </p:txBody>
      </p:sp>
      <p:sp>
        <p:nvSpPr>
          <p:cNvPr id="7" name="Fall transition 1"/>
          <p:cNvSpPr/>
          <p:nvPr/>
        </p:nvSpPr>
        <p:spPr>
          <a:xfrm>
            <a:off x="2468880" y="2258568"/>
            <a:ext cx="36576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Fall state FREE_FALL"/>
          <p:cNvSpPr/>
          <p:nvPr/>
        </p:nvSpPr>
        <p:spPr>
          <a:xfrm>
            <a:off x="2834640" y="164592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7180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FREE_FALL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0574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Acceleration below 0.60 g</a:t>
            </a:r>
            <a:endParaRPr lang="en-US" sz="1200" dirty="0"/>
          </a:p>
        </p:txBody>
      </p:sp>
      <p:sp>
        <p:nvSpPr>
          <p:cNvPr id="11" name="Fall transition 2"/>
          <p:cNvSpPr/>
          <p:nvPr/>
        </p:nvSpPr>
        <p:spPr>
          <a:xfrm>
            <a:off x="4754880" y="2258568"/>
            <a:ext cx="36576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Fall state IMPACT"/>
          <p:cNvSpPr/>
          <p:nvPr/>
        </p:nvSpPr>
        <p:spPr>
          <a:xfrm>
            <a:off x="5120640" y="164592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5780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IMPACT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0574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Above 2.50 g within 800 ms, rotation ≥ 80°/s</a:t>
            </a:r>
            <a:endParaRPr lang="en-US" sz="1200" dirty="0"/>
          </a:p>
        </p:txBody>
      </p:sp>
      <p:sp>
        <p:nvSpPr>
          <p:cNvPr id="15" name="Fall transition 3"/>
          <p:cNvSpPr/>
          <p:nvPr/>
        </p:nvSpPr>
        <p:spPr>
          <a:xfrm>
            <a:off x="7040880" y="2258568"/>
            <a:ext cx="36576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Fall state INACTIVITY"/>
          <p:cNvSpPr/>
          <p:nvPr/>
        </p:nvSpPr>
        <p:spPr>
          <a:xfrm>
            <a:off x="7406640" y="164592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4380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INACTIVITY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20574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Still for 1.5 s</a:t>
            </a:r>
            <a:endParaRPr lang="en-US" sz="1200" dirty="0"/>
          </a:p>
        </p:txBody>
      </p:sp>
      <p:sp>
        <p:nvSpPr>
          <p:cNvPr id="19" name="Fall transition 4"/>
          <p:cNvSpPr/>
          <p:nvPr/>
        </p:nvSpPr>
        <p:spPr>
          <a:xfrm>
            <a:off x="9326880" y="2258568"/>
            <a:ext cx="36576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Fall state CONFIRMED"/>
          <p:cNvSpPr/>
          <p:nvPr/>
        </p:nvSpPr>
        <p:spPr>
          <a:xfrm>
            <a:off x="9692640" y="164592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2980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CONFIRMED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829800" y="20574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Arms the 10 s SOS countdown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SOS state machine (ESP32 firmware)</a:t>
            </a:r>
            <a:endParaRPr lang="en-US" sz="1600" dirty="0"/>
          </a:p>
        </p:txBody>
      </p:sp>
      <p:sp>
        <p:nvSpPr>
          <p:cNvPr id="24" name="SOS state IDLE"/>
          <p:cNvSpPr/>
          <p:nvPr/>
        </p:nvSpPr>
        <p:spPr>
          <a:xfrm>
            <a:off x="548640" y="3566160"/>
            <a:ext cx="246888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IDLE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0050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Normal monitoring</a:t>
            </a:r>
            <a:endParaRPr lang="en-US" sz="1300" dirty="0"/>
          </a:p>
        </p:txBody>
      </p:sp>
      <p:sp>
        <p:nvSpPr>
          <p:cNvPr id="27" name="SOS transition 1"/>
          <p:cNvSpPr/>
          <p:nvPr/>
        </p:nvSpPr>
        <p:spPr>
          <a:xfrm>
            <a:off x="3017520" y="4114800"/>
            <a:ext cx="36576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OS state ARMED"/>
          <p:cNvSpPr/>
          <p:nvPr/>
        </p:nvSpPr>
        <p:spPr>
          <a:xfrm>
            <a:off x="3383280" y="3566160"/>
            <a:ext cx="2468880" cy="109728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566160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ARMED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566160" y="40050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15 s timer for vitals, 10 s for a fall</a:t>
            </a:r>
            <a:endParaRPr lang="en-US" sz="1300" dirty="0"/>
          </a:p>
        </p:txBody>
      </p:sp>
      <p:sp>
        <p:nvSpPr>
          <p:cNvPr id="31" name="SOS transition 2"/>
          <p:cNvSpPr/>
          <p:nvPr/>
        </p:nvSpPr>
        <p:spPr>
          <a:xfrm>
            <a:off x="5852160" y="4114800"/>
            <a:ext cx="36576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SOS state ACTIVE"/>
          <p:cNvSpPr/>
          <p:nvPr/>
        </p:nvSpPr>
        <p:spPr>
          <a:xfrm>
            <a:off x="6217920" y="3566160"/>
            <a:ext cx="246888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0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ACTIVE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40050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OLED card, buzzer and web banner</a:t>
            </a:r>
            <a:endParaRPr lang="en-US" sz="1300" dirty="0"/>
          </a:p>
        </p:txBody>
      </p:sp>
      <p:sp>
        <p:nvSpPr>
          <p:cNvPr id="35" name="SOS transition 3"/>
          <p:cNvSpPr/>
          <p:nvPr/>
        </p:nvSpPr>
        <p:spPr>
          <a:xfrm>
            <a:off x="8686800" y="4114800"/>
            <a:ext cx="36576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6" name="SOS state CANCELLED"/>
          <p:cNvSpPr/>
          <p:nvPr/>
        </p:nvSpPr>
        <p:spPr>
          <a:xfrm>
            <a:off x="9052560" y="3566160"/>
            <a:ext cx="2468880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235440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CANCELLED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235440" y="40050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Latched so it does not re-trigger</a:t>
            </a:r>
            <a:endParaRPr lang="en-US" sz="1300" dirty="0"/>
          </a:p>
        </p:txBody>
      </p:sp>
      <p:sp>
        <p:nvSpPr>
          <p:cNvPr id="39" name="Fact 1"/>
          <p:cNvSpPr/>
          <p:nvPr/>
        </p:nvSpPr>
        <p:spPr>
          <a:xfrm>
            <a:off x="548640" y="4937760"/>
            <a:ext cx="35661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0" name="Cancel on purpose badge"/>
          <p:cNvSpPr/>
          <p:nvPr/>
        </p:nvSpPr>
        <p:spPr>
          <a:xfrm>
            <a:off x="731520" y="50749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1" name="Image 0" descr="Cancel on purpo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5189220"/>
            <a:ext cx="228600" cy="228600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1325880" y="5074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Cancel on purpose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731520" y="5623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Hold the button for 5 s or tap cancel on the dashboard. A bump cannot cancel a real emergency.</a:t>
            </a:r>
            <a:endParaRPr lang="en-US" sz="1200" dirty="0"/>
          </a:p>
        </p:txBody>
      </p:sp>
      <p:sp>
        <p:nvSpPr>
          <p:cNvPr id="44" name="Fact 2"/>
          <p:cNvSpPr/>
          <p:nvPr/>
        </p:nvSpPr>
        <p:spPr>
          <a:xfrm>
            <a:off x="4297680" y="4937760"/>
            <a:ext cx="35661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5" name="Rescuer dashboard badge"/>
          <p:cNvSpPr/>
          <p:nvPr/>
        </p:nvSpPr>
        <p:spPr>
          <a:xfrm>
            <a:off x="4480560" y="50749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6" name="Image 1" descr="Rescuer dash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5189220"/>
            <a:ext cx="228600" cy="228600"/>
          </a:xfrm>
          <a:prstGeom prst="rect">
            <a:avLst/>
          </a:prstGeom>
        </p:spPr>
      </p:pic>
      <p:sp>
        <p:nvSpPr>
          <p:cNvPr id="47" name="Text 43"/>
          <p:cNvSpPr txBox="1"/>
          <p:nvPr/>
        </p:nvSpPr>
        <p:spPr>
          <a:xfrm>
            <a:off x="5074920" y="5074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Rescuer dashboard</a:t>
            </a:r>
            <a:endParaRPr lang="en-US" sz="1500" dirty="0"/>
          </a:p>
        </p:txBody>
      </p:sp>
      <p:sp>
        <p:nvSpPr>
          <p:cNvPr id="48" name="Text 44"/>
          <p:cNvSpPr txBox="1"/>
          <p:nvPr/>
        </p:nvSpPr>
        <p:spPr>
          <a:xfrm>
            <a:off x="4480560" y="5623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Open hotspot VALOR-xxxx at 192.168.4.1. No router, no app, no internet.</a:t>
            </a:r>
            <a:endParaRPr lang="en-US" sz="1200" dirty="0"/>
          </a:p>
        </p:txBody>
      </p:sp>
      <p:sp>
        <p:nvSpPr>
          <p:cNvPr id="49" name="Fact 3"/>
          <p:cNvSpPr/>
          <p:nvPr/>
        </p:nvSpPr>
        <p:spPr>
          <a:xfrm>
            <a:off x="8046720" y="4937760"/>
            <a:ext cx="35661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0" name="Honest status badge"/>
          <p:cNvSpPr/>
          <p:nvPr/>
        </p:nvSpPr>
        <p:spPr>
          <a:xfrm>
            <a:off x="8229600" y="50749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1" name="Image 2" descr="Honest statu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0" y="5189220"/>
            <a:ext cx="228600" cy="228600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8823960" y="5074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Honest status</a:t>
            </a:r>
            <a:endParaRPr lang="en-US" sz="1500" dirty="0"/>
          </a:p>
        </p:txBody>
      </p:sp>
      <p:sp>
        <p:nvSpPr>
          <p:cNvPr id="53" name="Text 48"/>
          <p:cNvSpPr txBox="1"/>
          <p:nvPr/>
        </p:nvSpPr>
        <p:spPr>
          <a:xfrm>
            <a:off x="8229600" y="5623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Fall detection is prototype level: 16 unit tests and one bench drop trial.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Working prototype</a:t>
            </a:r>
            <a:endParaRPr lang="en-US" sz="3400" dirty="0"/>
          </a:p>
        </p:txBody>
      </p:sp>
      <p:pic>
        <p:nvPicPr>
          <p:cNvPr id="3" name="Image 0" descr="Breadboard bench build with ShrikeFi board, OLED, sensor breakouts and PMS500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566160" cy="4754880"/>
          </a:xfrm>
          <a:prstGeom prst="rect">
            <a:avLst/>
          </a:prstGeom>
        </p:spPr>
      </p:pic>
      <p:pic>
        <p:nvPicPr>
          <p:cNvPr id="4" name="Image 1" descr="Soldered VALOR prototype board with ShrikeFi, GNSS, IMU, OLED, buzzer and senso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8154135" cy="47548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6126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Stage 1: breadboard bench build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389120" y="6126480"/>
            <a:ext cx="8154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Stage 2: soldered board with ShrikeFi, GNSS, IMU, OLED, buzzer and sensors</a:t>
            </a:r>
            <a:endParaRPr lang="en-US" sz="1200" dirty="0"/>
          </a:p>
        </p:txBody>
      </p:sp>
      <p:sp>
        <p:nvSpPr>
          <p:cNvPr id="7" name="Bus fact 1"/>
          <p:cNvSpPr/>
          <p:nvPr/>
        </p:nvSpPr>
        <p:spPr>
          <a:xfrm>
            <a:off x="12817575" y="1325880"/>
            <a:ext cx="-1204695" cy="1417320"/>
          </a:xfrm>
          <a:prstGeom prst="roundRect">
            <a:avLst>
              <a:gd name="adj" fmla="val -9108"/>
            </a:avLst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13000455" y="1417320"/>
            <a:ext cx="-1570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I2C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13000455" y="1920240"/>
            <a:ext cx="-15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MAX30102, BME280, MPU6050, OLED</a:t>
            </a:r>
            <a:endParaRPr lang="en-US" sz="1300" dirty="0"/>
          </a:p>
        </p:txBody>
      </p:sp>
      <p:sp>
        <p:nvSpPr>
          <p:cNvPr id="10" name="Bus fact 2"/>
          <p:cNvSpPr/>
          <p:nvPr/>
        </p:nvSpPr>
        <p:spPr>
          <a:xfrm>
            <a:off x="12817575" y="2926080"/>
            <a:ext cx="-1204695" cy="1417320"/>
          </a:xfrm>
          <a:prstGeom prst="roundRect">
            <a:avLst>
              <a:gd name="adj" fmla="val -9108"/>
            </a:avLst>
          </a:prstGeom>
          <a:solidFill>
            <a:schemeClr val="bg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3000455" y="3017520"/>
            <a:ext cx="-1570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UART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13000455" y="3520440"/>
            <a:ext cx="-15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PMS5003 and GNSS at 9600 baud</a:t>
            </a:r>
            <a:endParaRPr lang="en-US" sz="1300" dirty="0"/>
          </a:p>
        </p:txBody>
      </p:sp>
      <p:sp>
        <p:nvSpPr>
          <p:cNvPr id="13" name="Bus fact 3"/>
          <p:cNvSpPr/>
          <p:nvPr/>
        </p:nvSpPr>
        <p:spPr>
          <a:xfrm>
            <a:off x="12817575" y="4526280"/>
            <a:ext cx="-1204695" cy="1417320"/>
          </a:xfrm>
          <a:prstGeom prst="roundRect">
            <a:avLst>
              <a:gd name="adj" fmla="val -9108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3000455" y="4617720"/>
            <a:ext cx="-1570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SPI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13000455" y="5120640"/>
            <a:ext cx="-15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ESP32 to FPGA, 1 MHz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Hardware validation on ForgeFPGA</a:t>
            </a:r>
            <a:endParaRPr lang="en-US" sz="3400" dirty="0"/>
          </a:p>
        </p:txBody>
      </p:sp>
      <p:pic>
        <p:nvPicPr>
          <p:cNvPr id="3" name="Image 0" descr="Simulation waveform of the peak detec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135960" cy="2926080"/>
          </a:xfrm>
          <a:prstGeom prst="rect">
            <a:avLst/>
          </a:prstGeom>
        </p:spPr>
      </p:pic>
      <p:pic>
        <p:nvPicPr>
          <p:cNvPr id="4" name="Image 1" descr="ForgeFPGA utilisation: 515 of 1120 LUT5, 105 of 140 CLB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951" y="1325880"/>
            <a:ext cx="4515929" cy="29260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343400"/>
            <a:ext cx="613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Compressed-time testbench: two beats 3279 cycles × 20 ns ≈ 66 µs apart. Real beats are about 0.8 s apart.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7096951" y="4343400"/>
            <a:ext cx="45159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FPGA core utilisation from the vendor tool: 515 of 1,120 LUT5 and 105 of 140 CLBs.</a:t>
            </a:r>
            <a:endParaRPr lang="en-US" sz="1200" dirty="0"/>
          </a:p>
        </p:txBody>
      </p:sp>
      <p:sp>
        <p:nvSpPr>
          <p:cNvPr id="7" name="Validation stat 1"/>
          <p:cNvSpPr/>
          <p:nvPr/>
        </p:nvSpPr>
        <p:spPr>
          <a:xfrm>
            <a:off x="548640" y="5029200"/>
            <a:ext cx="262432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77240" y="51023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13 / 13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669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ShrikeFi self-checking checks pass</a:t>
            </a:r>
            <a:endParaRPr lang="en-US" sz="1200" dirty="0"/>
          </a:p>
        </p:txBody>
      </p:sp>
      <p:sp>
        <p:nvSpPr>
          <p:cNvPr id="10" name="Validation stat 2"/>
          <p:cNvSpPr/>
          <p:nvPr/>
        </p:nvSpPr>
        <p:spPr>
          <a:xfrm>
            <a:off x="3355848" y="5029200"/>
            <a:ext cx="262432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3584448" y="51023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6 / 6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3584448" y="5669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Zynq-7000 reference checks pass</a:t>
            </a:r>
            <a:endParaRPr lang="en-US" sz="1200" dirty="0"/>
          </a:p>
        </p:txBody>
      </p:sp>
      <p:sp>
        <p:nvSpPr>
          <p:cNvPr id="13" name="Validation stat 3"/>
          <p:cNvSpPr/>
          <p:nvPr/>
        </p:nvSpPr>
        <p:spPr>
          <a:xfrm>
            <a:off x="6163056" y="5029200"/>
            <a:ext cx="2624328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391656" y="51023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+7.316 ns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6391656" y="5669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worst slack, Fmax 78.85 MHz</a:t>
            </a:r>
            <a:endParaRPr lang="en-US" sz="1200" dirty="0"/>
          </a:p>
        </p:txBody>
      </p:sp>
      <p:sp>
        <p:nvSpPr>
          <p:cNvPr id="16" name="Validation stat 4"/>
          <p:cNvSpPr/>
          <p:nvPr/>
        </p:nvSpPr>
        <p:spPr>
          <a:xfrm>
            <a:off x="8970264" y="5029200"/>
            <a:ext cx="262432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9198864" y="51023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515 LUT5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9198864" y="5669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105 of 140 CLBs, the real limit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AI benchmark: honest numbers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7607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I fact 1"/>
          <p:cNvSpPr/>
          <p:nvPr/>
        </p:nvSpPr>
        <p:spPr>
          <a:xfrm>
            <a:off x="6675120" y="1325880"/>
            <a:ext cx="4937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903720" y="14356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Synthetic training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903720" y="17830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The network is distilled from our rule engine on rule-derived vitals, not patients. INT8 agrees with its teacher at 88.39% (FP32 88.47%).</a:t>
            </a:r>
            <a:endParaRPr lang="en-US" sz="1300" dirty="0"/>
          </a:p>
        </p:txBody>
      </p:sp>
      <p:sp>
        <p:nvSpPr>
          <p:cNvPr id="7" name="AI fact 2"/>
          <p:cNvSpPr/>
          <p:nvPr/>
        </p:nvSpPr>
        <p:spPr>
          <a:xfrm>
            <a:off x="6675120" y="2971800"/>
            <a:ext cx="4937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903720" y="30815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Real ICU benchmark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34290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The MIMIC-III check compares the whole triage pipeline with an algorithmic rule on real heart rate and SpO₂. The HRV column is synthetic.</a:t>
            </a:r>
            <a:endParaRPr lang="en-US" sz="1300" dirty="0"/>
          </a:p>
        </p:txBody>
      </p:sp>
      <p:sp>
        <p:nvSpPr>
          <p:cNvPr id="10" name="AI fact 3"/>
          <p:cNvSpPr/>
          <p:nvPr/>
        </p:nvSpPr>
        <p:spPr>
          <a:xfrm>
            <a:off x="6675120" y="4617720"/>
            <a:ext cx="4937760" cy="150876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03720" y="47274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Why rules always win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903720" y="50749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Sensitivity is 58.18%: the network misses about 42% of rule-defined critical cases. Deterministic limits override it. VALOR is screening, not diagnosis.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Feasibility and cost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Part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PMS5003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Dust and smoke (PM1, 2.5, 10)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₹1,600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NEO-8N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GNSS, satellite position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₹1,100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ShrikeFi board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ESP32-S3 + ForgeFPGA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₹900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TMP117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Skin temp (failed on bench)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₹400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BME280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Temp, humidity, pressure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₹300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OLED 128×64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Local display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₹200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MAX30102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Pulse and SpO₂ sensor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₹192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MPU6050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Motion and fall detection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₹190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Buzzer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SOS alert sound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₹29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Push button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Cancel input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₹5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₹4,916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6"/>
                    </a:solidFill>
                  </a:tcPr>
                </a:tc>
              </a:tr>
            </a:tbl>
          </a:graphicData>
        </a:graphic>
      </p:graphicFrame>
      <p:sp>
        <p:nvSpPr>
          <p:cNvPr id="4" name="Total card"/>
          <p:cNvSpPr/>
          <p:nvPr/>
        </p:nvSpPr>
        <p:spPr>
          <a:xfrm>
            <a:off x="7863840" y="1325880"/>
            <a:ext cx="3749040" cy="192024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38160" y="1481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Prototype parts, one of each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1828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₹4,916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ten off-the-shelf parts</a:t>
            </a:r>
            <a:endParaRPr lang="en-US" sz="1400" dirty="0"/>
          </a:p>
        </p:txBody>
      </p:sp>
      <p:sp>
        <p:nvSpPr>
          <p:cNvPr id="8" name="Portability card"/>
          <p:cNvSpPr/>
          <p:nvPr/>
        </p:nvSpPr>
        <p:spPr>
          <a:xfrm>
            <a:off x="7863840" y="3474720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92440" y="3584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Portable design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91363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The same vendor-neutral Verilog runs on a Xilinx Zynq-7000 reference and on the low-cost ForgeFPGA.</a:t>
            </a:r>
            <a:endParaRPr lang="en-US" sz="1300" dirty="0"/>
          </a:p>
        </p:txBody>
      </p:sp>
      <p:sp>
        <p:nvSpPr>
          <p:cNvPr id="11" name="Scope card"/>
          <p:cNvSpPr/>
          <p:nvPr/>
        </p:nvSpPr>
        <p:spPr>
          <a:xfrm>
            <a:off x="7863840" y="5029200"/>
            <a:ext cx="37490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92440" y="5138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Scope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546811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Volume production cost and battery sizing are not costed yet. The prototype is USB-powered.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Impact and roadmap</a:t>
            </a:r>
            <a:endParaRPr lang="en-US" sz="3400" dirty="0"/>
          </a:p>
        </p:txBody>
      </p:sp>
      <p:sp>
        <p:nvSpPr>
          <p:cNvPr id="3" name="Impact card 1"/>
          <p:cNvSpPr/>
          <p:nvPr/>
        </p:nvSpPr>
        <p:spPr>
          <a:xfrm>
            <a:off x="548640" y="1325880"/>
            <a:ext cx="5486400" cy="1481328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4" name="Rescue teams badge"/>
          <p:cNvSpPr/>
          <p:nvPr/>
        </p:nvSpPr>
        <p:spPr>
          <a:xfrm>
            <a:off x="777240" y="16916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mage 0" descr="Rescue tea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Rescue teams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9202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Any phone joins the VALOR hotspot and sees vitals and alerts. No router, no app.</a:t>
            </a:r>
            <a:endParaRPr lang="en-US" sz="1400" dirty="0"/>
          </a:p>
        </p:txBody>
      </p:sp>
      <p:sp>
        <p:nvSpPr>
          <p:cNvPr id="8" name="Impact card 2"/>
          <p:cNvSpPr/>
          <p:nvPr/>
        </p:nvSpPr>
        <p:spPr>
          <a:xfrm>
            <a:off x="548640" y="2953512"/>
            <a:ext cx="5486400" cy="1481328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9" name="People in the hazard badge"/>
          <p:cNvSpPr/>
          <p:nvPr/>
        </p:nvSpPr>
        <p:spPr>
          <a:xfrm>
            <a:off x="777240" y="3319272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mage 1" descr="People in the haz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50215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83080" y="3136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People in the hazard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783080" y="35478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Early warning for heat, smoke and cyclones, fused with the wearer's own vitals.</a:t>
            </a:r>
            <a:endParaRPr lang="en-US" sz="1400" dirty="0"/>
          </a:p>
        </p:txBody>
      </p:sp>
      <p:sp>
        <p:nvSpPr>
          <p:cNvPr id="13" name="Impact card 3"/>
          <p:cNvSpPr/>
          <p:nvPr/>
        </p:nvSpPr>
        <p:spPr>
          <a:xfrm>
            <a:off x="548640" y="4581144"/>
            <a:ext cx="5486400" cy="1481328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4" name="Low-cost and portable badge"/>
          <p:cNvSpPr/>
          <p:nvPr/>
        </p:nvSpPr>
        <p:spPr>
          <a:xfrm>
            <a:off x="777240" y="4946904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2" descr="Low-cost and porta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12978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47640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Low-cost and portable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517550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Off-the-shelf parts and vendor-neutral Verilog make it easy to reproduce and scale.</a:t>
            </a:r>
            <a:endParaRPr lang="en-US" sz="1400" dirty="0"/>
          </a:p>
        </p:txBody>
      </p:sp>
      <p:sp>
        <p:nvSpPr>
          <p:cNvPr id="18" name="Roadmap panel"/>
          <p:cNvSpPr/>
          <p:nvPr/>
        </p:nvSpPr>
        <p:spPr>
          <a:xfrm>
            <a:off x="6400800" y="1325880"/>
            <a:ext cx="5212080" cy="4754880"/>
          </a:xfrm>
          <a:prstGeom prst="roundRect">
            <a:avLst>
              <a:gd name="adj" fmla="val 2308"/>
            </a:avLst>
          </a:prstGeom>
          <a:solidFill>
            <a:schemeClr val="tx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720840" y="1508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Roadmap</a:t>
            </a:r>
            <a:endParaRPr lang="en-US" sz="2200" dirty="0"/>
          </a:p>
        </p:txBody>
      </p:sp>
      <p:sp>
        <p:nvSpPr>
          <p:cNvPr id="20" name="Roadmap number 1"/>
          <p:cNvSpPr/>
          <p:nvPr/>
        </p:nvSpPr>
        <p:spPr>
          <a:xfrm>
            <a:off x="6720840" y="21031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7208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7269480" y="204825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Calibrate skin temperature against a reference thermometer</a:t>
            </a:r>
            <a:endParaRPr lang="en-US" sz="1400" dirty="0"/>
          </a:p>
        </p:txBody>
      </p:sp>
      <p:sp>
        <p:nvSpPr>
          <p:cNvPr id="23" name="Roadmap number 2"/>
          <p:cNvSpPr/>
          <p:nvPr/>
        </p:nvSpPr>
        <p:spPr>
          <a:xfrm>
            <a:off x="6720840" y="275234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72084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7269480" y="26974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Retrain the network on field data from wrist devices</a:t>
            </a:r>
            <a:endParaRPr lang="en-US" sz="1400" dirty="0"/>
          </a:p>
        </p:txBody>
      </p:sp>
      <p:sp>
        <p:nvSpPr>
          <p:cNvPr id="26" name="Roadmap number 3"/>
          <p:cNvSpPr/>
          <p:nvPr/>
        </p:nvSpPr>
        <p:spPr>
          <a:xfrm>
            <a:off x="6720840" y="34015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72084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7269480" y="334670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Add battery, charging and power management</a:t>
            </a:r>
            <a:endParaRPr lang="en-US" sz="1400" dirty="0"/>
          </a:p>
        </p:txBody>
      </p:sp>
      <p:sp>
        <p:nvSpPr>
          <p:cNvPr id="29" name="Roadmap number 4"/>
          <p:cNvSpPr/>
          <p:nvPr/>
        </p:nvSpPr>
        <p:spPr>
          <a:xfrm>
            <a:off x="6720840" y="405079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72084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7269480" y="399592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Reset synchronizer, RISING watchdog and authenticated cancel</a:t>
            </a:r>
            <a:endParaRPr lang="en-US" sz="1400" dirty="0"/>
          </a:p>
        </p:txBody>
      </p:sp>
      <p:sp>
        <p:nvSpPr>
          <p:cNvPr id="32" name="Roadmap number 5"/>
          <p:cNvSpPr/>
          <p:nvPr/>
        </p:nvSpPr>
        <p:spPr>
          <a:xfrm>
            <a:off x="6720840" y="47000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6720840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7269480" y="464515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Multi-trial fall-detection tests</a:t>
            </a:r>
            <a:endParaRPr lang="en-US" sz="1400" dirty="0"/>
          </a:p>
        </p:txBody>
      </p:sp>
      <p:sp>
        <p:nvSpPr>
          <p:cNvPr id="35" name="Roadmap number 6"/>
          <p:cNvSpPr/>
          <p:nvPr/>
        </p:nvSpPr>
        <p:spPr>
          <a:xfrm>
            <a:off x="6720840" y="53492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67208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2"/>
          <p:cNvSpPr txBox="1"/>
          <p:nvPr/>
        </p:nvSpPr>
        <p:spPr>
          <a:xfrm>
            <a:off x="7269480" y="529437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Regulatory path: ISO 13485, IEC 60601-1, clinical trials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Research and references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651760"/>
                <a:gridCol w="4206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provides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How VALOR uses it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Royal College of Physicians, NEWS2 (2017)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UK early-warning score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mNEWS2 from pulse, SpO₂ and respiration; bands 0–4, 5–6, ≥ 7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Karlen et al., Physiological Measurement (2012)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PPG signal quality index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SQI must be ≥ 0.70 before HRV and scores are shown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Rothfusz, NWS Technical Attachment SR 90-23 (1990)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NOAA heat-index regression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Heat tiers, with a cold guard since the formula is valid only when warm and humid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US EPA 24-hour PM2.5 standard; WHO 2021 guideline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Air-quality limits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PM2.5 caution at 35 µg/m³ (EPA standard; WHO guideline is 15)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US EPA / AirGradient PM2.5 correction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Published PMS5003 humidity correction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Replaced our own calibration network; 60 s rolling average with confidence flags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Johnson et al., MIMIC-III, Scientific Data (2016)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Public ICU database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Benchmark of the triage pipeline on 16,387 records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ISO 13485 and IEC 60601-1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Medical-device standards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</a:rPr>
                        <a:t>Roadmap to a regulated medical-grade product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Early warning that works when nothing else does</a:t>
            </a:r>
            <a:endParaRPr lang="en-US" sz="4000" dirty="0"/>
          </a:p>
        </p:txBody>
      </p:sp>
      <p:sp>
        <p:nvSpPr>
          <p:cNvPr id="3" name="Offline by design badge"/>
          <p:cNvSpPr/>
          <p:nvPr/>
        </p:nvSpPr>
        <p:spPr>
          <a:xfrm>
            <a:off x="731520" y="36118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Image 0" descr="Offline by desig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37719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3611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Offline by design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39502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Own hotspot, own rulebook, own AI</a:t>
            </a:r>
            <a:endParaRPr lang="en-US" sz="1400" dirty="0"/>
          </a:p>
        </p:txBody>
      </p:sp>
      <p:sp>
        <p:nvSpPr>
          <p:cNvPr id="7" name="FPGA-timed beat detection badge"/>
          <p:cNvSpPr/>
          <p:nvPr/>
        </p:nvSpPr>
        <p:spPr>
          <a:xfrm>
            <a:off x="731520" y="44805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1" descr="FPGA-timed beat detec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46405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4480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FPGA-timed beat detection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48188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20 ns hardware timestamps, independent of CPU load</a:t>
            </a:r>
            <a:endParaRPr lang="en-US" sz="1400" dirty="0"/>
          </a:p>
        </p:txBody>
      </p:sp>
      <p:sp>
        <p:nvSpPr>
          <p:cNvPr id="11" name="Rules always win badge"/>
          <p:cNvSpPr/>
          <p:nvPr/>
        </p:nvSpPr>
        <p:spPr>
          <a:xfrm>
            <a:off x="731520" y="53492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2" descr="Rules always w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55092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5349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Rules always win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554480" y="56875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Deterministic limits over a tiny INT8 network</a:t>
            </a:r>
            <a:endParaRPr lang="en-US" sz="1400" dirty="0"/>
          </a:p>
        </p:txBody>
      </p:sp>
      <p:pic>
        <p:nvPicPr>
          <p:cNvPr id="15" name="Image 3" descr="Exploded concept render of the VALOR wrist form fac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828800"/>
            <a:ext cx="5120640" cy="2858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583680" y="4796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Target wrist form factor: concept render, not the built prototype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LOR">
  <a:themeElements>
    <a:clrScheme name="VALOR">
      <a:dk1>
        <a:srgbClr val="0B1B2B"/>
      </a:dk1>
      <a:lt1>
        <a:srgbClr val="FFFFFF"/>
      </a:lt1>
      <a:dk2>
        <a:srgbClr val="16374F"/>
      </a:dk2>
      <a:lt2>
        <a:srgbClr val="EDF2F7"/>
      </a:lt2>
      <a:accent1>
        <a:srgbClr val="FF6B35"/>
      </a:accent1>
      <a:accent2>
        <a:srgbClr val="1FB5A8"/>
      </a:accent2>
      <a:accent3>
        <a:srgbClr val="3B82F6"/>
      </a:accent3>
      <a:accent4>
        <a:srgbClr val="F5B83D"/>
      </a:accent4>
      <a:accent5>
        <a:srgbClr val="5B6B7C"/>
      </a:accent5>
      <a:accent6>
        <a:srgbClr val="E5484D"/>
      </a:accent6>
      <a:hlink>
        <a:srgbClr val="3B82F6"/>
      </a:hlink>
      <a:folHlink>
        <a:srgbClr val="5B6B7C"/>
      </a:folHlink>
    </a:clrScheme>
    <a:fontScheme name="VALO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VALOR: Vital and Atmospheric Logic for Offline Rescue</dc:title>
  <dc:subject>SIH26181 Round 1 submission</dc:subject>
  <dc:creator>Team Chipsters</dc:creator>
  <cp:lastModifiedBy>Team Chipsters</cp:lastModifiedBy>
  <cp:revision>1</cp:revision>
  <dcterms:created xsi:type="dcterms:W3CDTF">2026-10-25T17:57:53Z</dcterms:created>
  <dcterms:modified xsi:type="dcterms:W3CDTF">2026-10-25T17:57:53Z</dcterms:modified>
</cp:coreProperties>
</file>