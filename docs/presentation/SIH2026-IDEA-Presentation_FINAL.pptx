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61" r:id="rId9"/>
  </p:sldIdLst>
  <p:sldSz cx="18288000" cy="10287000"/>
  <p:notesSz cx="6858000" cy="9144000"/>
  <p:embeddedFontLst>
    <p:embeddedFont>
      <p:font typeface="Arial Bold" panose="020B0704020202020204" pitchFamily="34" charset="0"/>
      <p:bold r:id="rId11"/>
    </p:embeddedFont>
    <p:embeddedFont>
      <p:font typeface="Arimo Bold" panose="020B0604020202020204" charset="0"/>
      <p:regular r:id="rId12"/>
    </p:embeddedFont>
    <p:embeddedFont>
      <p:font typeface="Bahnschrift" panose="020B0502040204020203" pitchFamily="34" charset="0"/>
      <p:regular r:id="rId13"/>
      <p:bold r:id="rId14"/>
    </p:embeddedFont>
    <p:embeddedFont>
      <p:font typeface="Calibri (MS) Bold" panose="020B0604020202020204" charset="0"/>
      <p:regular r:id="rId15"/>
    </p:embeddedFont>
    <p:embeddedFont>
      <p:font typeface="Garamond Bold" panose="02020804030307010803" pitchFamily="18" charset="0"/>
      <p:bold r:id="rId16"/>
    </p:embeddedFont>
    <p:embeddedFont>
      <p:font typeface="Times New Roman Bold" panose="02020803070505020304" pitchFamily="18" charset="0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8CF3E3-C2D5-41DA-B4C6-79517F81C6A5}" v="2" dt="2026-09-12T03:53:46.3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22" autoAdjust="0"/>
  </p:normalViewPr>
  <p:slideViewPr>
    <p:cSldViewPr>
      <p:cViewPr varScale="1">
        <p:scale>
          <a:sx n="65" d="100"/>
          <a:sy n="65" d="100"/>
        </p:scale>
        <p:origin x="11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nav dhyani" userId="3767003ed00eb1cd" providerId="LiveId" clId="{B14164B4-9738-413A-A4C4-A107F7189E8C}"/>
    <pc:docChg chg="custSel modSld">
      <pc:chgData name="abhinav dhyani" userId="3767003ed00eb1cd" providerId="LiveId" clId="{B14164B4-9738-413A-A4C4-A107F7189E8C}" dt="2026-09-12T03:58:40.993" v="95" actId="1076"/>
      <pc:docMkLst>
        <pc:docMk/>
      </pc:docMkLst>
      <pc:sldChg chg="addSp delSp modSp mod modAnim">
        <pc:chgData name="abhinav dhyani" userId="3767003ed00eb1cd" providerId="LiveId" clId="{B14164B4-9738-413A-A4C4-A107F7189E8C}" dt="2026-09-12T03:53:34.352" v="76" actId="1076"/>
        <pc:sldMkLst>
          <pc:docMk/>
          <pc:sldMk cId="0" sldId="257"/>
        </pc:sldMkLst>
        <pc:spChg chg="mod">
          <ac:chgData name="abhinav dhyani" userId="3767003ed00eb1cd" providerId="LiveId" clId="{B14164B4-9738-413A-A4C4-A107F7189E8C}" dt="2026-09-12T03:52:15.359" v="67" actId="1076"/>
          <ac:spMkLst>
            <pc:docMk/>
            <pc:sldMk cId="0" sldId="257"/>
            <ac:spMk id="4" creationId="{9EC3C07B-629E-6F2B-F616-DC940B9F4C0D}"/>
          </ac:spMkLst>
        </pc:spChg>
        <pc:spChg chg="mod">
          <ac:chgData name="abhinav dhyani" userId="3767003ed00eb1cd" providerId="LiveId" clId="{B14164B4-9738-413A-A4C4-A107F7189E8C}" dt="2026-09-12T03:52:15.359" v="67" actId="1076"/>
          <ac:spMkLst>
            <pc:docMk/>
            <pc:sldMk cId="0" sldId="257"/>
            <ac:spMk id="11" creationId="{EEA8340D-FF41-29CE-2678-AA7EE19D1D9E}"/>
          </ac:spMkLst>
        </pc:spChg>
        <pc:spChg chg="mod">
          <ac:chgData name="abhinav dhyani" userId="3767003ed00eb1cd" providerId="LiveId" clId="{B14164B4-9738-413A-A4C4-A107F7189E8C}" dt="2026-09-12T03:52:15.359" v="67" actId="1076"/>
          <ac:spMkLst>
            <pc:docMk/>
            <pc:sldMk cId="0" sldId="257"/>
            <ac:spMk id="13" creationId="{42AD9976-802E-AE8D-C153-C6F13BCA82D0}"/>
          </ac:spMkLst>
        </pc:spChg>
        <pc:spChg chg="mod">
          <ac:chgData name="abhinav dhyani" userId="3767003ed00eb1cd" providerId="LiveId" clId="{B14164B4-9738-413A-A4C4-A107F7189E8C}" dt="2026-09-12T03:52:05.741" v="66" actId="1076"/>
          <ac:spMkLst>
            <pc:docMk/>
            <pc:sldMk cId="0" sldId="257"/>
            <ac:spMk id="17" creationId="{A8F70542-3290-C86B-4F0C-F8B556DA487B}"/>
          </ac:spMkLst>
        </pc:spChg>
        <pc:spChg chg="mod">
          <ac:chgData name="abhinav dhyani" userId="3767003ed00eb1cd" providerId="LiveId" clId="{B14164B4-9738-413A-A4C4-A107F7189E8C}" dt="2026-09-12T03:52:05.741" v="66" actId="1076"/>
          <ac:spMkLst>
            <pc:docMk/>
            <pc:sldMk cId="0" sldId="257"/>
            <ac:spMk id="19" creationId="{726688C5-72AC-AA60-39E2-6D5D7B28B7FB}"/>
          </ac:spMkLst>
        </pc:spChg>
        <pc:spChg chg="mod">
          <ac:chgData name="abhinav dhyani" userId="3767003ed00eb1cd" providerId="LiveId" clId="{B14164B4-9738-413A-A4C4-A107F7189E8C}" dt="2026-09-12T03:52:05.741" v="66" actId="1076"/>
          <ac:spMkLst>
            <pc:docMk/>
            <pc:sldMk cId="0" sldId="257"/>
            <ac:spMk id="21" creationId="{25D28707-7495-D574-EB3F-A4D85C01727F}"/>
          </ac:spMkLst>
        </pc:spChg>
        <pc:picChg chg="add mod">
          <ac:chgData name="abhinav dhyani" userId="3767003ed00eb1cd" providerId="LiveId" clId="{B14164B4-9738-413A-A4C4-A107F7189E8C}" dt="2026-09-12T03:53:34.352" v="76" actId="1076"/>
          <ac:picMkLst>
            <pc:docMk/>
            <pc:sldMk cId="0" sldId="257"/>
            <ac:picMk id="10" creationId="{D37AB41D-F115-E793-81F5-42535F39C5EF}"/>
          </ac:picMkLst>
        </pc:picChg>
        <pc:picChg chg="del">
          <ac:chgData name="abhinav dhyani" userId="3767003ed00eb1cd" providerId="LiveId" clId="{B14164B4-9738-413A-A4C4-A107F7189E8C}" dt="2026-09-12T03:49:03.995" v="45" actId="478"/>
          <ac:picMkLst>
            <pc:docMk/>
            <pc:sldMk cId="0" sldId="257"/>
            <ac:picMk id="24" creationId="{4D2CEC61-D75F-1686-B3B8-2A7ACED37BEB}"/>
          </ac:picMkLst>
        </pc:picChg>
        <pc:cxnChg chg="del mod">
          <ac:chgData name="abhinav dhyani" userId="3767003ed00eb1cd" providerId="LiveId" clId="{B14164B4-9738-413A-A4C4-A107F7189E8C}" dt="2026-09-12T03:50:09.952" v="54" actId="478"/>
          <ac:cxnSpMkLst>
            <pc:docMk/>
            <pc:sldMk cId="0" sldId="257"/>
            <ac:cxnSpMk id="15" creationId="{57321AD5-CF6B-6897-A7DC-56BAC3910D44}"/>
          </ac:cxnSpMkLst>
        </pc:cxnChg>
      </pc:sldChg>
      <pc:sldChg chg="addSp modSp mod">
        <pc:chgData name="abhinav dhyani" userId="3767003ed00eb1cd" providerId="LiveId" clId="{B14164B4-9738-413A-A4C4-A107F7189E8C}" dt="2026-09-12T03:46:50.661" v="44" actId="255"/>
        <pc:sldMkLst>
          <pc:docMk/>
          <pc:sldMk cId="0" sldId="260"/>
        </pc:sldMkLst>
        <pc:spChg chg="mod">
          <ac:chgData name="abhinav dhyani" userId="3767003ed00eb1cd" providerId="LiveId" clId="{B14164B4-9738-413A-A4C4-A107F7189E8C}" dt="2026-09-11T11:23:07.340" v="33" actId="115"/>
          <ac:spMkLst>
            <pc:docMk/>
            <pc:sldMk cId="0" sldId="260"/>
            <ac:spMk id="4" creationId="{00000000-0000-0000-0000-000000000000}"/>
          </ac:spMkLst>
        </pc:spChg>
        <pc:spChg chg="add mod">
          <ac:chgData name="abhinav dhyani" userId="3767003ed00eb1cd" providerId="LiveId" clId="{B14164B4-9738-413A-A4C4-A107F7189E8C}" dt="2026-09-12T03:46:50.661" v="44" actId="255"/>
          <ac:spMkLst>
            <pc:docMk/>
            <pc:sldMk cId="0" sldId="260"/>
            <ac:spMk id="11" creationId="{D689714D-BC2F-1B89-9BE8-E11942B5DC9D}"/>
          </ac:spMkLst>
        </pc:spChg>
        <pc:picChg chg="mod">
          <ac:chgData name="abhinav dhyani" userId="3767003ed00eb1cd" providerId="LiveId" clId="{B14164B4-9738-413A-A4C4-A107F7189E8C}" dt="2026-09-12T03:46:27.359" v="41" actId="14100"/>
          <ac:picMkLst>
            <pc:docMk/>
            <pc:sldMk cId="0" sldId="260"/>
            <ac:picMk id="29" creationId="{2934EE74-DCC0-59D2-DEB8-3AD1CBE6C17C}"/>
          </ac:picMkLst>
        </pc:picChg>
      </pc:sldChg>
      <pc:sldChg chg="addSp delSp modSp mod">
        <pc:chgData name="abhinav dhyani" userId="3767003ed00eb1cd" providerId="LiveId" clId="{B14164B4-9738-413A-A4C4-A107F7189E8C}" dt="2026-09-12T03:58:40.993" v="95" actId="1076"/>
        <pc:sldMkLst>
          <pc:docMk/>
          <pc:sldMk cId="0" sldId="261"/>
        </pc:sldMkLst>
        <pc:spChg chg="mod">
          <ac:chgData name="abhinav dhyani" userId="3767003ed00eb1cd" providerId="LiveId" clId="{B14164B4-9738-413A-A4C4-A107F7189E8C}" dt="2026-09-11T11:23:00.872" v="32" actId="115"/>
          <ac:spMkLst>
            <pc:docMk/>
            <pc:sldMk cId="0" sldId="261"/>
            <ac:spMk id="4" creationId="{00000000-0000-0000-0000-000000000000}"/>
          </ac:spMkLst>
        </pc:spChg>
        <pc:spChg chg="del mod">
          <ac:chgData name="abhinav dhyani" userId="3767003ed00eb1cd" providerId="LiveId" clId="{B14164B4-9738-413A-A4C4-A107F7189E8C}" dt="2026-09-11T11:22:50.646" v="30" actId="478"/>
          <ac:spMkLst>
            <pc:docMk/>
            <pc:sldMk cId="0" sldId="261"/>
            <ac:spMk id="16" creationId="{00000000-0000-0000-0000-000000000000}"/>
          </ac:spMkLst>
        </pc:spChg>
        <pc:spChg chg="del mod">
          <ac:chgData name="abhinav dhyani" userId="3767003ed00eb1cd" providerId="LiveId" clId="{B14164B4-9738-413A-A4C4-A107F7189E8C}" dt="2026-09-11T11:22:23.864" v="14"/>
          <ac:spMkLst>
            <pc:docMk/>
            <pc:sldMk cId="0" sldId="261"/>
            <ac:spMk id="19" creationId="{00000000-0000-0000-0000-000000000000}"/>
          </ac:spMkLst>
        </pc:spChg>
        <pc:spChg chg="del mod">
          <ac:chgData name="abhinav dhyani" userId="3767003ed00eb1cd" providerId="LiveId" clId="{B14164B4-9738-413A-A4C4-A107F7189E8C}" dt="2026-09-11T11:22:39.774" v="26"/>
          <ac:spMkLst>
            <pc:docMk/>
            <pc:sldMk cId="0" sldId="261"/>
            <ac:spMk id="21" creationId="{00000000-0000-0000-0000-000000000000}"/>
          </ac:spMkLst>
        </pc:spChg>
        <pc:spChg chg="del">
          <ac:chgData name="abhinav dhyani" userId="3767003ed00eb1cd" providerId="LiveId" clId="{B14164B4-9738-413A-A4C4-A107F7189E8C}" dt="2026-09-11T11:22:41.498" v="29" actId="478"/>
          <ac:spMkLst>
            <pc:docMk/>
            <pc:sldMk cId="0" sldId="261"/>
            <ac:spMk id="25" creationId="{00000000-0000-0000-0000-000000000000}"/>
          </ac:spMkLst>
        </pc:spChg>
        <pc:spChg chg="del mod">
          <ac:chgData name="abhinav dhyani" userId="3767003ed00eb1cd" providerId="LiveId" clId="{B14164B4-9738-413A-A4C4-A107F7189E8C}" dt="2026-09-11T11:22:39.775" v="28"/>
          <ac:spMkLst>
            <pc:docMk/>
            <pc:sldMk cId="0" sldId="261"/>
            <ac:spMk id="26" creationId="{00000000-0000-0000-0000-000000000000}"/>
          </ac:spMkLst>
        </pc:spChg>
        <pc:grpChg chg="del mod">
          <ac:chgData name="abhinav dhyani" userId="3767003ed00eb1cd" providerId="LiveId" clId="{B14164B4-9738-413A-A4C4-A107F7189E8C}" dt="2026-09-11T11:22:24.534" v="15" actId="478"/>
          <ac:grpSpMkLst>
            <pc:docMk/>
            <pc:sldMk cId="0" sldId="261"/>
            <ac:grpSpMk id="10" creationId="{00000000-0000-0000-0000-000000000000}"/>
          </ac:grpSpMkLst>
        </pc:grpChg>
        <pc:grpChg chg="del">
          <ac:chgData name="abhinav dhyani" userId="3767003ed00eb1cd" providerId="LiveId" clId="{B14164B4-9738-413A-A4C4-A107F7189E8C}" dt="2026-09-11T11:22:23.855" v="12" actId="478"/>
          <ac:grpSpMkLst>
            <pc:docMk/>
            <pc:sldMk cId="0" sldId="261"/>
            <ac:grpSpMk id="13" creationId="{00000000-0000-0000-0000-000000000000}"/>
          </ac:grpSpMkLst>
        </pc:grpChg>
        <pc:grpChg chg="del">
          <ac:chgData name="abhinav dhyani" userId="3767003ed00eb1cd" providerId="LiveId" clId="{B14164B4-9738-413A-A4C4-A107F7189E8C}" dt="2026-09-11T11:22:39.774" v="24" actId="478"/>
          <ac:grpSpMkLst>
            <pc:docMk/>
            <pc:sldMk cId="0" sldId="261"/>
            <ac:grpSpMk id="22" creationId="{00000000-0000-0000-0000-000000000000}"/>
          </ac:grpSpMkLst>
        </pc:grpChg>
        <pc:picChg chg="add mod">
          <ac:chgData name="abhinav dhyani" userId="3767003ed00eb1cd" providerId="LiveId" clId="{B14164B4-9738-413A-A4C4-A107F7189E8C}" dt="2026-09-12T03:58:23.183" v="87" actId="14100"/>
          <ac:picMkLst>
            <pc:docMk/>
            <pc:sldMk cId="0" sldId="261"/>
            <ac:picMk id="11" creationId="{35C52EE4-737F-8F82-DF5E-D3282D12A411}"/>
          </ac:picMkLst>
        </pc:picChg>
        <pc:picChg chg="add mod">
          <ac:chgData name="abhinav dhyani" userId="3767003ed00eb1cd" providerId="LiveId" clId="{B14164B4-9738-413A-A4C4-A107F7189E8C}" dt="2026-09-12T03:58:40.993" v="95" actId="1076"/>
          <ac:picMkLst>
            <pc:docMk/>
            <pc:sldMk cId="0" sldId="261"/>
            <ac:picMk id="13" creationId="{DC04ADC7-198B-672E-C39A-EDB75111554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962210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30825" y="1595752"/>
            <a:ext cx="7114078" cy="7906007"/>
            <a:chOff x="0" y="0"/>
            <a:chExt cx="9485437" cy="105413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85437" cy="10541343"/>
            </a:xfrm>
            <a:custGeom>
              <a:avLst/>
              <a:gdLst/>
              <a:ahLst/>
              <a:cxnLst/>
              <a:rect l="l" t="t" r="r" b="b"/>
              <a:pathLst>
                <a:path w="9485437" h="10541343">
                  <a:moveTo>
                    <a:pt x="0" y="0"/>
                  </a:moveTo>
                  <a:lnTo>
                    <a:pt x="9485437" y="0"/>
                  </a:lnTo>
                  <a:lnTo>
                    <a:pt x="9485437" y="10541343"/>
                  </a:lnTo>
                  <a:lnTo>
                    <a:pt x="0" y="10541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2450007" y="1767512"/>
              <a:ext cx="6550829" cy="7006279"/>
              <a:chOff x="0" y="0"/>
              <a:chExt cx="6407023" cy="685247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407023" cy="6852412"/>
              </a:xfrm>
              <a:custGeom>
                <a:avLst/>
                <a:gdLst/>
                <a:ahLst/>
                <a:cxnLst/>
                <a:rect l="l" t="t" r="r" b="b"/>
                <a:pathLst>
                  <a:path w="6407023" h="6852412">
                    <a:moveTo>
                      <a:pt x="0" y="0"/>
                    </a:moveTo>
                    <a:lnTo>
                      <a:pt x="6407023" y="0"/>
                    </a:lnTo>
                    <a:lnTo>
                      <a:pt x="6407023" y="6852412"/>
                    </a:lnTo>
                    <a:lnTo>
                      <a:pt x="0" y="685241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r="-149475" b="-1"/>
                </a:stretch>
              </a:blipFill>
            </p:spPr>
            <p:txBody>
              <a:bodyPr/>
              <a:lstStyle/>
              <a:p>
                <a:endParaRPr lang="en-IN" dirty="0"/>
              </a:p>
            </p:txBody>
          </p:sp>
        </p:grpSp>
      </p:grpSp>
      <p:sp>
        <p:nvSpPr>
          <p:cNvPr id="6" name="TextBox 6"/>
          <p:cNvSpPr txBox="1"/>
          <p:nvPr/>
        </p:nvSpPr>
        <p:spPr>
          <a:xfrm>
            <a:off x="1959969" y="990067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 dirty="0"/>
          </a:p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96929" y="-804425"/>
            <a:ext cx="15636240" cy="3351829"/>
            <a:chOff x="0" y="-19050"/>
            <a:chExt cx="20848320" cy="4469105"/>
          </a:xfrm>
        </p:grpSpPr>
        <p:sp>
          <p:nvSpPr>
            <p:cNvPr id="8" name="Freeform 8"/>
            <p:cNvSpPr/>
            <p:nvPr/>
          </p:nvSpPr>
          <p:spPr>
            <a:xfrm>
              <a:off x="121920" y="297155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96929" y="2086413"/>
            <a:ext cx="12153193" cy="6664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88"/>
              </a:lnSpc>
            </a:pPr>
            <a:endParaRPr dirty="0"/>
          </a:p>
          <a:p>
            <a:pPr marL="651510" lvl="1" indent="-325755" algn="just">
              <a:lnSpc>
                <a:spcPts val="6588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-  </a:t>
            </a:r>
            <a:r>
              <a:rPr lang="en-US" sz="3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26181</a:t>
            </a:r>
          </a:p>
          <a:p>
            <a:pPr marL="651510" lvl="1" indent="-325755" algn="just">
              <a:lnSpc>
                <a:spcPts val="6588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sz="3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AI-Powered Personal Health Companion &amp; Edge Disaster Monitor</a:t>
            </a:r>
          </a:p>
          <a:p>
            <a:pPr marL="651510" lvl="1" indent="-325755" algn="just">
              <a:lnSpc>
                <a:spcPts val="6588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3600" dirty="0">
                <a:solidFill>
                  <a:srgbClr val="000000"/>
                </a:solidFill>
                <a:latin typeface="Arial"/>
                <a:ea typeface="Arial Bold"/>
                <a:cs typeface="Arial"/>
                <a:sym typeface="Arial"/>
              </a:rPr>
              <a:t>Med</a:t>
            </a:r>
            <a:r>
              <a:rPr lang="en-US" sz="3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Tech/</a:t>
            </a:r>
            <a:r>
              <a:rPr lang="en-US" sz="3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BioTech</a:t>
            </a:r>
            <a:endParaRPr lang="en-US" sz="3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51510" lvl="1" indent="-325755" algn="just">
              <a:lnSpc>
                <a:spcPts val="6588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3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</a:p>
          <a:p>
            <a:pPr marL="651510" lvl="1" indent="-325755" algn="just">
              <a:lnSpc>
                <a:spcPts val="6588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  <a:r>
              <a:rPr lang="en-US" sz="360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  <a:p>
            <a:pPr marL="651510" lvl="1" indent="-325755" algn="just">
              <a:lnSpc>
                <a:spcPts val="6588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</a:t>
            </a:r>
            <a:r>
              <a:rPr lang="en-US" sz="3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CHIPSTERS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1"/>
              </a:stretch>
            </a:blipFill>
          </p:spPr>
          <p:txBody>
            <a:bodyPr/>
            <a:lstStyle/>
            <a:p>
              <a:endParaRPr dirty="0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21898" y="231253"/>
            <a:ext cx="1785602" cy="1164159"/>
            <a:chOff x="0" y="0"/>
            <a:chExt cx="2554516" cy="1665468"/>
          </a:xfrm>
        </p:grpSpPr>
        <p:sp>
          <p:nvSpPr>
            <p:cNvPr id="42" name="Freeform 42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66675"/>
              <a:ext cx="2554516" cy="1732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59"/>
                </a:lnSpc>
                <a:spcBef>
                  <a:spcPct val="0"/>
                </a:spcBef>
              </a:pPr>
              <a:r>
                <a:rPr lang="en-US" sz="3299" b="1" u="none" strike="noStrike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Chipsters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019DF96-6730-F40F-D22F-5184BE361622}"/>
              </a:ext>
            </a:extLst>
          </p:cNvPr>
          <p:cNvSpPr txBox="1"/>
          <p:nvPr/>
        </p:nvSpPr>
        <p:spPr>
          <a:xfrm>
            <a:off x="3810000" y="359117"/>
            <a:ext cx="9533636" cy="879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IN" sz="5400" b="1" u="sng" dirty="0">
                <a:solidFill>
                  <a:srgbClr val="000000"/>
                </a:solidFill>
                <a:latin typeface="Times New Roman Bold"/>
                <a:cs typeface="Times New Roman Bold"/>
              </a:rPr>
              <a:t>PROBLEM AND SOLUTIONS</a:t>
            </a:r>
          </a:p>
        </p:txBody>
      </p:sp>
      <p:sp>
        <p:nvSpPr>
          <p:cNvPr id="17" name="Rounded Rectangle 5">
            <a:extLst>
              <a:ext uri="{FF2B5EF4-FFF2-40B4-BE49-F238E27FC236}">
                <a16:creationId xmlns:a16="http://schemas.microsoft.com/office/drawing/2014/main" id="{A8F70542-3290-C86B-4F0C-F8B556DA487B}"/>
              </a:ext>
            </a:extLst>
          </p:cNvPr>
          <p:cNvSpPr/>
          <p:nvPr/>
        </p:nvSpPr>
        <p:spPr>
          <a:xfrm>
            <a:off x="381000" y="1650076"/>
            <a:ext cx="8222898" cy="42642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6688C5-72AC-AA60-39E2-6D5D7B28B7FB}"/>
              </a:ext>
            </a:extLst>
          </p:cNvPr>
          <p:cNvSpPr/>
          <p:nvPr/>
        </p:nvSpPr>
        <p:spPr>
          <a:xfrm>
            <a:off x="381000" y="1648924"/>
            <a:ext cx="8222898" cy="63716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2400" dirty="0"/>
              <a:t>❌ The Problem: Why Current Tech Fails in Disasters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D28707-7495-D574-EB3F-A4D85C01727F}"/>
              </a:ext>
            </a:extLst>
          </p:cNvPr>
          <p:cNvSpPr txBox="1"/>
          <p:nvPr/>
        </p:nvSpPr>
        <p:spPr>
          <a:xfrm>
            <a:off x="563880" y="2289004"/>
            <a:ext cx="8040018" cy="353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</a:defRPr>
            </a:pPr>
            <a:r>
              <a:rPr sz="1850" dirty="0"/>
              <a:t>Wearables Are Environmentally Blind: </a:t>
            </a:r>
            <a:r>
              <a:rPr sz="1850" b="0" dirty="0">
                <a:solidFill>
                  <a:srgbClr val="64748B"/>
                </a:solidFill>
              </a:rPr>
              <a:t>Smartwatches only track fitness steps or resting pulse. They have zero awareness if ambient air is toxic (AQI 500+) or if 48°C heat is causing heat exhaustion.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</a:defRPr>
            </a:pPr>
            <a:r>
              <a:rPr sz="1850" dirty="0"/>
              <a:t>Environmental Sensors Ignore the Body: </a:t>
            </a:r>
            <a:r>
              <a:rPr sz="1850" b="0" dirty="0">
                <a:solidFill>
                  <a:srgbClr val="64748B"/>
                </a:solidFill>
              </a:rPr>
              <a:t>Weather apps report regional city forecasts, not what an individual worker's cardiovascular system is actually enduring at street level.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</a:defRPr>
            </a:pPr>
            <a:r>
              <a:rPr sz="1850" dirty="0"/>
              <a:t>Cloud Dependency Trap: </a:t>
            </a:r>
            <a:r>
              <a:rPr sz="1850" b="0" dirty="0">
                <a:solidFill>
                  <a:srgbClr val="64748B"/>
                </a:solidFill>
              </a:rPr>
              <a:t>Commercial AI health platforms require mobile networks. During severe storms, floods, or grid failures, cell towers collapse and cloud apps die completely.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</a:defRPr>
            </a:pPr>
            <a:r>
              <a:rPr sz="1850" dirty="0"/>
              <a:t>Software Jitter Destroys HRV: </a:t>
            </a:r>
            <a:r>
              <a:rPr sz="1850" b="0" dirty="0">
                <a:solidFill>
                  <a:srgbClr val="64748B"/>
                </a:solidFill>
              </a:rPr>
              <a:t>Operating system scheduling delays on standard CPUs jitter by 5-20 </a:t>
            </a:r>
            <a:r>
              <a:rPr sz="1850" b="0" dirty="0" err="1">
                <a:solidFill>
                  <a:srgbClr val="64748B"/>
                </a:solidFill>
              </a:rPr>
              <a:t>ms</a:t>
            </a:r>
            <a:r>
              <a:rPr sz="1850" b="0" dirty="0">
                <a:solidFill>
                  <a:srgbClr val="64748B"/>
                </a:solidFill>
              </a:rPr>
              <a:t>, severely distorting heart rate variability (HRV) metrics</a:t>
            </a:r>
            <a:r>
              <a:rPr sz="1600" b="0" dirty="0">
                <a:solidFill>
                  <a:srgbClr val="64748B"/>
                </a:solidFill>
              </a:rPr>
              <a:t>.</a:t>
            </a:r>
          </a:p>
        </p:txBody>
      </p:sp>
      <p:sp>
        <p:nvSpPr>
          <p:cNvPr id="4" name="Rounded Rectangle 8">
            <a:extLst>
              <a:ext uri="{FF2B5EF4-FFF2-40B4-BE49-F238E27FC236}">
                <a16:creationId xmlns:a16="http://schemas.microsoft.com/office/drawing/2014/main" id="{9EC3C07B-629E-6F2B-F616-DC940B9F4C0D}"/>
              </a:ext>
            </a:extLst>
          </p:cNvPr>
          <p:cNvSpPr/>
          <p:nvPr/>
        </p:nvSpPr>
        <p:spPr>
          <a:xfrm>
            <a:off x="381000" y="6309534"/>
            <a:ext cx="8222898" cy="359783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A8340D-FF41-29CE-2678-AA7EE19D1D9E}"/>
              </a:ext>
            </a:extLst>
          </p:cNvPr>
          <p:cNvSpPr/>
          <p:nvPr/>
        </p:nvSpPr>
        <p:spPr>
          <a:xfrm>
            <a:off x="381000" y="6309533"/>
            <a:ext cx="8222898" cy="690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2400" dirty="0"/>
              <a:t>✅ The Solution: </a:t>
            </a:r>
            <a:r>
              <a:rPr lang="en-IN" sz="2400" u="sng" dirty="0">
                <a:solidFill>
                  <a:schemeClr val="tx1"/>
                </a:solidFill>
                <a:highlight>
                  <a:srgbClr val="00FF00"/>
                </a:highlight>
              </a:rPr>
              <a:t>VALOR</a:t>
            </a:r>
            <a:r>
              <a:rPr lang="en-IN" sz="2400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IN" sz="2400" dirty="0"/>
              <a:t>A </a:t>
            </a:r>
            <a:r>
              <a:rPr sz="2400" dirty="0"/>
              <a:t>Heterogeneous Companion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AD9976-802E-AE8D-C153-C6F13BCA82D0}"/>
              </a:ext>
            </a:extLst>
          </p:cNvPr>
          <p:cNvSpPr txBox="1"/>
          <p:nvPr/>
        </p:nvSpPr>
        <p:spPr>
          <a:xfrm>
            <a:off x="521255" y="7029355"/>
            <a:ext cx="7783285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</a:defRPr>
            </a:pPr>
            <a:r>
              <a:rPr sz="1600" dirty="0"/>
              <a:t>Biometric &amp; Environmental Fusion: </a:t>
            </a:r>
            <a:r>
              <a:rPr sz="1600" b="0" dirty="0">
                <a:solidFill>
                  <a:srgbClr val="64748B"/>
                </a:solidFill>
              </a:rPr>
              <a:t>Simultaneously acquires dual-wavelength optical PPG pulses along with hyper-local ambient temperature, humidity, and laser PM2.5 particulate matter on the wrist.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</a:defRPr>
            </a:pPr>
            <a:r>
              <a:rPr sz="1600" dirty="0"/>
              <a:t>Cycle-Accurate FPGA Silicon: </a:t>
            </a:r>
            <a:r>
              <a:rPr sz="1600" b="0" dirty="0">
                <a:solidFill>
                  <a:srgbClr val="64748B"/>
                </a:solidFill>
              </a:rPr>
              <a:t>Custom Verilog 8-tap filter and peak-detector FSM runs on 50 MHz hardware with 20 ns resolution, completely bypassing OS scheduling jitter.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</a:defRPr>
            </a:pPr>
            <a:r>
              <a:rPr sz="1600" dirty="0"/>
              <a:t>Zero-Cloud On-Device </a:t>
            </a:r>
            <a:r>
              <a:rPr sz="1600" dirty="0" err="1"/>
              <a:t>TinyML</a:t>
            </a:r>
            <a:r>
              <a:rPr sz="1600" dirty="0"/>
              <a:t>: </a:t>
            </a:r>
            <a:r>
              <a:rPr sz="1600" b="0" dirty="0">
                <a:solidFill>
                  <a:srgbClr val="64748B"/>
                </a:solidFill>
              </a:rPr>
              <a:t>Deep neural network fits in only 619 bytes of INT8 weights, providing 100% offline continuous triage during infrastructure blackouts.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</a:defRPr>
            </a:pPr>
            <a:r>
              <a:rPr sz="1600" dirty="0"/>
              <a:t>Early Preventive Warnings: </a:t>
            </a:r>
            <a:r>
              <a:rPr sz="1600" b="0" dirty="0">
                <a:solidFill>
                  <a:srgbClr val="64748B"/>
                </a:solidFill>
              </a:rPr>
              <a:t>Predicts heat stroke collapse, acute pollution-induced vagal suppression, and cold-water immersion shock 15-20 minutes before medical emergencies.</a:t>
            </a:r>
          </a:p>
        </p:txBody>
      </p:sp>
      <p:pic>
        <p:nvPicPr>
          <p:cNvPr id="10" name="Continuation_of_a_rotating_D">
            <a:hlinkClick r:id="" action="ppaction://media"/>
            <a:extLst>
              <a:ext uri="{FF2B5EF4-FFF2-40B4-BE49-F238E27FC236}">
                <a16:creationId xmlns:a16="http://schemas.microsoft.com/office/drawing/2014/main" id="{D37AB41D-F115-E793-81F5-42535F39C5E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054040" y="3236454"/>
            <a:ext cx="9216375" cy="53557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1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33800" y="-58236"/>
            <a:ext cx="99060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u="sng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69523" y="326503"/>
            <a:ext cx="1785602" cy="1164159"/>
            <a:chOff x="0" y="0"/>
            <a:chExt cx="2554516" cy="1665468"/>
          </a:xfrm>
        </p:grpSpPr>
        <p:sp>
          <p:nvSpPr>
            <p:cNvPr id="6" name="Freeform 6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554516" cy="1732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59"/>
                </a:lnSpc>
                <a:spcBef>
                  <a:spcPct val="0"/>
                </a:spcBef>
              </a:pPr>
              <a:r>
                <a:rPr lang="en-US" sz="3299" b="1" u="none" strike="noStrike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Chipsters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53D7D03F-37A0-018C-88D6-B75A71FF53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103" y="1898389"/>
            <a:ext cx="14381794" cy="809406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D8F108C1-DF5C-07B1-0170-DDF181C9F984}"/>
              </a:ext>
            </a:extLst>
          </p:cNvPr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7C58487-54F9-7692-080E-BB2B7E6D84D2}"/>
                </a:ext>
              </a:extLst>
            </p:cNvPr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5">
            <a:extLst>
              <a:ext uri="{FF2B5EF4-FFF2-40B4-BE49-F238E27FC236}">
                <a16:creationId xmlns:a16="http://schemas.microsoft.com/office/drawing/2014/main" id="{548C84A8-3307-D9EB-AA5B-DE1588581465}"/>
              </a:ext>
            </a:extLst>
          </p:cNvPr>
          <p:cNvGrpSpPr/>
          <p:nvPr/>
        </p:nvGrpSpPr>
        <p:grpSpPr>
          <a:xfrm>
            <a:off x="269523" y="326503"/>
            <a:ext cx="1785602" cy="1164159"/>
            <a:chOff x="0" y="0"/>
            <a:chExt cx="2554516" cy="1665468"/>
          </a:xfrm>
        </p:grpSpPr>
        <p:sp>
          <p:nvSpPr>
            <p:cNvPr id="5" name="Freeform 6" descr="Your startup LOGO">
              <a:extLst>
                <a:ext uri="{FF2B5EF4-FFF2-40B4-BE49-F238E27FC236}">
                  <a16:creationId xmlns:a16="http://schemas.microsoft.com/office/drawing/2014/main" id="{34399849-E49B-37F5-FF6F-9E17AD1F67DD}"/>
                </a:ext>
              </a:extLst>
            </p:cNvPr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7E8B7C0B-D2BF-C5E4-480A-ACD94E70D8EE}"/>
                </a:ext>
              </a:extLst>
            </p:cNvPr>
            <p:cNvSpPr txBox="1"/>
            <p:nvPr/>
          </p:nvSpPr>
          <p:spPr>
            <a:xfrm>
              <a:off x="0" y="-66675"/>
              <a:ext cx="2554516" cy="1732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59"/>
                </a:lnSpc>
                <a:spcBef>
                  <a:spcPct val="0"/>
                </a:spcBef>
              </a:pPr>
              <a:r>
                <a:rPr lang="en-US" sz="3299" b="1" u="none" strike="noStrike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Chipsters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2E3A727-4D23-3270-244D-2FA37A1903F7}"/>
              </a:ext>
            </a:extLst>
          </p:cNvPr>
          <p:cNvSpPr txBox="1"/>
          <p:nvPr/>
        </p:nvSpPr>
        <p:spPr>
          <a:xfrm>
            <a:off x="4572000" y="279897"/>
            <a:ext cx="9144000" cy="1295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4000" b="1" u="sng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 (STAGE-2)</a:t>
            </a:r>
          </a:p>
          <a:p>
            <a:pPr algn="ctr">
              <a:lnSpc>
                <a:spcPct val="100000"/>
              </a:lnSpc>
            </a:pPr>
            <a:r>
              <a:rPr lang="en-IN" sz="2400" b="1" u="sng" dirty="0">
                <a:latin typeface="Bahnschrift" panose="020B0502040204020203" pitchFamily="34" charset="0"/>
              </a:rPr>
              <a:t>Hardware Synthesis &amp; Resource Utilization (Renesas ForgeFPGA)</a:t>
            </a:r>
            <a:endParaRPr lang="en-US" sz="2400" b="1" u="sng" dirty="0">
              <a:solidFill>
                <a:srgbClr val="000000"/>
              </a:solidFill>
              <a:latin typeface="Bahnschrift" panose="020B0502040204020203" pitchFamily="34" charset="0"/>
              <a:ea typeface="Times New Roman Bold"/>
              <a:cs typeface="Times New Roman Bold"/>
              <a:sym typeface="Times New Roman Bold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78C191-4EA9-A837-7CE7-671B7DD9F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1819589"/>
            <a:ext cx="8001000" cy="48599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97C083-D7D7-FBF3-10B4-0B34E52A1A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1338" y="1840247"/>
            <a:ext cx="10133040" cy="483927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7AEB30-F7D5-B33E-E04F-07B52D0A4C21}"/>
              </a:ext>
            </a:extLst>
          </p:cNvPr>
          <p:cNvSpPr txBox="1"/>
          <p:nvPr/>
        </p:nvSpPr>
        <p:spPr>
          <a:xfrm>
            <a:off x="748484" y="6723931"/>
            <a:ext cx="67689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Silicon Floorplan and Synthesis Map 0f Renesas </a:t>
            </a:r>
            <a:r>
              <a:rPr lang="en-IN" sz="2000" b="1" dirty="0" err="1"/>
              <a:t>forcefpga</a:t>
            </a:r>
            <a:r>
              <a:rPr lang="en-IN" sz="2000" b="1" dirty="0"/>
              <a:t> chip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22B38A-509D-B95E-318C-2EF88E7088BD}"/>
              </a:ext>
            </a:extLst>
          </p:cNvPr>
          <p:cNvSpPr txBox="1"/>
          <p:nvPr/>
        </p:nvSpPr>
        <p:spPr>
          <a:xfrm>
            <a:off x="12039600" y="6726862"/>
            <a:ext cx="47874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Waveform of our Project’s core Verilog files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D30ACB7-02AD-268C-C857-68843EF922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8008544"/>
            <a:ext cx="17678400" cy="127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764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9F454E-75E3-8931-573C-7622F6ADA2C6}"/>
              </a:ext>
            </a:extLst>
          </p:cNvPr>
          <p:cNvSpPr txBox="1"/>
          <p:nvPr/>
        </p:nvSpPr>
        <p:spPr>
          <a:xfrm>
            <a:off x="4419600" y="298938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SOFTWARE APPROACH (STAGE-3)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F8E0238-264C-97C7-9376-BDE4DB441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66700"/>
            <a:ext cx="1822862" cy="12010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FD8079E-1888-3142-691A-53E468934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2800" y="68563"/>
            <a:ext cx="3371380" cy="159729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4F1EBD7-A457-AE86-A567-61FBA275A2E0}"/>
              </a:ext>
            </a:extLst>
          </p:cNvPr>
          <p:cNvSpPr txBox="1"/>
          <p:nvPr/>
        </p:nvSpPr>
        <p:spPr>
          <a:xfrm>
            <a:off x="421002" y="605598"/>
            <a:ext cx="1782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CHIPSTERS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71FBB2B-EB08-1965-396C-160FEE52D7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81"/>
          <a:stretch>
            <a:fillRect/>
          </a:stretch>
        </p:blipFill>
        <p:spPr>
          <a:xfrm>
            <a:off x="1028700" y="2595245"/>
            <a:ext cx="15925800" cy="762026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D13748A-E016-9B2B-D24F-4444EE33C0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1633615"/>
            <a:ext cx="6858000" cy="88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802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399" y="-54629"/>
            <a:ext cx="16459201" cy="1802317"/>
            <a:chOff x="-1" y="-288940"/>
            <a:chExt cx="21945601" cy="2403089"/>
          </a:xfrm>
        </p:grpSpPr>
        <p:sp>
          <p:nvSpPr>
            <p:cNvPr id="3" name="Freeform 3"/>
            <p:cNvSpPr/>
            <p:nvPr/>
          </p:nvSpPr>
          <p:spPr>
            <a:xfrm>
              <a:off x="0" y="-171851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1" y="-288940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u="sng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21898" y="231253"/>
            <a:ext cx="1785602" cy="1164159"/>
            <a:chOff x="0" y="0"/>
            <a:chExt cx="2554516" cy="1665468"/>
          </a:xfrm>
        </p:grpSpPr>
        <p:sp>
          <p:nvSpPr>
            <p:cNvPr id="13" name="Freeform 13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2554516" cy="1732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59"/>
                </a:lnSpc>
                <a:spcBef>
                  <a:spcPct val="0"/>
                </a:spcBef>
              </a:pPr>
              <a:r>
                <a:rPr lang="en-US" sz="3299" b="1" u="none" strike="noStrike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Chipsters</a:t>
              </a: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D0F914A6-BF62-4081-74C6-C1B46E5853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3" t="14803" r="5102" b="10527"/>
          <a:stretch>
            <a:fillRect/>
          </a:stretch>
        </p:blipFill>
        <p:spPr>
          <a:xfrm>
            <a:off x="363107" y="1816886"/>
            <a:ext cx="17561785" cy="823886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D267E8D-8A9C-6459-9F76-A32385B426B4}"/>
              </a:ext>
            </a:extLst>
          </p:cNvPr>
          <p:cNvSpPr/>
          <p:nvPr/>
        </p:nvSpPr>
        <p:spPr>
          <a:xfrm>
            <a:off x="838201" y="4914900"/>
            <a:ext cx="64770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-298850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u="sng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944069" y="-70290"/>
            <a:ext cx="3160671" cy="1427690"/>
            <a:chOff x="0" y="0"/>
            <a:chExt cx="4499699" cy="21246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 dirty="0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21898" y="231253"/>
            <a:ext cx="1785602" cy="1164159"/>
            <a:chOff x="0" y="0"/>
            <a:chExt cx="2554516" cy="1665468"/>
          </a:xfrm>
        </p:grpSpPr>
        <p:sp>
          <p:nvSpPr>
            <p:cNvPr id="26" name="Freeform 26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66675"/>
              <a:ext cx="2554516" cy="1732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59"/>
                </a:lnSpc>
                <a:spcBef>
                  <a:spcPct val="0"/>
                </a:spcBef>
              </a:pPr>
              <a:r>
                <a:rPr lang="en-US" sz="3299" b="1" u="none" strike="noStrike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Chipsters</a:t>
              </a: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2934EE74-DCC0-59D2-DEB8-3AD1CBE6C1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90" y="2324100"/>
            <a:ext cx="9766094" cy="6553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689714D-BC2F-1B89-9BE8-E11942B5DC9D}"/>
              </a:ext>
            </a:extLst>
          </p:cNvPr>
          <p:cNvSpPr txBox="1"/>
          <p:nvPr/>
        </p:nvSpPr>
        <p:spPr>
          <a:xfrm>
            <a:off x="10422988" y="2705100"/>
            <a:ext cx="6798212" cy="5468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</a:defRPr>
            </a:pPr>
            <a:r>
              <a:rPr sz="2400" dirty="0"/>
              <a:t>☀️ Severe North India Heatwaves (May-June): </a:t>
            </a:r>
            <a:r>
              <a:rPr sz="2400" b="0" dirty="0">
                <a:solidFill>
                  <a:srgbClr val="64748B"/>
                </a:solidFill>
              </a:rPr>
              <a:t>Protects 380+ million construction laborers, agricultural workers, and delivery personnel from fatal heat exhaustion by issuing warnings 15-20 minutes before collapse.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</a:defRPr>
            </a:pPr>
            <a:r>
              <a:rPr sz="2400" dirty="0"/>
              <a:t>🌫️ Winter Toxic Smog in Indo-Gangetic Plains: </a:t>
            </a:r>
            <a:r>
              <a:rPr sz="2400" b="0" dirty="0">
                <a:solidFill>
                  <a:srgbClr val="64748B"/>
                </a:solidFill>
              </a:rPr>
              <a:t>Warns traffic police, elderly individuals, and asthmatic patients when hyper-local PM2.5 triggers dangerous autonomic cardiac vagal suppression.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</a:defRPr>
            </a:pPr>
            <a:r>
              <a:rPr sz="2400" dirty="0"/>
              <a:t>🌊 Monsoon Flash Floods (Mumbai / Assam): </a:t>
            </a:r>
            <a:r>
              <a:rPr sz="2400" b="0" dirty="0">
                <a:solidFill>
                  <a:srgbClr val="64748B"/>
                </a:solidFill>
              </a:rPr>
              <a:t>Detects cold-water immersion, hyperventilation, and bradycardia when citizens or rescue teams are stranded during electric grid and mobile network blackouts.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" y="-77937"/>
            <a:ext cx="16764000" cy="1921025"/>
            <a:chOff x="-406400" y="-275367"/>
            <a:chExt cx="22352000" cy="25613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406400" y="-275367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u="sng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21898" y="231253"/>
            <a:ext cx="1785602" cy="1164159"/>
            <a:chOff x="0" y="0"/>
            <a:chExt cx="2554516" cy="1665468"/>
          </a:xfrm>
        </p:grpSpPr>
        <p:sp>
          <p:nvSpPr>
            <p:cNvPr id="8" name="Freeform 8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2554516" cy="1732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59"/>
                </a:lnSpc>
                <a:spcBef>
                  <a:spcPct val="0"/>
                </a:spcBef>
              </a:pPr>
              <a:r>
                <a:rPr lang="en-US" sz="3299" b="1" u="none" strike="noStrike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Chipsters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35C52EE4-737F-8F82-DF5E-D3282D12A4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314" y="2400300"/>
            <a:ext cx="8572786" cy="6096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04ADC7-198B-672E-C39A-EDB7511155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1615" y="2527788"/>
            <a:ext cx="9609726" cy="58410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1315</TotalTime>
  <Words>450</Words>
  <Application>Microsoft Office PowerPoint</Application>
  <PresentationFormat>Custom</PresentationFormat>
  <Paragraphs>58</Paragraphs>
  <Slides>8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Times New Roman Bold</vt:lpstr>
      <vt:lpstr>Arial</vt:lpstr>
      <vt:lpstr>Garamond Bold</vt:lpstr>
      <vt:lpstr>Arial Bold</vt:lpstr>
      <vt:lpstr>Calibri</vt:lpstr>
      <vt:lpstr>Calibri (MS) Bold</vt:lpstr>
      <vt:lpstr>Arimo Bold</vt:lpstr>
      <vt:lpstr>Wingdings</vt:lpstr>
      <vt:lpstr>Bahnschrift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SIH2026-IDEA-Presentation-Format.pptx</dc:title>
  <dc:creator>abhinav dhyani</dc:creator>
  <cp:lastModifiedBy>abhinav dhyani</cp:lastModifiedBy>
  <cp:revision>17</cp:revision>
  <dcterms:created xsi:type="dcterms:W3CDTF">2006-08-16T00:00:00Z</dcterms:created>
  <dcterms:modified xsi:type="dcterms:W3CDTF">2026-09-12T03:58:45Z</dcterms:modified>
  <dc:identifier>DAHTqVuH7lQ</dc:identifier>
</cp:coreProperties>
</file>