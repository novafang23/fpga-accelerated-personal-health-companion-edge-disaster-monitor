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ID - </a:t>
            </a:r>
            <a:r>
              <a:rPr b="0">
                <a:solidFill>
                  <a:srgbClr val="1E293B"/>
                </a:solidFill>
              </a:rPr>
              <a:t>26181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Title - </a:t>
            </a:r>
            <a:r>
              <a:rPr b="0">
                <a:solidFill>
                  <a:srgbClr val="1E293B"/>
                </a:solidFill>
              </a:rPr>
              <a:t>AI-Powered Personal Health Companion &amp; Edge Disaster Monitor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Theme - </a:t>
            </a:r>
            <a:r>
              <a:rPr b="0">
                <a:solidFill>
                  <a:srgbClr val="1E293B"/>
                </a:solidFill>
              </a:rPr>
              <a:t>MedTech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PS Category - </a:t>
            </a:r>
            <a:r>
              <a:rPr b="0">
                <a:solidFill>
                  <a:srgbClr val="1E293B"/>
                </a:solidFill>
              </a:rPr>
              <a:t>Hardware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ID - </a:t>
            </a:r>
            <a:r>
              <a:rPr b="0">
                <a:solidFill>
                  <a:srgbClr val="1E293B"/>
                </a:solidFill>
              </a:rPr>
              <a:t>01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 - </a:t>
            </a:r>
            <a:r>
              <a:rPr b="0">
                <a:solidFill>
                  <a:srgbClr val="1E293B"/>
                </a:solidFill>
              </a:rPr>
              <a:t>CHIPSTERS</a:t>
            </a:r>
          </a:p>
        </p:txBody>
      </p:sp>
      <p:pic>
        <p:nvPicPr>
          <p:cNvPr id="6" name="Picture 5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9319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943600"/>
            <a:ext cx="6583680" cy="548640"/>
          </a:xfrm>
          <a:prstGeom prst="roundRect">
            <a:avLst/>
          </a:prstGeom>
          <a:solidFill>
            <a:srgbClr val="EEF2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⚡ 20 ns FPGA Timing  |  🧠 91% INT8 TinyML  |  🏥 92% MIMIC-III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62A4"/>
                </a:solidFill>
                <a:latin typeface="Arial"/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516636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❌ How Current Technology Fails During Disasters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Wearables Are Environmentally Blind: </a:t>
            </a:r>
            <a:r>
              <a:rPr b="0">
                <a:solidFill>
                  <a:srgbClr val="475569"/>
                </a:solidFill>
              </a:rPr>
              <a:t>Commercial smartwatches track fitness steps and resting heart rate, but have zero awareness if ambient air is toxic (AQI 500+) or if 48°C heat is causing heat exhaustion.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Sensors Ignore the Body: </a:t>
            </a:r>
            <a:r>
              <a:rPr b="0">
                <a:solidFill>
                  <a:srgbClr val="475569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The Cloud Dependency Trap: </a:t>
            </a:r>
            <a:r>
              <a:rPr b="0">
                <a:solidFill>
                  <a:srgbClr val="475569"/>
                </a:solidFill>
              </a:rPr>
              <a:t>Cloud AI health platforms require mobile networks. During floods, cyclones, or power grid failures, cellular towers collapse and cloud health apps die completely.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Software Jitter Destroys HRV: </a:t>
            </a:r>
            <a:r>
              <a:rPr b="0">
                <a:solidFill>
                  <a:srgbClr val="475569"/>
                </a:solidFill>
              </a:rPr>
              <a:t>Operating system scheduling delays on standard CPUs jitter by 5-20 ms, severely corrupting heart rate variability (HRV)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✅ EdgeGuard Proposed Solution &amp;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Detailed Solution Explanation: </a:t>
            </a:r>
            <a:r>
              <a:rPr b="0">
                <a:solidFill>
                  <a:srgbClr val="475569"/>
                </a:solidFill>
              </a:rPr>
              <a:t>Simultaneously acquires dual-wavelength optical PPG pulses along with hyper-local ambient temperature, relative humidity, and laser PM2.5 particulate matter on the wrist.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How It Addresses the Problem: </a:t>
            </a:r>
            <a:r>
              <a:rPr b="0">
                <a:solidFill>
                  <a:srgbClr val="475569"/>
                </a:solidFill>
              </a:rPr>
              <a:t>Fuses bodily vitals with environmental stress in real time to calculate cardiac drift and respiratory strain, alerting workers 15-20 minutes before medical collapse.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Innovation (FPGA Silicon): </a:t>
            </a:r>
            <a:r>
              <a:rPr b="0">
                <a:solidFill>
                  <a:srgbClr val="475569"/>
                </a:solidFill>
              </a:rPr>
              <a:t>Custom Verilog 8-tap filter runs on 50 MHz hardware with 20 ns cycle resolution, completely eliminating operating system jitter without DSP multipliers or BRAM.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Uniqueness &amp; Zero Cloud Dependency: </a:t>
            </a:r>
            <a:r>
              <a:rPr b="0">
                <a:solidFill>
                  <a:srgbClr val="475569"/>
                </a:solidFill>
              </a:rPr>
              <a:t>Quantized INT8 neural network fits into only 619 bytes SRAM and evaluates risks in 42 µs, providing 100% offline protection during infrastructure blackouts.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1069848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62A4"/>
                </a:solidFill>
                <a:latin typeface="Arial"/>
              </a:defRPr>
            </a:pPr>
            <a:r>
              <a:t>💡 Layman Core: An offline medical guardian that connects what's happening outside (disaster) with what's happening inside (your heart) — saving lives before emergency collapse.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62A4"/>
                </a:solidFill>
                <a:latin typeface="Arial"/>
              </a:defRPr>
            </a:pPr>
            <a:r>
              <a:t>❖ Technologies Used &amp; Implementation Methodology (4-Stage Autonomous Dataflow)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5146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01: Sensing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Physical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MAX30102 PPG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Dual Red &amp; IR optical pulse oximeter for arterial blood flow &amp; SpO2.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BME280 Climate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Ambient temperature &amp; relative humidity for Steadman Heat Index.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PMSA003 PM2.5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Laser scattering sensor measuring hazardous fine particulate smog.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508760"/>
            <a:ext cx="251460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02: FPGA RTL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Dual 8-Tap Filter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O(1) running-sum noise filter with bit-shift (&gt;&gt; 3). 0 DSP, 0 BRAM.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Systolic Peak FSM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4-state finite state machine with 250 ms refractory lock-out window.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20 ns Cycle Timer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Continuous 50 MHz cycle counter latching IBI with zero software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08760"/>
            <a:ext cx="25146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03: Clinical AI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On-Device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mNEWS2 Engine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Royal College of Physicians clinical early warning triage protocol.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Karlen/Elgendi SQI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Signal Quality Index rejecting motion noise and false beats.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6→24→16→3 Model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INT8 deep micro-network running in 42 µs (91.00% validation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3688" y="1508760"/>
            <a:ext cx="25146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04: Edge Action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Alerts &amp;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Local OLED Display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128x64 display of live HR, SpO2, RR, and multi-hazard risk tiers.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Haptic Alarm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Vibration motor &amp; emergency buzzer for immediate worker evacuation.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WiFi / MQTT Mesh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Optional emergency beacon broadcasting vitals to disaster rescue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veform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92040"/>
            <a:ext cx="3931920" cy="1325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6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Verified Cycle-Accurate Timing: </a:t>
            </a:r>
            <a:r>
              <a:rPr b="0">
                <a:solidFill>
                  <a:srgbClr val="475569"/>
                </a:solidFill>
              </a:rPr>
              <a:t>GTKWave trace proves O(1) noise filter convergence and systolic peak latching with 20 ns resolution.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Zero OS Scheduling Jitter: </a:t>
            </a:r>
            <a:r>
              <a:rPr b="0">
                <a:solidFill>
                  <a:srgbClr val="475569"/>
                </a:solidFill>
              </a:rPr>
              <a:t>Unlike software CPUs with 5-20 ms latency, the 50 MHz FPGA timer gives 100% medically reliable Heart Rate Variability (HRV).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Technologies: </a:t>
            </a:r>
            <a:r>
              <a:rPr b="0">
                <a:solidFill>
                  <a:srgbClr val="475569"/>
                </a:solidFill>
              </a:rPr>
              <a:t>Synthesizable Verilog-2001 (Renesas ForgeFPGA + Xilinx Zynq-7000), C99 bare-metal / FreeRTOS, INT8 TinyML, Win32 GDI GUI.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📊 Feasibility Analysis: Hardware, Silicon &amp;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Vendor-Agnostic Verilog RTL: </a:t>
            </a:r>
            <a:r>
              <a:rPr b="0">
                <a:solidFill>
                  <a:srgbClr val="475569"/>
                </a:solidFill>
              </a:rPr>
              <a:t>Identical synthesizable core Verilog runs on both AMD Xilinx (6-input LUT) and Renesas ForgeFPGA (5-input LUT) architectures without redesign.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Ultra-Low Silicon Footprint: </a:t>
            </a:r>
            <a:r>
              <a:rPr b="0">
                <a:solidFill>
                  <a:srgbClr val="475569"/>
                </a:solidFill>
              </a:rPr>
              <a:t>Synthesized on Renesas ForgeFPGA requiring only 195 / 1120 LUT5s (17.4% logic utilization) with 0 DSP multipliers and 0 Block 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Static Timing Closure (+5.603 ns WNS): </a:t>
            </a:r>
            <a:r>
              <a:rPr b="0">
                <a:solidFill>
                  <a:srgbClr val="475569"/>
                </a:solidFill>
              </a:rPr>
              <a:t>Proven static timing slack closure in AMD Xilinx Vivado ML (+5.603 ns setup slack, operating safely at 69.45 MHz on a 50 MHz target clock).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Economic Viability &amp; Bulk BOM: </a:t>
            </a:r>
            <a:r>
              <a:rPr b="0">
                <a:solidFill>
                  <a:srgbClr val="475569"/>
                </a:solidFill>
              </a:rPr>
              <a:t>• Renesas ForgeFPGA ($1.80) + ESP32-S3 ($2.20)
• Optical PPG + Climate + Laser PM2.5 ($5.80)
• OLED, Battery &amp; 3D Enclosure ($4.20)
=&gt; Total Mass-Production BOM: Under $15 (~₹1,250)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🛡️ Potential Challenges, Risks &amp; Mitigation Strategies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1: Motion &amp; Optical Noise: </a:t>
            </a:r>
            <a:r>
              <a:rPr b="0">
                <a:solidFill>
                  <a:srgbClr val="475569"/>
                </a:solidFill>
              </a:rPr>
              <a:t>Mitigation -&gt; Dual 8-tap running-sum digital filter on FPGA plus Karlen/Elgendi Signal Quality Index (SQI) algorithm automatically discards corrupted beats.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2: Micro-FPGA Resource Limits: </a:t>
            </a:r>
            <a:r>
              <a:rPr b="0">
                <a:solidFill>
                  <a:srgbClr val="475569"/>
                </a:solidFill>
              </a:rPr>
              <a:t>Mitigation -&gt; Pure logic O(1) bit-shift division (&gt;&gt; 3) requires 0 DSP48 multipliers and 0 Block RAM, running on the lowest-cost micro-FPGAs.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3: Grid &amp; Cellular Tower Outages: </a:t>
            </a:r>
            <a:r>
              <a:rPr b="0">
                <a:solidFill>
                  <a:srgbClr val="475569"/>
                </a:solidFill>
              </a:rPr>
              <a:t>Mitigation -&gt; 100% on-device offline TinyML running in 619 bytes SRAM. Operates autonomously during catastrophic floods and storms without internet.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4: Clinical Real-World Accuracy: </a:t>
            </a:r>
            <a:r>
              <a:rPr b="0">
                <a:solidFill>
                  <a:srgbClr val="475569"/>
                </a:solidFill>
              </a:rPr>
              <a:t>Mitigation -&gt; Benchmarked against 16,387 gold-standard patient records from the MIT MIMIC-III ICU database (achieving 92.05% clinical concordance).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Commercial Roadmap Target: </a:t>
            </a:r>
            <a:r>
              <a:rPr b="0">
                <a:solidFill>
                  <a:srgbClr val="475569"/>
                </a:solidFill>
              </a:rPr>
              <a:t>Direct migration path mapped to Qualcomm Snapdragon Wear W5+ Gen 1 Low-Power Island (&lt;5 mW continuous power).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🇮🇳 Potential Impact on Target Audience (India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☀️ 380+ Million Outdoor Laborers: </a:t>
            </a:r>
            <a:r>
              <a:rPr b="0">
                <a:solidFill>
                  <a:srgbClr val="475569"/>
                </a:solidFill>
              </a:rPr>
              <a:t>Protects construction workers, agricultural laborers, and delivery partners during 48°C heatwaves in Rajasthan, UP, and central India by warning 15-20 minutes before heat exhaustion collapse.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🌫️ Vulnerable Urban Populations (Delhi NCR): </a:t>
            </a:r>
            <a:r>
              <a:rPr b="0">
                <a:solidFill>
                  <a:srgbClr val="475569"/>
                </a:solidFill>
              </a:rPr>
              <a:t>Warns traffic police, elderly individuals, and asthmatic patients when micro-pocket PM2.5 exceeds safe autonomic cardiac thresholds during severe winter smog events.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🌊 Monsoon Flood Victims &amp; First Responders: </a:t>
            </a:r>
            <a:r>
              <a:rPr b="0">
                <a:solidFill>
                  <a:srgbClr val="475569"/>
                </a:solidFill>
              </a:rPr>
              <a:t>Detects cold-water immersion hyperventilation and hypothermia during power grid and mobile network blackouts in flood-hit urban zones (Mumbai, Chennai, Assam).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🏥 Low-Income Accessibility: </a:t>
            </a:r>
            <a:r>
              <a:rPr b="0">
                <a:solidFill>
                  <a:srgbClr val="475569"/>
                </a:solidFill>
              </a:rPr>
              <a:t>Brings high-grade clinical early warning monitoring to vulnerable daily-wage workers who cannot afford premium $400 consumer smartwatches.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🌱 Benefits: Social, Economic &amp; Environmental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Social Benefits: </a:t>
            </a:r>
            <a:r>
              <a:rPr b="0">
                <a:solidFill>
                  <a:srgbClr val="475569"/>
                </a:solidFill>
              </a:rPr>
              <a:t>• Zero-cloud biometric privacy (health data stays on the user's wrist).
• Functions autonomously during disaster grid blackouts.
• Prevents emergency hospitalizations and permanent organ damage.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Economic Benefits: </a:t>
            </a:r>
            <a:r>
              <a:rPr b="0">
                <a:solidFill>
                  <a:srgbClr val="475569"/>
                </a:solidFill>
              </a:rPr>
              <a:t>• Sub-$15 bill of materials enables mass deployment by municipal bodies, police departments, and construction enterprises.
• Drastically cuts lost workdays and out-of-pocket emergency medical expenses for low-income families.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&amp; Public Health Benefits: </a:t>
            </a:r>
            <a:r>
              <a:rPr b="0">
                <a:solidFill>
                  <a:srgbClr val="475569"/>
                </a:solidFill>
              </a:rPr>
              <a:t>• Delivers hyper-local microclimate and air quality monitoring to guide targeted municipal disaster response and evacuation.
• Ultra-low-power &lt;5 mW micro-FPGA architecture extends battery longevity and minimizes electronic waste.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📚 Clinical &amp; Scientific Foundations (Peer-Reviewed)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Royal College of Physicians (UK): </a:t>
            </a:r>
            <a:r>
              <a:rPr b="0">
                <a:solidFill>
                  <a:srgbClr val="475569"/>
                </a:solidFill>
              </a:rPr>
              <a:t>National Early Warning Score (mNEWS2): Standardising the assessment of acute-illness severity in the NHS (respiratory, pulse &amp; SpO2 triage).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Prof. Daniel S. Moran (1998): </a:t>
            </a:r>
            <a:r>
              <a:rPr b="0">
                <a:solidFill>
                  <a:srgbClr val="475569"/>
                </a:solidFill>
              </a:rPr>
              <a:t>'An Evaluated Physiological Strain Index in Human Heat Stress', American Journal of Physiology (Heart Rate + Core Temperature cardio-thermal formula).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Prof. Robert D. Brook / AHA (2010): </a:t>
            </a:r>
            <a:r>
              <a:rPr b="0">
                <a:solidFill>
                  <a:srgbClr val="475569"/>
                </a:solidFill>
              </a:rPr>
              <a:t>'Particulate Matter Air Pollution and Cardiovascular Disease', Circulation (Scientific statement on PM2.5 autonomic vagal suppression).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R. G. Steadman (1979): </a:t>
            </a:r>
            <a:r>
              <a:rPr b="0">
                <a:solidFill>
                  <a:srgbClr val="475569"/>
                </a:solidFill>
              </a:rPr>
              <a:t>'The Assessment of Sultriness: Part I &amp; II', Journal of Applied Meteorology (Biometeorological formulation of the Steadman Heat Index).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Karlen et al. (2012) &amp; Elgendi (2016): </a:t>
            </a:r>
            <a:r>
              <a:rPr b="0">
                <a:solidFill>
                  <a:srgbClr val="475569"/>
                </a:solidFill>
              </a:rPr>
              <a:t>'Photoplethysmogram Signal Quality Estimation for Pulse Oximetry' (Automated SQI classification of optical pulse morphology).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🔬 Datasets, Standards &amp; Commercial Deployment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MIT / PhysioNet MIMIC-III Database: </a:t>
            </a:r>
            <a:r>
              <a:rPr b="0">
                <a:solidFill>
                  <a:srgbClr val="475569"/>
                </a:solidFill>
              </a:rPr>
              <a:t>Medical Information Mart for Intensive Care v1.4: 16,387 gold-standard arterial hemodynamic records evaluated with 92.05% clinical concordance.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World Health Organization (WHO 2021): </a:t>
            </a:r>
            <a:r>
              <a:rPr b="0">
                <a:solidFill>
                  <a:srgbClr val="475569"/>
                </a:solidFill>
              </a:rPr>
              <a:t>WHO Global Air Quality Guidelines: Particulate matter (PM2.5) 24-hour and annual hazard threshold standards.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ARM AMBA AXI4-Lite Specification: </a:t>
            </a:r>
            <a:r>
              <a:rPr b="0">
                <a:solidFill>
                  <a:srgbClr val="475569"/>
                </a:solidFill>
              </a:rPr>
              <a:t>ARM IHI0022E: Interconnect standard for decoupled AW/W register channels and Write-1-to-Clear (W1C) interrupt status handling.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Qualcomm Snapdragon Wear Roadmap: </a:t>
            </a:r>
            <a:r>
              <a:rPr b="0">
                <a:solidFill>
                  <a:srgbClr val="475569"/>
                </a:solidFill>
              </a:rPr>
              <a:t>Architecture designed for migration to Snapdragon Wear W5+ Gen 1, mapping Verilog DSP to Hexagon™ Vector eXtensions (HVX) on the &lt;5 mW Low-Power Island.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EDA &amp; Synthesis Verification Tools: </a:t>
            </a:r>
            <a:r>
              <a:rPr b="0">
                <a:solidFill>
                  <a:srgbClr val="475569"/>
                </a:solidFill>
              </a:rPr>
              <a:t>AMD Xilinx Vivado ML v2022.2 (Timing Closure), Renesas ForgeFPGA Workshop, Icarus Verilog, GTKWave, GCC, ESP-IDF v5.x (FreeRTOS).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