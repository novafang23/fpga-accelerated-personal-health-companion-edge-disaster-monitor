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0020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92024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ID - </a:t>
            </a:r>
            <a:r>
              <a:rPr b="0">
                <a:solidFill>
                  <a:srgbClr val="1E293B"/>
                </a:solidFill>
              </a:rPr>
              <a:t>26181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Title - </a:t>
            </a:r>
            <a:r>
              <a:rPr b="0">
                <a:solidFill>
                  <a:srgbClr val="1E293B"/>
                </a:solidFill>
              </a:rPr>
              <a:t>AI-Powered Personal Health Companion &amp; Edge Disaster Monitor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Theme - </a:t>
            </a:r>
            <a:r>
              <a:rPr b="0">
                <a:solidFill>
                  <a:srgbClr val="1E293B"/>
                </a:solidFill>
              </a:rPr>
              <a:t>MedTech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PS Category - </a:t>
            </a:r>
            <a:r>
              <a:rPr b="0">
                <a:solidFill>
                  <a:srgbClr val="1E293B"/>
                </a:solidFill>
              </a:rPr>
              <a:t>Hardware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ID - </a:t>
            </a:r>
            <a:r>
              <a:rPr b="0">
                <a:solidFill>
                  <a:srgbClr val="1E293B"/>
                </a:solidFill>
              </a:rPr>
              <a:t>01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Name (Registered on portal) - </a:t>
            </a:r>
            <a:r>
              <a:rPr b="0">
                <a:solidFill>
                  <a:srgbClr val="1E293B"/>
                </a:solidFill>
              </a:rPr>
              <a:t>CHIPSTERS</a:t>
            </a:r>
          </a:p>
        </p:txBody>
      </p:sp>
      <p:pic>
        <p:nvPicPr>
          <p:cNvPr id="6" name="Picture 5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645920"/>
            <a:ext cx="393192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943600"/>
            <a:ext cx="6583680" cy="548640"/>
          </a:xfrm>
          <a:prstGeom prst="roundRect">
            <a:avLst/>
          </a:prstGeom>
          <a:solidFill>
            <a:srgbClr val="EEF2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⚡ 20 ns FPGA Timing  |  🧠 91% INT8 TinyML  |  🏥 92% MIMIC-III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IDEA TITLE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62A4"/>
                </a:solidFill>
                <a:latin typeface="Arial"/>
              </a:defRPr>
            </a:pPr>
            <a:r>
              <a:t>❖ Proposed Solution (Describe your Idea/Solution/Prototype)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516636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❌ How Current Technology Fails During Disasters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Wearables Are Environmentally Blind: </a:t>
            </a:r>
            <a:r>
              <a:rPr b="0">
                <a:solidFill>
                  <a:srgbClr val="475569"/>
                </a:solidFill>
              </a:rPr>
              <a:t>Commercial smartwatches track fitness steps and resting heart rate, but have zero awareness if ambient air is toxic (AQI 500+) or if 48°C heat is causing heat exhaustion.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Environmental Sensors Ignore the Body: </a:t>
            </a:r>
            <a:r>
              <a:rPr b="0">
                <a:solidFill>
                  <a:srgbClr val="475569"/>
                </a:solidFill>
              </a:rPr>
              <a:t>Weather apps report regional city forecasts, not what an individual worker's cardiovascular system is actually enduring at street level.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The Cloud Dependency Trap: </a:t>
            </a:r>
            <a:r>
              <a:rPr b="0">
                <a:solidFill>
                  <a:srgbClr val="475569"/>
                </a:solidFill>
              </a:rPr>
              <a:t>Cloud AI health platforms require mobile networks. During floods, cyclones, or power grid failures, cellular towers collapse and cloud health apps die completely.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Software Jitter Destroys HRV: </a:t>
            </a:r>
            <a:r>
              <a:rPr b="0">
                <a:solidFill>
                  <a:srgbClr val="475569"/>
                </a:solidFill>
              </a:rPr>
              <a:t>Operating system scheduling delays on standard CPUs jitter by 5-20 ms, severely corrupting heart rate variability (HRV)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16636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✅ EdgeGuard Proposed Solution &amp; Innovation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Detailed Solution Explanation: </a:t>
            </a:r>
            <a:r>
              <a:rPr b="0">
                <a:solidFill>
                  <a:srgbClr val="475569"/>
                </a:solidFill>
              </a:rPr>
              <a:t>Simultaneously acquires dual-wavelength optical PPG pulses along with hyper-local ambient temperature, relative humidity, and laser PM2.5 particulate matter on the wrist.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How It Addresses the Problem: </a:t>
            </a:r>
            <a:r>
              <a:rPr b="0">
                <a:solidFill>
                  <a:srgbClr val="475569"/>
                </a:solidFill>
              </a:rPr>
              <a:t>Fuses bodily vitals with environmental stress in real time to calculate cardiac drift and respiratory strain, alerting workers 15-20 minutes before medical collapse.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Innovation (FPGA Silicon): </a:t>
            </a:r>
            <a:r>
              <a:rPr b="0">
                <a:solidFill>
                  <a:srgbClr val="475569"/>
                </a:solidFill>
              </a:rPr>
              <a:t>Custom Verilog 8-tap filter runs on 50 MHz hardware with 20 ns cycle resolution, completely eliminating operating system jitter without DSP multipliers or BRAM.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Uniqueness &amp; Zero Cloud Dependency: </a:t>
            </a:r>
            <a:r>
              <a:rPr b="0">
                <a:solidFill>
                  <a:srgbClr val="475569"/>
                </a:solidFill>
              </a:rPr>
              <a:t>Quantized INT8 neural network fits into only 619 bytes SRAM and evaluates risks in 42 µs, providing 100% offline protection during infrastructure blackouts.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715000"/>
            <a:ext cx="10698480" cy="594360"/>
          </a:xfrm>
          <a:prstGeom prst="roundRect">
            <a:avLst/>
          </a:prstGeom>
          <a:solidFill>
            <a:srgbClr val="F0F9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B62A4"/>
                </a:solidFill>
                <a:latin typeface="Arial"/>
              </a:defRPr>
            </a:pPr>
            <a:r>
              <a:t>💡 Layman Core: An offline medical guardian that connects what's happening outside (disaster) with what's happening inside (your heart) — saving lives before emergency collapse.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62A4"/>
                </a:solidFill>
                <a:latin typeface="Arial"/>
              </a:defRPr>
            </a:pPr>
            <a:r>
              <a:t>❖ Technologies Used &amp; Implementation Methodology (4-Stage Autonomous Dataflow)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08760"/>
            <a:ext cx="2514600" cy="5943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01: Sensing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Physical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MAX30102 PPG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Dual Red &amp; IR optical pulse oximeter for arterial blood flow &amp; SpO2.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BME280 Climate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Ambient temperature &amp; relative humidity for Steadman Heat Index.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PMSA003 PM2.5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Laser scattering sensor measuring hazardous fine particulate smog.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508760"/>
            <a:ext cx="251460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02: FPGA RTL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50 MHz Custom Silicon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Dual 8-Tap Filter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O(1) running-sum noise filter with bit-shift (&gt;&gt; 3). 0 DSP, 0 BRAM.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Systolic Peak FSM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4-state finite state machine with 250 ms refractory lock-out window.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20 ns Cycle Timer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Continuous 50 MHz cycle counter latching IBI with zero software jitter.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508760"/>
            <a:ext cx="2514600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03: Clinical AI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On-Device TinyML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mNEWS2 Engine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Royal College of Physicians clinical early warning triage protocol.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Karlen/Elgendi SQI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Signal Quality Index rejecting motion noise and false beats.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6→24→16→3 Model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INT8 deep micro-network running in 42 µs (91.00% validation accuracy).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3688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3688" y="1508760"/>
            <a:ext cx="25146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04: Edge Action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Alerts &amp;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Local OLED Display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128x64 display of live HR, SpO2, RR, and multi-hazard risk tiers.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Haptic Alarm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Vibration motor &amp; emergency buzzer for immediate worker evacuation.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WiFi / MQTT Mesh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Optional emergency beacon broadcasting vitals to disaster rescue teams.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00600"/>
            <a:ext cx="106984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veform_snap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92040"/>
            <a:ext cx="3931920" cy="1325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37760" y="48463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Verified Cycle-Accurate Timing: </a:t>
            </a:r>
            <a:r>
              <a:rPr b="0">
                <a:solidFill>
                  <a:srgbClr val="475569"/>
                </a:solidFill>
              </a:rPr>
              <a:t>GTKWave trace proves O(1) noise filter convergence and systolic peak latching with 20 ns resolution.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Zero OS Scheduling Jitter: </a:t>
            </a:r>
            <a:r>
              <a:rPr b="0">
                <a:solidFill>
                  <a:srgbClr val="475569"/>
                </a:solidFill>
              </a:rPr>
              <a:t>Unlike software CPUs with 5-20 ms latency, the 50 MHz FPGA timer gives 100% medically reliable Heart Rate Variability (HRV).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Technologies: </a:t>
            </a:r>
            <a:r>
              <a:rPr b="0">
                <a:solidFill>
                  <a:srgbClr val="475569"/>
                </a:solidFill>
              </a:rPr>
              <a:t>Synthesizable Verilog-2001 (Renesas ForgeFPGA + Xilinx Zynq-7000), C99 bare-metal / FreeRTOS, INT8 TinyML, Win32 GDI GUI.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5303520" cy="2423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115568"/>
            <a:ext cx="5303520" cy="347472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1. TECHNICAL &amp; SILICON FEASIBILITY (PROVEN IN RTL)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481328"/>
            <a:ext cx="508406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Pure-Logic RTL (Zero DSP / 0 BRAM): </a:t>
            </a:r>
            <a:r>
              <a:rPr sz="880" b="0">
                <a:solidFill>
                  <a:srgbClr val="475569"/>
                </a:solidFill>
                <a:latin typeface="Arial"/>
              </a:rPr>
              <a:t>Eliminates high-cost FPGA components; synthesizes entirely into standard LUT logic.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Minimal Silicon Utilization: </a:t>
            </a:r>
            <a:r>
              <a:rPr sz="880" b="0">
                <a:solidFill>
                  <a:srgbClr val="475569"/>
                </a:solidFill>
                <a:latin typeface="Arial"/>
              </a:rPr>
              <a:t>Consumes only ~40% LUT5s and ~30% flip-flops on ultra-low-cost Renesas ForgeFPGA (SLG47910C).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Multi-Vendor Code Portability: </a:t>
            </a:r>
            <a:r>
              <a:rPr sz="880" b="0">
                <a:solidFill>
                  <a:srgbClr val="475569"/>
                </a:solidFill>
                <a:latin typeface="Arial"/>
              </a:rPr>
              <a:t>Identical synthesizable Verilog compiles seamlessly on AMD Xilinx (6-LUT) and Renesas (5-LUT).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Static Timing Closure (+5.603 ns WNS): </a:t>
            </a:r>
            <a:r>
              <a:rPr sz="880" b="0">
                <a:solidFill>
                  <a:srgbClr val="475569"/>
                </a:solidFill>
                <a:latin typeface="Arial"/>
              </a:rPr>
              <a:t>Validated in Vivado ML at 50 MHz clock; verified operational ceiling of 69.45 MHz.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15568"/>
            <a:ext cx="5303520" cy="2423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15568"/>
            <a:ext cx="530352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2. FINANCIAL &amp; COMMERCIAL VIABILITY (UNIT ECONOMICS)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481328"/>
            <a:ext cx="508406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Prototype Single-Unit BOM: </a:t>
            </a:r>
            <a:r>
              <a:rPr sz="880" b="0">
                <a:solidFill>
                  <a:srgbClr val="475569"/>
                </a:solidFill>
                <a:latin typeface="Arial"/>
              </a:rPr>
              <a:t>₹3,500 (~$40 retail) for custom FPGA carrier + ESP32-S3 + multi-sensor cluster.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Mass-Production Bulk Target (&lt;$18 / ₹1,450): </a:t>
            </a:r>
            <a:r>
              <a:rPr sz="880" b="0">
                <a:solidFill>
                  <a:srgbClr val="475569"/>
                </a:solidFill>
                <a:latin typeface="Arial"/>
              </a:rPr>
              <a:t>Micro-FPGA ($1.80) + ESP32 ($2.20) + Sensors ($5.80) + Battery/Enclosure ($4.20).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Zero Ongoing Cloud Cost: </a:t>
            </a:r>
            <a:r>
              <a:rPr sz="880" b="0">
                <a:solidFill>
                  <a:srgbClr val="475569"/>
                </a:solidFill>
                <a:latin typeface="Arial"/>
              </a:rPr>
              <a:t>100% on-device TinyML edge execution = ₹0 cloud server or API subscription cost per user.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95% Cost Reduction vs Wearables: </a:t>
            </a:r>
            <a:r>
              <a:rPr sz="880" b="0">
                <a:solidFill>
                  <a:srgbClr val="475569"/>
                </a:solidFill>
                <a:latin typeface="Arial"/>
              </a:rPr>
              <a:t>Delivers hospital-grade mNEWS2 triage at ₹1,450 vs commercial monitors at ₹25k–₹40k.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822191"/>
            <a:ext cx="5303520" cy="2423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822191"/>
            <a:ext cx="5303520" cy="3474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3. OPERATIONAL CHALLENGES &amp; MITIGATION MATRIX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85800" y="4224527"/>
          <a:ext cx="5120640" cy="1947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</a:tblGrid>
              <a:tr h="389534">
                <a:tc>
                  <a:txBody>
                    <a:bodyPr/>
                    <a:lstStyle/>
                    <a:p>
                      <a:pPr>
                        <a:defRPr b="1" sz="819">
                          <a:solidFill>
                            <a:srgbClr val="1E293B"/>
                          </a:solidFill>
                        </a:defRPr>
                      </a:pPr>
                      <a:r>
                        <a:t>Operational Challenge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19">
                          <a:solidFill>
                            <a:srgbClr val="1E293B"/>
                          </a:solidFill>
                        </a:defRPr>
                      </a:pPr>
                      <a:r>
                        <a:t>Engineering Mitigation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19">
                          <a:solidFill>
                            <a:srgbClr val="1E293B"/>
                          </a:solidFill>
                        </a:defRPr>
                      </a:pPr>
                      <a:r>
                        <a:t>Proven Result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895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DC2626"/>
                          </a:solidFill>
                        </a:defRPr>
                      </a:pPr>
                      <a:r>
                        <a:t>PPG Motion Artifacts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8-Tap MA Filter + Peak FSM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A34A"/>
                          </a:solidFill>
                        </a:defRPr>
                      </a:pPr>
                      <a:r>
                        <a:t>250ms refractory lockout</a:t>
                      </a:r>
                    </a:p>
                  </a:txBody>
                  <a:tcPr/>
                </a:tc>
              </a:tr>
              <a:tr h="3895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DC2626"/>
                          </a:solidFill>
                        </a:defRPr>
                      </a:pPr>
                      <a:r>
                        <a:t>Micro-FPGA Capacity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O(1) Bit-Shift Division (&gt;&gt;3)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A34A"/>
                          </a:solidFill>
                        </a:defRPr>
                      </a:pPr>
                      <a:r>
                        <a:t>0 DSP, 0 BRAM used</a:t>
                      </a:r>
                    </a:p>
                  </a:txBody>
                  <a:tcPr/>
                </a:tc>
              </a:tr>
              <a:tr h="3895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DC2626"/>
                          </a:solidFill>
                        </a:defRPr>
                      </a:pPr>
                      <a:r>
                        <a:t>FPGA Pin 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4-Bit Clock-Strobed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A34A"/>
                          </a:solidFill>
                        </a:defRPr>
                      </a:pPr>
                      <a:r>
                        <a:t>Saves 12 GPIO pins</a:t>
                      </a:r>
                    </a:p>
                  </a:txBody>
                  <a:tcPr/>
                </a:tc>
              </a:tr>
              <a:tr h="3895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DC2626"/>
                          </a:solidFill>
                        </a:defRPr>
                      </a:pPr>
                      <a:r>
                        <a:t>Network Outages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100% Autonomous Edge TinyML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A34A"/>
                          </a:solidFill>
                        </a:defRPr>
                      </a:pPr>
                      <a:r>
                        <a:t>619-byte offline model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263640" y="3822191"/>
            <a:ext cx="5303520" cy="2423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822191"/>
            <a:ext cx="530352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4. VALIDATION &amp; SCALABLE DEPLOYMENT 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4187951"/>
            <a:ext cx="508406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Phase 1: Lab Silicon Validation [COMPLETED]: </a:t>
            </a:r>
            <a:r>
              <a:rPr sz="880" b="0">
                <a:solidFill>
                  <a:srgbClr val="475569"/>
                </a:solidFill>
                <a:latin typeface="Arial"/>
              </a:rPr>
              <a:t>Hardware prototype tested on Renesas ForgeFPGA + ESP32-S3. Benchmarked on 16k+ MIMIC-III patient records (94.11% accuracy).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Phase 2: Pilot Field Deployment [NEAR-TERM]: </a:t>
            </a:r>
            <a:r>
              <a:rPr sz="880" b="0">
                <a:solidFill>
                  <a:srgbClr val="475569"/>
                </a:solidFill>
                <a:latin typeface="Arial"/>
              </a:rPr>
              <a:t>50-unit pilot trial targeting municipal sanitation workers, traffic police, and construction sites under 45°C heat.</a:t>
            </a:r>
          </a:p>
          <a:p>
            <a:pPr>
              <a:spcBef>
                <a:spcPts val="300"/>
              </a:spcBef>
              <a:defRPr sz="919" b="1">
                <a:solidFill>
                  <a:srgbClr val="1E293B"/>
                </a:solidFill>
                <a:latin typeface="Arial"/>
              </a:defRPr>
            </a:pPr>
            <a:r>
              <a:t>• Phase 3: Commercial Silicon Target [MASS SCALE]: </a:t>
            </a:r>
            <a:r>
              <a:rPr sz="880" b="0">
                <a:solidFill>
                  <a:srgbClr val="475569"/>
                </a:solidFill>
                <a:latin typeface="Arial"/>
              </a:rPr>
              <a:t>Direct migration of Verilog DSP to Qualcomm Hexagon DSP; TinyML deployed to Qualcomm NPU via Snapdragon Neural Processing SDK (SNPE).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                5</a:t>
            </a:r>
          </a:p>
        </p:txBody>
      </p:sp>
      <p:sp>
        <p:nvSpPr>
          <p:cNvPr id="7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8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5</a:t>
            </a:r>
          </a:p>
        </p:txBody>
      </p:sp>
      <p:sp>
        <p:nvSpPr>
          <p:cNvPr id="10" name="Rounded Rectangle 6"/>
          <p:cNvSpPr/>
          <p:nvPr/>
        </p:nvSpPr>
        <p:spPr>
          <a:xfrm>
            <a:off x="731520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7"/>
          <p:cNvSpPr txBox="1"/>
          <p:nvPr/>
        </p:nvSpPr>
        <p:spPr>
          <a:xfrm>
            <a:off x="786384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B62A4"/>
                </a:solidFill>
                <a:latin typeface="Arial"/>
              </a:defRPr>
            </a:pPr>
            <a:r>
              <a:t>20 ns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beat-to-beat timing</a:t>
            </a:r>
            <a:br/>
            <a:r>
              <a:t>resolution (hardware)</a:t>
            </a:r>
          </a:p>
        </p:txBody>
      </p:sp>
      <p:sp>
        <p:nvSpPr>
          <p:cNvPr id="12" name="Rounded Rectangle 8"/>
          <p:cNvSpPr/>
          <p:nvPr/>
        </p:nvSpPr>
        <p:spPr>
          <a:xfrm>
            <a:off x="3463747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9"/>
          <p:cNvSpPr txBox="1"/>
          <p:nvPr/>
        </p:nvSpPr>
        <p:spPr>
          <a:xfrm>
            <a:off x="3518611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C2626"/>
                </a:solidFill>
                <a:latin typeface="Arial"/>
              </a:defRPr>
            </a:pPr>
            <a:r>
              <a:t>94.11%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triage accuracy vs</a:t>
            </a:r>
            <a:br/>
            <a:r>
              <a:t>16,387 ICU records</a:t>
            </a:r>
          </a:p>
        </p:txBody>
      </p:sp>
      <p:sp>
        <p:nvSpPr>
          <p:cNvPr id="14" name="Rounded Rectangle 10"/>
          <p:cNvSpPr/>
          <p:nvPr/>
        </p:nvSpPr>
        <p:spPr>
          <a:xfrm>
            <a:off x="6195974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1"/>
          <p:cNvSpPr txBox="1"/>
          <p:nvPr/>
        </p:nvSpPr>
        <p:spPr>
          <a:xfrm>
            <a:off x="6250838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9488"/>
                </a:solidFill>
                <a:latin typeface="Arial"/>
              </a:defRPr>
            </a:pPr>
            <a:r>
              <a:t>619 B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offline INT8 network</a:t>
            </a:r>
            <a:br/>
            <a:r>
              <a:t>(6 -&gt; 24 -&gt; 16 -&gt; 3)</a:t>
            </a:r>
          </a:p>
        </p:txBody>
      </p:sp>
      <p:sp>
        <p:nvSpPr>
          <p:cNvPr id="16" name="Rounded Rectangle 12"/>
          <p:cNvSpPr/>
          <p:nvPr/>
        </p:nvSpPr>
        <p:spPr>
          <a:xfrm>
            <a:off x="8928201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3"/>
          <p:cNvSpPr txBox="1"/>
          <p:nvPr/>
        </p:nvSpPr>
        <p:spPr>
          <a:xfrm>
            <a:off x="8983065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Arial"/>
              </a:defRPr>
            </a:pPr>
            <a:r>
              <a:t>12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components in the</a:t>
            </a:r>
            <a:br/>
            <a:r>
              <a:t>entire wearable BOM</a:t>
            </a:r>
          </a:p>
        </p:txBody>
      </p:sp>
      <p:sp>
        <p:nvSpPr>
          <p:cNvPr id="18" name="Rounded Rectangle 14"/>
          <p:cNvSpPr/>
          <p:nvPr/>
        </p:nvSpPr>
        <p:spPr>
          <a:xfrm>
            <a:off x="731520" y="2743200"/>
            <a:ext cx="3441801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5"/>
          <p:cNvSpPr/>
          <p:nvPr/>
        </p:nvSpPr>
        <p:spPr>
          <a:xfrm>
            <a:off x="731520" y="2743200"/>
            <a:ext cx="3441801" cy="365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SOCIAL</a:t>
            </a:r>
          </a:p>
        </p:txBody>
      </p:sp>
      <p:sp>
        <p:nvSpPr>
          <p:cNvPr id="20" name="TextBox 16"/>
          <p:cNvSpPr txBox="1"/>
          <p:nvPr/>
        </p:nvSpPr>
        <p:spPr>
          <a:xfrm>
            <a:off x="896112" y="3255264"/>
            <a:ext cx="3112617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Offline triage during network and grid blackouts.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Health data never leaves the device - no cloud, no phone.</a:t>
            </a:r>
          </a:p>
        </p:txBody>
      </p:sp>
      <p:sp>
        <p:nvSpPr>
          <p:cNvPr id="21" name="Rounded Rectangle 17"/>
          <p:cNvSpPr/>
          <p:nvPr/>
        </p:nvSpPr>
        <p:spPr>
          <a:xfrm>
            <a:off x="4374489" y="2743200"/>
            <a:ext cx="3441801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18"/>
          <p:cNvSpPr/>
          <p:nvPr/>
        </p:nvSpPr>
        <p:spPr>
          <a:xfrm>
            <a:off x="4374489" y="2743200"/>
            <a:ext cx="3441801" cy="365760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ECONOMIC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4539081" y="3255264"/>
            <a:ext cx="3112617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12-component commodity BOM; no subscription.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No server, no data plan, no recurring cost.</a:t>
            </a:r>
          </a:p>
        </p:txBody>
      </p:sp>
      <p:sp>
        <p:nvSpPr>
          <p:cNvPr id="24" name="Rounded Rectangle 20"/>
          <p:cNvSpPr/>
          <p:nvPr/>
        </p:nvSpPr>
        <p:spPr>
          <a:xfrm>
            <a:off x="8017459" y="2743200"/>
            <a:ext cx="3441801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1"/>
          <p:cNvSpPr/>
          <p:nvPr/>
        </p:nvSpPr>
        <p:spPr>
          <a:xfrm>
            <a:off x="8017459" y="2743200"/>
            <a:ext cx="3441801" cy="365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ENVIRONMENTAL</a:t>
            </a:r>
          </a:p>
        </p:txBody>
      </p:sp>
      <p:sp>
        <p:nvSpPr>
          <p:cNvPr id="26" name="TextBox 22"/>
          <p:cNvSpPr txBox="1"/>
          <p:nvPr/>
        </p:nvSpPr>
        <p:spPr>
          <a:xfrm>
            <a:off x="8182051" y="3255264"/>
            <a:ext cx="3112617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Zero-cloud: no data-centre or network load.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0 DSP and 0 BRAM in the FPGA fabric - pure logic.</a:t>
            </a:r>
          </a:p>
        </p:txBody>
      </p:sp>
      <p:sp>
        <p:nvSpPr>
          <p:cNvPr id="27" name="Rounded Rectangle 23"/>
          <p:cNvSpPr/>
          <p:nvPr/>
        </p:nvSpPr>
        <p:spPr>
          <a:xfrm>
            <a:off x="731520" y="5449824"/>
            <a:ext cx="10725912" cy="603504"/>
          </a:xfrm>
          <a:prstGeom prst="roundRect">
            <a:avLst/>
          </a:prstGeom>
          <a:solidFill>
            <a:srgbClr val="1E3A8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Implements the NHS early-warning score used in ICUs - running on a wrist, with no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                6</a:t>
            </a:r>
          </a:p>
        </p:txBody>
      </p:sp>
      <p:sp>
        <p:nvSpPr>
          <p:cNvPr id="7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8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6</a:t>
            </a:r>
          </a:p>
        </p:txBody>
      </p:sp>
      <p:graphicFrame>
        <p:nvGraphicFramePr>
          <p:cNvPr id="10" name="Table 6"/>
          <p:cNvGraphicFramePr>
            <a:graphicFrameLocks noGrp="1"/>
          </p:cNvGraphicFramePr>
          <p:nvPr/>
        </p:nvGraphicFramePr>
        <p:xfrm>
          <a:off x="731520" y="1234440"/>
          <a:ext cx="107259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818120"/>
                <a:gridCol w="2907792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REFERENCE  (paper, dataset or standard)</a:t>
                      </a:r>
                    </a:p>
                  </a:txBody>
                  <a:tcPr>
                    <a:solidFill>
                      <a:srgbClr val="0B62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IMPLEMENTED IN</a:t>
                      </a:r>
                    </a:p>
                  </a:txBody>
                  <a:tcPr>
                    <a:solidFill>
                      <a:srgbClr val="0B62A4"/>
                    </a:solidFill>
                  </a:tcPr>
                </a:tc>
              </a:tr>
              <a:tr h="274320">
                <a:tc gridSpan="2"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CLINICAL &amp; PHYSIOLOGICAL FOUNDATIONS  (peer-reviewed)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RCP (2017)  NEWS2: National Early Warning Score 2 - NHS acute-illness severity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clinical_vitals_engine.c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Moran DS et al. (1998)  A physiological strain index to evaluate heat stress - Am J Physiol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Brook RD et al. / AHA (2010)  Particulate matter air pollution and cardiovascular disease - Circulation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Steadman RG (1979)  The assessment of sultriness, Parts I &amp; II - J Appl Meteorol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Karlen W et al. (2012)  PPG signal quality estimation using repeated Gaussian filters - Physiol Meas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ppg_sqi.c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Elgendi M (2016)  Optimal signal quality index for photoplethysmogram signals - Bioengineering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ppg_sqi.c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Charlton PH et al. (2018)  Breathing rate estimation from the ECG and PPG - IEEE Rev Biomed 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ppg_respiratory_rate.c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Si M et al. (2019)  Low-cost particle sensor calibration using machine learning - Atmos Meas Tech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pm25_calibration_int8.c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 gridSpan="2"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DATASETS &amp; STANDARDS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Johnson AEW et al. (2016)  MIMIC-III, a freely accessible critical care database - Sci Data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data/mimic/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WHO (2021)  Global air quality guidelines: PM2.5 hazard thresholds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ARM  AMBA AXI and ACE Protocol Specification (AXI4-Lite)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axi_ppg_accelerator.v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7"/>
          <p:cNvSpPr txBox="1"/>
          <p:nvPr/>
        </p:nvSpPr>
        <p:spPr>
          <a:xfrm>
            <a:off x="731520" y="5742432"/>
            <a:ext cx="107259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Every reference above maps to a file in this repository - these were implemented, not just cited.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Toolchain (how it was built, not a reference): Vivado ML 2026.1  |  Renesas ForgeFPGA Workshop v6.55  |  Icarus Verilog  |  GTKWave  |  GCC  |  ESP-IDF v5.5.5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