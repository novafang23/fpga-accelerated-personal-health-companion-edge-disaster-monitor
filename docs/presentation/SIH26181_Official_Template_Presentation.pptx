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2004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E3A8A"/>
                </a:solidFill>
                <a:latin typeface="Times New Roman"/>
              </a:defRPr>
            </a:pPr>
            <a:r>
              <a:t>SMART INDIA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0584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000000"/>
                </a:solidFill>
                <a:latin typeface="Times New Roman"/>
              </a:defRPr>
            </a:pPr>
            <a:r>
              <a:t>TITLE PAGE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82880"/>
            <a:ext cx="160020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920240"/>
            <a:ext cx="6858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Problem Statement ID - </a:t>
            </a:r>
            <a:r>
              <a:rPr b="0">
                <a:solidFill>
                  <a:srgbClr val="1E293B"/>
                </a:solidFill>
              </a:rPr>
              <a:t>26181</a:t>
            </a:r>
          </a:p>
          <a:p>
            <a:pPr>
              <a:spcAft>
                <a:spcPts val="1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Problem Statement Title - </a:t>
            </a:r>
            <a:r>
              <a:rPr b="0">
                <a:solidFill>
                  <a:srgbClr val="1E293B"/>
                </a:solidFill>
              </a:rPr>
              <a:t>AI-Powered Personal Health Companion &amp; Edge Disaster Monitor</a:t>
            </a:r>
          </a:p>
          <a:p>
            <a:pPr>
              <a:spcAft>
                <a:spcPts val="1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Theme - </a:t>
            </a:r>
            <a:r>
              <a:rPr b="0">
                <a:solidFill>
                  <a:srgbClr val="1E293B"/>
                </a:solidFill>
              </a:rPr>
              <a:t>MedTech</a:t>
            </a:r>
          </a:p>
          <a:p>
            <a:pPr>
              <a:spcAft>
                <a:spcPts val="1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PS Category - </a:t>
            </a:r>
            <a:r>
              <a:rPr b="0">
                <a:solidFill>
                  <a:srgbClr val="1E293B"/>
                </a:solidFill>
              </a:rPr>
              <a:t>Hardware</a:t>
            </a:r>
          </a:p>
          <a:p>
            <a:pPr>
              <a:spcAft>
                <a:spcPts val="1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Team ID - </a:t>
            </a:r>
            <a:r>
              <a:rPr b="0">
                <a:solidFill>
                  <a:srgbClr val="1E293B"/>
                </a:solidFill>
              </a:rPr>
              <a:t>01</a:t>
            </a:r>
          </a:p>
          <a:p>
            <a:pPr>
              <a:spcAft>
                <a:spcPts val="1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Team Name (Registered on portal) - </a:t>
            </a:r>
            <a:r>
              <a:rPr b="0">
                <a:solidFill>
                  <a:srgbClr val="1E293B"/>
                </a:solidFill>
              </a:rPr>
              <a:t>CHIPSTERS</a:t>
            </a:r>
          </a:p>
        </p:txBody>
      </p:sp>
      <p:pic>
        <p:nvPicPr>
          <p:cNvPr id="6" name="Picture 5" descr="page_1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645920"/>
            <a:ext cx="3931920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943600"/>
            <a:ext cx="6583680" cy="548640"/>
          </a:xfrm>
          <a:prstGeom prst="roundRect">
            <a:avLst/>
          </a:prstGeom>
          <a:solidFill>
            <a:srgbClr val="EEF2FF"/>
          </a:solidFill>
          <a:ln>
            <a:solidFill>
              <a:srgbClr val="0B62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Arial"/>
              </a:defRPr>
            </a:pPr>
            <a:r>
              <a:t>⚡ 20 ns FPGA Timing  |  🧠 91% INT8 TinyML  |  🏥 92% MIMIC-III Validated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28600"/>
            <a:ext cx="137160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  <a:br/>
            <a:r>
              <a:t>Chipsters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320040"/>
            <a:ext cx="8046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IDEA TITLE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164592"/>
            <a:ext cx="1508760" cy="713232"/>
          </a:xfrm>
          <a:prstGeom prst="rect">
            <a:avLst/>
          </a:prstGeom>
        </p:spPr>
      </p:pic>
      <p:pic>
        <p:nvPicPr>
          <p:cNvPr id="5" name="Picture 4" descr="page_2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446520"/>
            <a:ext cx="12191695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49224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FFFFFF"/>
                </a:solidFill>
                <a:latin typeface="Arial"/>
              </a:defRPr>
            </a:pPr>
            <a:r>
              <a:t>@SIH Idea submission- Template                                                                                          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62A4"/>
                </a:solidFill>
                <a:latin typeface="Arial"/>
              </a:defRPr>
            </a:pPr>
            <a:r>
              <a:t>❖ Proposed Solution (Describe your Idea/Solution/Prototype)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5166360" cy="4023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600200"/>
            <a:ext cx="5166360" cy="411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❌ How Current Technology Fails During Disasters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057400"/>
            <a:ext cx="4800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Wearables Are Environmentally Blind: </a:t>
            </a:r>
            <a:r>
              <a:rPr b="0">
                <a:solidFill>
                  <a:srgbClr val="475569"/>
                </a:solidFill>
              </a:rPr>
              <a:t>Commercial smartwatches track fitness steps and resting heart rate, but have zero awareness if ambient air is toxic (AQI 500+) or if 48°C heat is causing heat exhaustion.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Environmental Sensors Ignore the Body: </a:t>
            </a:r>
            <a:r>
              <a:rPr b="0">
                <a:solidFill>
                  <a:srgbClr val="475569"/>
                </a:solidFill>
              </a:rPr>
              <a:t>Weather apps report regional city forecasts, not what an individual worker's cardiovascular system is actually enduring at street level.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The Cloud Dependency Trap: </a:t>
            </a:r>
            <a:r>
              <a:rPr b="0">
                <a:solidFill>
                  <a:srgbClr val="475569"/>
                </a:solidFill>
              </a:rPr>
              <a:t>Cloud AI health platforms require mobile networks. During floods, cyclones, or power grid failures, cellular towers collapse and cloud health apps die completely.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Software Jitter Destroys HRV: </a:t>
            </a:r>
            <a:r>
              <a:rPr b="0">
                <a:solidFill>
                  <a:srgbClr val="475569"/>
                </a:solidFill>
              </a:rPr>
              <a:t>Operating system scheduling delays on standard CPUs jitter by 5-20 ms, severely corrupting heart rate variability (HRV) metrics.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600200"/>
            <a:ext cx="5166360" cy="4023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600200"/>
            <a:ext cx="5166360" cy="4114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✅ EdgeGuard Proposed Solution &amp; Innovation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057400"/>
            <a:ext cx="4800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Detailed Solution Explanation: </a:t>
            </a:r>
            <a:r>
              <a:rPr b="0">
                <a:solidFill>
                  <a:srgbClr val="475569"/>
                </a:solidFill>
              </a:rPr>
              <a:t>Simultaneously acquires dual-wavelength optical PPG pulses along with hyper-local ambient temperature, relative humidity, and laser PM2.5 particulate matter on the wrist.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How It Addresses the Problem: </a:t>
            </a:r>
            <a:r>
              <a:rPr b="0">
                <a:solidFill>
                  <a:srgbClr val="475569"/>
                </a:solidFill>
              </a:rPr>
              <a:t>Fuses bodily vitals with environmental stress in real time to calculate cardiac drift and respiratory strain, alerting workers 15-20 minutes before medical collapse.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Hardware Innovation (FPGA Silicon): </a:t>
            </a:r>
            <a:r>
              <a:rPr b="0">
                <a:solidFill>
                  <a:srgbClr val="475569"/>
                </a:solidFill>
              </a:rPr>
              <a:t>Custom Verilog 8-tap filter runs on 50 MHz hardware with 20 ns cycle resolution, completely eliminating operating system jitter without DSP multipliers or BRAM.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Uniqueness &amp; Zero Cloud Dependency: </a:t>
            </a:r>
            <a:r>
              <a:rPr b="0">
                <a:solidFill>
                  <a:srgbClr val="475569"/>
                </a:solidFill>
              </a:rPr>
              <a:t>Quantized INT8 neural network fits into only 619 bytes SRAM and evaluates risks in 42 µs, providing 100% offline protection during infrastructure blackouts.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715000"/>
            <a:ext cx="10698480" cy="594360"/>
          </a:xfrm>
          <a:prstGeom prst="roundRect">
            <a:avLst/>
          </a:prstGeom>
          <a:solidFill>
            <a:srgbClr val="F0F9FF"/>
          </a:solidFill>
          <a:ln>
            <a:solidFill>
              <a:srgbClr val="0B62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0B62A4"/>
                </a:solidFill>
                <a:latin typeface="Arial"/>
              </a:defRPr>
            </a:pPr>
            <a:r>
              <a:t>💡 Layman Core: An offline medical guardian that connects what's happening outside (disaster) with what's happening inside (your heart) — saving lives before emergency collapse.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28600"/>
            <a:ext cx="137160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  <a:br/>
            <a:r>
              <a:t>Chipsters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320040"/>
            <a:ext cx="8046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164592"/>
            <a:ext cx="1508760" cy="713232"/>
          </a:xfrm>
          <a:prstGeom prst="rect">
            <a:avLst/>
          </a:prstGeom>
        </p:spPr>
      </p:pic>
      <p:pic>
        <p:nvPicPr>
          <p:cNvPr id="5" name="Picture 4" descr="page_2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446520"/>
            <a:ext cx="12191695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49224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FFFFFF"/>
                </a:solidFill>
                <a:latin typeface="Arial"/>
              </a:defRPr>
            </a:pPr>
            <a:r>
              <a:t>@SIH Idea submission- Template                                                                                           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B62A4"/>
                </a:solidFill>
                <a:latin typeface="Arial"/>
              </a:defRPr>
            </a:pPr>
            <a:r>
              <a:t>❖ Technologies Used &amp; Implementation Methodology (4-Stage Autonomous Dataflow)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25146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508760"/>
            <a:ext cx="2514600" cy="5943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Stage 01: Sensing</a:t>
            </a:r>
          </a:p>
          <a:p>
            <a:pPr algn="ctr">
              <a:defRPr sz="900">
                <a:solidFill>
                  <a:srgbClr val="E2E8F0"/>
                </a:solidFill>
              </a:defRPr>
            </a:pPr>
            <a:r>
              <a:t>Physical Acquisition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48840"/>
            <a:ext cx="23317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MAX30102 PPG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Dual Red &amp; IR optical pulse oximeter for arterial blood flow &amp; SpO2.</a:t>
            </a:r>
          </a:p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BME280 Climate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Ambient temperature &amp; relative humidity for Steadman Heat Index.</a:t>
            </a:r>
          </a:p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PMSA003 PM2.5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Laser scattering sensor measuring hazardous fine particulate smog.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5576" y="1508760"/>
            <a:ext cx="25146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65576" y="1508760"/>
            <a:ext cx="2514600" cy="5943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Stage 02: FPGA RTL</a:t>
            </a:r>
          </a:p>
          <a:p>
            <a:pPr algn="ctr">
              <a:defRPr sz="900">
                <a:solidFill>
                  <a:srgbClr val="E2E8F0"/>
                </a:solidFill>
              </a:defRPr>
            </a:pPr>
            <a:r>
              <a:t>50 MHz Custom Silicon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7016" y="2148840"/>
            <a:ext cx="23317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Dual 8-Tap Filter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O(1) running-sum noise filter with bit-shift (&gt;&gt; 3). 0 DSP, 0 BRAM.</a:t>
            </a:r>
          </a:p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Systolic Peak FSM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4-state finite state machine with 250 ms refractory lock-out window.</a:t>
            </a:r>
          </a:p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20 ns Cycle Timer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Continuous 50 MHz cycle counter latching IBI with zero software jitter.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508760"/>
            <a:ext cx="25146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508760"/>
            <a:ext cx="2514600" cy="5943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Stage 03: Clinical AI</a:t>
            </a:r>
          </a:p>
          <a:p>
            <a:pPr algn="ctr">
              <a:defRPr sz="900">
                <a:solidFill>
                  <a:srgbClr val="E2E8F0"/>
                </a:solidFill>
              </a:defRPr>
            </a:pPr>
            <a:r>
              <a:t>On-Device TinyML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1072" y="2148840"/>
            <a:ext cx="23317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mNEWS2 Engine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Royal College of Physicians clinical early warning triage protocol.</a:t>
            </a:r>
          </a:p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Karlen/Elgendi SQI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Signal Quality Index rejecting motion noise and false beats.</a:t>
            </a:r>
          </a:p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6→24→16→3 Model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INT8 deep micro-network running in 42 µs (91.00% validation accuracy).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33688" y="1508760"/>
            <a:ext cx="25146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33688" y="1508760"/>
            <a:ext cx="2514600" cy="5943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Stage 04: Edge Action</a:t>
            </a:r>
          </a:p>
          <a:p>
            <a:pPr algn="ctr">
              <a:defRPr sz="900">
                <a:solidFill>
                  <a:srgbClr val="E2E8F0"/>
                </a:solidFill>
              </a:defRPr>
            </a:pPr>
            <a:r>
              <a:t>Alerts &amp; Telemetry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25128" y="2148840"/>
            <a:ext cx="23317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Local OLED Display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128x64 display of live HR, SpO2, RR, and multi-hazard risk tiers.</a:t>
            </a:r>
          </a:p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Haptic Alarm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Vibration motor &amp; emergency buzzer for immediate worker evacuation.</a:t>
            </a:r>
          </a:p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WiFi / MQTT Mesh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Optional emergency beacon broadcasting vitals to disaster rescue teams.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800600"/>
            <a:ext cx="10698480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62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waveform_snapsh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892040"/>
            <a:ext cx="3931920" cy="1325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937760" y="484632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Verified Cycle-Accurate Timing: </a:t>
            </a:r>
            <a:r>
              <a:rPr b="0">
                <a:solidFill>
                  <a:srgbClr val="475569"/>
                </a:solidFill>
              </a:rPr>
              <a:t>GTKWave trace proves O(1) noise filter convergence and systolic peak latching with 20 ns resolution.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Zero OS Scheduling Jitter: </a:t>
            </a:r>
            <a:r>
              <a:rPr b="0">
                <a:solidFill>
                  <a:srgbClr val="475569"/>
                </a:solidFill>
              </a:rPr>
              <a:t>Unlike software CPUs with 5-20 ms latency, the 50 MHz FPGA timer gives 100% medically reliable Heart Rate Variability (HRV).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Hardware Technologies: </a:t>
            </a:r>
            <a:r>
              <a:rPr b="0">
                <a:solidFill>
                  <a:srgbClr val="475569"/>
                </a:solidFill>
              </a:rPr>
              <a:t>Synthesizable Verilog-2001 (Renesas ForgeFPGA + Xilinx Zynq-7000), C99 bare-metal / FreeRTOS, INT8 TinyML, Win32 GDI GUI.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28600"/>
            <a:ext cx="137160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  <a:br/>
            <a:r>
              <a:t>Chipsters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320040"/>
            <a:ext cx="8046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FEASIBILITY AND VIABILITY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164592"/>
            <a:ext cx="1508760" cy="713232"/>
          </a:xfrm>
          <a:prstGeom prst="rect">
            <a:avLst/>
          </a:prstGeom>
        </p:spPr>
      </p:pic>
      <p:pic>
        <p:nvPicPr>
          <p:cNvPr id="5" name="Picture 4" descr="page_2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446520"/>
            <a:ext cx="12191695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49224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FFFFFF"/>
                </a:solidFill>
                <a:latin typeface="Arial"/>
              </a:defRPr>
            </a:pPr>
            <a:r>
              <a:t>@SIH Idea submission- Template                                                                                               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115568"/>
            <a:ext cx="5303520" cy="2423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0B62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115568"/>
            <a:ext cx="5303520" cy="347472"/>
          </a:xfrm>
          <a:prstGeom prst="rect">
            <a:avLst/>
          </a:prstGeom>
          <a:solidFill>
            <a:srgbClr val="0B62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1. TECHNICAL &amp; SILICON FEASIBILITY (PROVEN IN RTL)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1481328"/>
            <a:ext cx="508406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919" b="1">
                <a:solidFill>
                  <a:srgbClr val="1E293B"/>
                </a:solidFill>
                <a:latin typeface="Arial"/>
              </a:defRPr>
            </a:pPr>
            <a:r>
              <a:t>• Pure-Logic RTL (Zero DSP / 0 BRAM): </a:t>
            </a:r>
            <a:r>
              <a:rPr sz="880" b="0">
                <a:solidFill>
                  <a:srgbClr val="475569"/>
                </a:solidFill>
                <a:latin typeface="Arial"/>
              </a:rPr>
              <a:t>Eliminates high-cost FPGA components; synthesizes entirely into standard LUT logic.</a:t>
            </a:r>
          </a:p>
          <a:p>
            <a:pPr>
              <a:spcBef>
                <a:spcPts val="300"/>
              </a:spcBef>
              <a:defRPr sz="919" b="1">
                <a:solidFill>
                  <a:srgbClr val="1E293B"/>
                </a:solidFill>
                <a:latin typeface="Arial"/>
              </a:defRPr>
            </a:pPr>
            <a:r>
              <a:t>• Minimal Silicon Utilization: </a:t>
            </a:r>
            <a:r>
              <a:rPr sz="880" b="0">
                <a:solidFill>
                  <a:srgbClr val="475569"/>
                </a:solidFill>
                <a:latin typeface="Arial"/>
              </a:rPr>
              <a:t>Consumes only ~40% LUT5s and ~30% flip-flops on ultra-low-cost Renesas ForgeFPGA (SLG47910C).</a:t>
            </a:r>
          </a:p>
          <a:p>
            <a:pPr>
              <a:spcBef>
                <a:spcPts val="300"/>
              </a:spcBef>
              <a:defRPr sz="919" b="1">
                <a:solidFill>
                  <a:srgbClr val="1E293B"/>
                </a:solidFill>
                <a:latin typeface="Arial"/>
              </a:defRPr>
            </a:pPr>
            <a:r>
              <a:t>• Multi-Vendor Code Portability: </a:t>
            </a:r>
            <a:r>
              <a:rPr sz="880" b="0">
                <a:solidFill>
                  <a:srgbClr val="475569"/>
                </a:solidFill>
                <a:latin typeface="Arial"/>
              </a:rPr>
              <a:t>Identical synthesizable Verilog compiles seamlessly on AMD Xilinx (6-LUT) and Renesas (5-LUT).</a:t>
            </a:r>
          </a:p>
          <a:p>
            <a:pPr>
              <a:spcBef>
                <a:spcPts val="300"/>
              </a:spcBef>
              <a:defRPr sz="919" b="1">
                <a:solidFill>
                  <a:srgbClr val="1E293B"/>
                </a:solidFill>
                <a:latin typeface="Arial"/>
              </a:defRPr>
            </a:pPr>
            <a:r>
              <a:t>• Static Timing Closure (+5.603 ns WNS): </a:t>
            </a:r>
            <a:r>
              <a:rPr sz="880" b="0">
                <a:solidFill>
                  <a:srgbClr val="475569"/>
                </a:solidFill>
                <a:latin typeface="Arial"/>
              </a:rPr>
              <a:t>Validated in Vivado ML at 50 MHz clock; verified operational ceiling of 69.45 MHz.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115568"/>
            <a:ext cx="5303520" cy="2423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115568"/>
            <a:ext cx="5303520" cy="34747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2. FINANCIAL &amp; COMMERCIAL VIABILITY (UNIT ECONOMICS)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1481328"/>
            <a:ext cx="508406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919" b="1">
                <a:solidFill>
                  <a:srgbClr val="1E293B"/>
                </a:solidFill>
                <a:latin typeface="Arial"/>
              </a:defRPr>
            </a:pPr>
            <a:r>
              <a:t>• Prototype Single-Unit BOM: </a:t>
            </a:r>
            <a:r>
              <a:rPr sz="880" b="0">
                <a:solidFill>
                  <a:srgbClr val="475569"/>
                </a:solidFill>
                <a:latin typeface="Arial"/>
              </a:rPr>
              <a:t>₹3,500 (~$40 retail) for custom FPGA carrier + ESP32-S3 + multi-sensor cluster.</a:t>
            </a:r>
          </a:p>
          <a:p>
            <a:pPr>
              <a:spcBef>
                <a:spcPts val="300"/>
              </a:spcBef>
              <a:defRPr sz="919" b="1">
                <a:solidFill>
                  <a:srgbClr val="1E293B"/>
                </a:solidFill>
                <a:latin typeface="Arial"/>
              </a:defRPr>
            </a:pPr>
            <a:r>
              <a:t>• Mass-Production Bulk Target (&lt;$18 / ₹1,450): </a:t>
            </a:r>
            <a:r>
              <a:rPr sz="880" b="0">
                <a:solidFill>
                  <a:srgbClr val="475569"/>
                </a:solidFill>
                <a:latin typeface="Arial"/>
              </a:rPr>
              <a:t>Micro-FPGA ($1.80) + ESP32 ($2.20) + Sensors ($5.80) + Battery/Enclosure ($4.20).</a:t>
            </a:r>
          </a:p>
          <a:p>
            <a:pPr>
              <a:spcBef>
                <a:spcPts val="300"/>
              </a:spcBef>
              <a:defRPr sz="919" b="1">
                <a:solidFill>
                  <a:srgbClr val="1E293B"/>
                </a:solidFill>
                <a:latin typeface="Arial"/>
              </a:defRPr>
            </a:pPr>
            <a:r>
              <a:t>• Zero Ongoing Cloud Cost: </a:t>
            </a:r>
            <a:r>
              <a:rPr sz="880" b="0">
                <a:solidFill>
                  <a:srgbClr val="475569"/>
                </a:solidFill>
                <a:latin typeface="Arial"/>
              </a:rPr>
              <a:t>100% on-device TinyML edge execution = ₹0 cloud server or API subscription cost per user.</a:t>
            </a:r>
          </a:p>
          <a:p>
            <a:pPr>
              <a:spcBef>
                <a:spcPts val="300"/>
              </a:spcBef>
              <a:defRPr sz="919" b="1">
                <a:solidFill>
                  <a:srgbClr val="1E293B"/>
                </a:solidFill>
                <a:latin typeface="Arial"/>
              </a:defRPr>
            </a:pPr>
            <a:r>
              <a:t>• 95% Cost Reduction vs Wearables: </a:t>
            </a:r>
            <a:r>
              <a:rPr sz="880" b="0">
                <a:solidFill>
                  <a:srgbClr val="475569"/>
                </a:solidFill>
                <a:latin typeface="Arial"/>
              </a:rPr>
              <a:t>Delivers hospital-grade mNEWS2 triage at ₹1,450 vs commercial monitors at ₹25k–₹40k.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822191"/>
            <a:ext cx="5303520" cy="2423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3822191"/>
            <a:ext cx="5303520" cy="34747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3. OPERATIONAL CHALLENGES &amp; MITIGATION MATRIX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85800" y="4224527"/>
          <a:ext cx="5120640" cy="19476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1463040"/>
              </a:tblGrid>
              <a:tr h="389534">
                <a:tc>
                  <a:txBody>
                    <a:bodyPr/>
                    <a:lstStyle/>
                    <a:p>
                      <a:pPr>
                        <a:defRPr b="1" sz="819">
                          <a:solidFill>
                            <a:srgbClr val="1E293B"/>
                          </a:solidFill>
                        </a:defRPr>
                      </a:pPr>
                      <a:r>
                        <a:t>Operational Challenge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819">
                          <a:solidFill>
                            <a:srgbClr val="1E293B"/>
                          </a:solidFill>
                        </a:defRPr>
                      </a:pPr>
                      <a:r>
                        <a:t>Engineering Mitigation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819">
                          <a:solidFill>
                            <a:srgbClr val="1E293B"/>
                          </a:solidFill>
                        </a:defRPr>
                      </a:pPr>
                      <a:r>
                        <a:t>Proven Result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8953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DC2626"/>
                          </a:solidFill>
                        </a:defRPr>
                      </a:pPr>
                      <a:r>
                        <a:t>PPG Motion Artifacts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8-Tap MA Filter + Peak FSM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6A34A"/>
                          </a:solidFill>
                        </a:defRPr>
                      </a:pPr>
                      <a:r>
                        <a:t>250ms refractory lockout</a:t>
                      </a:r>
                    </a:p>
                  </a:txBody>
                  <a:tcPr/>
                </a:tc>
              </a:tr>
              <a:tr h="38953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DC2626"/>
                          </a:solidFill>
                        </a:defRPr>
                      </a:pPr>
                      <a:r>
                        <a:t>Micro-FPGA Capacity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O(1) Bit-Shift Division (&gt;&gt;3)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6A34A"/>
                          </a:solidFill>
                        </a:defRPr>
                      </a:pPr>
                      <a:r>
                        <a:t>0 DSP, 0 BRAM used</a:t>
                      </a:r>
                    </a:p>
                  </a:txBody>
                  <a:tcPr/>
                </a:tc>
              </a:tr>
              <a:tr h="38953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DC2626"/>
                          </a:solidFill>
                        </a:defRPr>
                      </a:pPr>
                      <a:r>
                        <a:t>FPGA Pin Constraints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4-Bit Clock-Strobed Bus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6A34A"/>
                          </a:solidFill>
                        </a:defRPr>
                      </a:pPr>
                      <a:r>
                        <a:t>Saves 12 GPIO pins</a:t>
                      </a:r>
                    </a:p>
                  </a:txBody>
                  <a:tcPr/>
                </a:tc>
              </a:tr>
              <a:tr h="3895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DC2626"/>
                          </a:solidFill>
                        </a:defRPr>
                      </a:pPr>
                      <a:r>
                        <a:t>Network Outages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100% Autonomous Edge TinyML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6A34A"/>
                          </a:solidFill>
                        </a:defRPr>
                      </a:pPr>
                      <a:r>
                        <a:t>619-byte offline model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6263640" y="3822191"/>
            <a:ext cx="5303520" cy="2423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3822191"/>
            <a:ext cx="5303520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4. VALIDATION &amp; SCALABLE DEPLOYMENT ROADMAP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4187951"/>
            <a:ext cx="508406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919" b="1">
                <a:solidFill>
                  <a:srgbClr val="1E293B"/>
                </a:solidFill>
                <a:latin typeface="Arial"/>
              </a:defRPr>
            </a:pPr>
            <a:r>
              <a:t>• Phase 1: Lab Silicon Validation [COMPLETED]: </a:t>
            </a:r>
            <a:r>
              <a:rPr sz="880" b="0">
                <a:solidFill>
                  <a:srgbClr val="475569"/>
                </a:solidFill>
                <a:latin typeface="Arial"/>
              </a:rPr>
              <a:t>Hardware prototype tested on Renesas ForgeFPGA + ESP32-S3. Benchmarked on 16k+ MIMIC-III patient records (94.11% accuracy).</a:t>
            </a:r>
          </a:p>
          <a:p>
            <a:pPr>
              <a:spcBef>
                <a:spcPts val="300"/>
              </a:spcBef>
              <a:defRPr sz="919" b="1">
                <a:solidFill>
                  <a:srgbClr val="1E293B"/>
                </a:solidFill>
                <a:latin typeface="Arial"/>
              </a:defRPr>
            </a:pPr>
            <a:r>
              <a:t>• Phase 2: Pilot Field Deployment [NEAR-TERM]: </a:t>
            </a:r>
            <a:r>
              <a:rPr sz="880" b="0">
                <a:solidFill>
                  <a:srgbClr val="475569"/>
                </a:solidFill>
                <a:latin typeface="Arial"/>
              </a:rPr>
              <a:t>50-unit pilot trial targeting municipal sanitation workers, traffic police, and construction sites under 45°C heat.</a:t>
            </a:r>
          </a:p>
          <a:p>
            <a:pPr>
              <a:spcBef>
                <a:spcPts val="300"/>
              </a:spcBef>
              <a:defRPr sz="919" b="1">
                <a:solidFill>
                  <a:srgbClr val="1E293B"/>
                </a:solidFill>
                <a:latin typeface="Arial"/>
              </a:defRPr>
            </a:pPr>
            <a:r>
              <a:t>• Phase 3: Commercial Silicon Target [MASS SCALE]: </a:t>
            </a:r>
            <a:r>
              <a:rPr sz="880" b="0">
                <a:solidFill>
                  <a:srgbClr val="475569"/>
                </a:solidFill>
                <a:latin typeface="Arial"/>
              </a:rPr>
              <a:t>Direct migration of Verilog DSP to Qualcomm Hexagon DSP; TinyML deployed to Qualcomm NPU via Snapdragon Neural Processing SDK (SNPE).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28600"/>
            <a:ext cx="137160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  <a:br/>
            <a:r>
              <a:t>Chipsters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320040"/>
            <a:ext cx="8046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164592"/>
            <a:ext cx="1508760" cy="713232"/>
          </a:xfrm>
          <a:prstGeom prst="rect">
            <a:avLst/>
          </a:prstGeom>
        </p:spPr>
      </p:pic>
      <p:pic>
        <p:nvPicPr>
          <p:cNvPr id="5" name="Picture 4" descr="page_2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446520"/>
            <a:ext cx="12191695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49224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FFFFFF"/>
                </a:solidFill>
                <a:latin typeface="Arial"/>
              </a:defRPr>
            </a:pPr>
            <a:r>
              <a:t>@SIH Idea submission- Template                                                                                               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34440"/>
            <a:ext cx="516636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234440"/>
            <a:ext cx="5166360" cy="4114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🇮🇳 Potential Impact on Target Audience (India 2026)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691640"/>
            <a:ext cx="4800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☀️ 380+ Million Outdoor Laborers: </a:t>
            </a:r>
            <a:r>
              <a:rPr b="0">
                <a:solidFill>
                  <a:srgbClr val="475569"/>
                </a:solidFill>
              </a:rPr>
              <a:t>Protects construction workers, agricultural laborers, and delivery partners during 48°C heatwaves in Rajasthan, UP, and central India by warning 15-20 minutes before heat exhaustion collapse.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🌫️ Vulnerable Urban Populations (Delhi NCR): </a:t>
            </a:r>
            <a:r>
              <a:rPr b="0">
                <a:solidFill>
                  <a:srgbClr val="475569"/>
                </a:solidFill>
              </a:rPr>
              <a:t>Warns traffic police, elderly individuals, and asthmatic patients when micro-pocket PM2.5 exceeds safe autonomic cardiac thresholds during severe winter smog events.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🌊 Monsoon Flood Victims &amp; First Responders: </a:t>
            </a:r>
            <a:r>
              <a:rPr b="0">
                <a:solidFill>
                  <a:srgbClr val="475569"/>
                </a:solidFill>
              </a:rPr>
              <a:t>Detects cold-water immersion hyperventilation and hypothermia during power grid and mobile network blackouts in flood-hit urban zones (Mumbai, Chennai, Assam).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🏥 Low-Income Accessibility: </a:t>
            </a:r>
            <a:r>
              <a:rPr b="0">
                <a:solidFill>
                  <a:srgbClr val="475569"/>
                </a:solidFill>
              </a:rPr>
              <a:t>Brings high-grade clinical early warning monitoring to vulnerable daily-wage workers who cannot afford premium $400 consumer smartwatches.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34440"/>
            <a:ext cx="516636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234440"/>
            <a:ext cx="5166360" cy="4114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🌱 Benefits: Social, Economic &amp; Environmental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91640"/>
            <a:ext cx="4800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Social Benefits: </a:t>
            </a:r>
            <a:r>
              <a:rPr b="0">
                <a:solidFill>
                  <a:srgbClr val="475569"/>
                </a:solidFill>
              </a:rPr>
              <a:t>• Zero-cloud biometric privacy (health data stays on the user's wrist).
• Functions autonomously during disaster grid blackouts.
• Prevents emergency hospitalizations and permanent organ damage.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Economic Benefits: </a:t>
            </a:r>
            <a:r>
              <a:rPr b="0">
                <a:solidFill>
                  <a:srgbClr val="475569"/>
                </a:solidFill>
              </a:rPr>
              <a:t>• Sub-$15 bill of materials enables mass deployment by municipal bodies, police departments, and construction enterprises.
• Drastically cuts lost workdays and out-of-pocket emergency medical expenses for low-income families.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Environmental &amp; Public Health Benefits: </a:t>
            </a:r>
            <a:r>
              <a:rPr b="0">
                <a:solidFill>
                  <a:srgbClr val="475569"/>
                </a:solidFill>
              </a:rPr>
              <a:t>• Delivers hyper-local microclimate and air quality monitoring to guide targeted municipal disaster response and evacuation.
• Ultra-low-power &lt;5 mW micro-FPGA architecture extends battery longevity and minimizes electronic waste.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28600"/>
            <a:ext cx="137160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  <a:br/>
            <a:r>
              <a:t>Chipsters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320040"/>
            <a:ext cx="8046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RESEARCH AND REFERENCES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164592"/>
            <a:ext cx="1508760" cy="713232"/>
          </a:xfrm>
          <a:prstGeom prst="rect">
            <a:avLst/>
          </a:prstGeom>
        </p:spPr>
      </p:pic>
      <p:pic>
        <p:nvPicPr>
          <p:cNvPr id="5" name="Picture 4" descr="page_2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446520"/>
            <a:ext cx="12191695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49224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FFFFFF"/>
                </a:solidFill>
                <a:latin typeface="Arial"/>
              </a:defRPr>
            </a:pPr>
            <a:r>
              <a:t>@SIH Idea submission- Template                                                                                                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34440"/>
            <a:ext cx="516636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62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234440"/>
            <a:ext cx="5166360" cy="411480"/>
          </a:xfrm>
          <a:prstGeom prst="rect">
            <a:avLst/>
          </a:prstGeom>
          <a:solidFill>
            <a:srgbClr val="0B62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📚 Clinical &amp; Scientific Foundations (Peer-Reviewed)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691640"/>
            <a:ext cx="4800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Royal College of Physicians (UK): </a:t>
            </a:r>
            <a:r>
              <a:rPr b="0">
                <a:solidFill>
                  <a:srgbClr val="475569"/>
                </a:solidFill>
              </a:rPr>
              <a:t>National Early Warning Score (mNEWS2): Standardising the assessment of acute-illness severity in the NHS (respiratory, pulse &amp; SpO2 triage).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Prof. Daniel S. Moran (1998): </a:t>
            </a:r>
            <a:r>
              <a:rPr b="0">
                <a:solidFill>
                  <a:srgbClr val="475569"/>
                </a:solidFill>
              </a:rPr>
              <a:t>'An Evaluated Physiological Strain Index in Human Heat Stress', American Journal of Physiology (Heart Rate + Core Temperature cardio-thermal formula).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Prof. Robert D. Brook / AHA (2010): </a:t>
            </a:r>
            <a:r>
              <a:rPr b="0">
                <a:solidFill>
                  <a:srgbClr val="475569"/>
                </a:solidFill>
              </a:rPr>
              <a:t>'Particulate Matter Air Pollution and Cardiovascular Disease', Circulation (Scientific statement on PM2.5 autonomic vagal suppression).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R. G. Steadman (1979): </a:t>
            </a:r>
            <a:r>
              <a:rPr b="0">
                <a:solidFill>
                  <a:srgbClr val="475569"/>
                </a:solidFill>
              </a:rPr>
              <a:t>'The Assessment of Sultriness: Part I &amp; II', Journal of Applied Meteorology (Biometeorological formulation of the Steadman Heat Index).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Karlen et al. (2012) &amp; Elgendi (2016): </a:t>
            </a:r>
            <a:r>
              <a:rPr b="0">
                <a:solidFill>
                  <a:srgbClr val="475569"/>
                </a:solidFill>
              </a:rPr>
              <a:t>'Photoplethysmogram Signal Quality Estimation for Pulse Oximetry' (Automated SQI classification of optical pulse morphology).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34440"/>
            <a:ext cx="516636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234440"/>
            <a:ext cx="5166360" cy="4114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🔬 Datasets, Standards &amp; Commercial Deployment Target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91640"/>
            <a:ext cx="4800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MIT / PhysioNet MIMIC-III Database: </a:t>
            </a:r>
            <a:r>
              <a:rPr b="0">
                <a:solidFill>
                  <a:srgbClr val="475569"/>
                </a:solidFill>
              </a:rPr>
              <a:t>Medical Information Mart for Intensive Care v1.4: 16,387 gold-standard arterial hemodynamic records evaluated with 92.05% clinical concordance.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World Health Organization (WHO 2021): </a:t>
            </a:r>
            <a:r>
              <a:rPr b="0">
                <a:solidFill>
                  <a:srgbClr val="475569"/>
                </a:solidFill>
              </a:rPr>
              <a:t>WHO Global Air Quality Guidelines: Particulate matter (PM2.5) 24-hour and annual hazard threshold standards.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ARM AMBA AXI4-Lite Specification: </a:t>
            </a:r>
            <a:r>
              <a:rPr b="0">
                <a:solidFill>
                  <a:srgbClr val="475569"/>
                </a:solidFill>
              </a:rPr>
              <a:t>ARM IHI0022E: Interconnect standard for decoupled AW/W register channels and Write-1-to-Clear (W1C) interrupt status handling.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Qualcomm Snapdragon Wear Roadmap: </a:t>
            </a:r>
            <a:r>
              <a:rPr b="0">
                <a:solidFill>
                  <a:srgbClr val="475569"/>
                </a:solidFill>
              </a:rPr>
              <a:t>Architecture designed for migration to Snapdragon Wear W5+ Gen 1, mapping Verilog DSP to Hexagon™ Vector eXtensions (HVX) on the &lt;5 mW Low-Power Island.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EDA &amp; Synthesis Verification Tools: </a:t>
            </a:r>
            <a:r>
              <a:rPr b="0">
                <a:solidFill>
                  <a:srgbClr val="475569"/>
                </a:solidFill>
              </a:rPr>
              <a:t>AMD Xilinx Vivado ML v2022.2 (Timing Closure), Renesas ForgeFPGA Workshop, Icarus Verilog, GTKWave, GCC, ESP-IDF v5.x (FreeRTOS).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