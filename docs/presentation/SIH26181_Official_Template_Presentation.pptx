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2004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E3A8A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60020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920240"/>
            <a:ext cx="6858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Problem Statement ID - </a:t>
            </a:r>
            <a:r>
              <a:rPr b="0">
                <a:solidFill>
                  <a:srgbClr val="1E293B"/>
                </a:solidFill>
              </a:rPr>
              <a:t>26181</a:t>
            </a:r>
          </a:p>
          <a:p>
            <a:pPr>
              <a:spcAft>
                <a:spcPts val="1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Problem Statement Title - </a:t>
            </a:r>
            <a:r>
              <a:rPr b="0">
                <a:solidFill>
                  <a:srgbClr val="1E293B"/>
                </a:solidFill>
              </a:rPr>
              <a:t>AI-Powered Personal Health Companion &amp; Edge Disaster Monitor</a:t>
            </a:r>
          </a:p>
          <a:p>
            <a:pPr>
              <a:spcAft>
                <a:spcPts val="1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Theme - </a:t>
            </a:r>
            <a:r>
              <a:rPr b="0">
                <a:solidFill>
                  <a:srgbClr val="1E293B"/>
                </a:solidFill>
              </a:rPr>
              <a:t>MedTech</a:t>
            </a:r>
          </a:p>
          <a:p>
            <a:pPr>
              <a:spcAft>
                <a:spcPts val="1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PS Category - </a:t>
            </a:r>
            <a:r>
              <a:rPr b="0">
                <a:solidFill>
                  <a:srgbClr val="1E293B"/>
                </a:solidFill>
              </a:rPr>
              <a:t>Hardware</a:t>
            </a:r>
          </a:p>
          <a:p>
            <a:pPr>
              <a:spcAft>
                <a:spcPts val="1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Team ID - </a:t>
            </a:r>
            <a:r>
              <a:rPr b="0">
                <a:solidFill>
                  <a:srgbClr val="1E293B"/>
                </a:solidFill>
              </a:rPr>
              <a:t>01</a:t>
            </a:r>
          </a:p>
          <a:p>
            <a:pPr>
              <a:spcAft>
                <a:spcPts val="140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Team Name (Registered on portal) - </a:t>
            </a:r>
            <a:r>
              <a:rPr b="0">
                <a:solidFill>
                  <a:srgbClr val="1E293B"/>
                </a:solidFill>
              </a:rPr>
              <a:t>CHIPSTERS</a:t>
            </a:r>
          </a:p>
        </p:txBody>
      </p:sp>
      <p:pic>
        <p:nvPicPr>
          <p:cNvPr id="6" name="Picture 5" descr="page_1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645920"/>
            <a:ext cx="3931920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943600"/>
            <a:ext cx="6583680" cy="548640"/>
          </a:xfrm>
          <a:prstGeom prst="roundRect">
            <a:avLst/>
          </a:prstGeom>
          <a:solidFill>
            <a:srgbClr val="EEF2FF"/>
          </a:solidFill>
          <a:ln>
            <a:solidFill>
              <a:srgbClr val="0B62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Arial"/>
              </a:defRPr>
            </a:pPr>
            <a:r>
              <a:t>⚡ 20 ns FPGA Timing  |  🧠 91% INT8 TinyML  |  🏥 92% MIMIC-III Validated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28600"/>
            <a:ext cx="137160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  <a:br/>
            <a:r>
              <a:t>Chipsters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32004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IDEA TITLE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164592"/>
            <a:ext cx="1508760" cy="713232"/>
          </a:xfrm>
          <a:prstGeom prst="rect">
            <a:avLst/>
          </a:prstGeom>
        </p:spPr>
      </p:pic>
      <p:pic>
        <p:nvPicPr>
          <p:cNvPr id="5" name="Picture 4" descr="page_2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46520"/>
            <a:ext cx="1219169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49224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FFFFFF"/>
                </a:solidFill>
                <a:latin typeface="Arial"/>
              </a:defRPr>
            </a:pPr>
            <a:r>
              <a:t>@SIH Idea submission- Template                                                                                      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62A4"/>
                </a:solidFill>
                <a:latin typeface="Arial"/>
              </a:defRPr>
            </a:pPr>
            <a:r>
              <a:t>❖ Proposed Solution (Describe your Idea/Solution/Prototype)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5166360" cy="4023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600200"/>
            <a:ext cx="516636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❌ How Current Technology Fails During Disasters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57400"/>
            <a:ext cx="4800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Wearables Are Environmentally Blind: </a:t>
            </a:r>
            <a:r>
              <a:rPr b="0">
                <a:solidFill>
                  <a:srgbClr val="475569"/>
                </a:solidFill>
              </a:rPr>
              <a:t>Commercial smartwatches track fitness steps and resting heart rate, but have zero awareness if ambient air is toxic (AQI 500+) or if 48°C heat is causing heat exhaustion.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Environmental Sensors Ignore the Body: </a:t>
            </a:r>
            <a:r>
              <a:rPr b="0">
                <a:solidFill>
                  <a:srgbClr val="475569"/>
                </a:solidFill>
              </a:rPr>
              <a:t>Weather apps report regional city forecasts, not what an individual worker's cardiovascular system is actually enduring at street level.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The Cloud Dependency Trap: </a:t>
            </a:r>
            <a:r>
              <a:rPr b="0">
                <a:solidFill>
                  <a:srgbClr val="475569"/>
                </a:solidFill>
              </a:rPr>
              <a:t>Cloud AI health platforms require mobile networks. During floods, cyclones, or power grid failures, cellular towers collapse and cloud health apps die completely.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Software Jitter Destroys HRV: </a:t>
            </a:r>
            <a:r>
              <a:rPr b="0">
                <a:solidFill>
                  <a:srgbClr val="475569"/>
                </a:solidFill>
              </a:rPr>
              <a:t>Operating system scheduling delays on standard CPUs jitter by 5-20 ms, severely corrupting heart rate variability (HRV) metrics.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600200"/>
            <a:ext cx="5166360" cy="4023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600200"/>
            <a:ext cx="5166360" cy="4114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✅ EdgeGuard Proposed Solution &amp; Innovation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057400"/>
            <a:ext cx="4800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Detailed Solution Explanation: </a:t>
            </a:r>
            <a:r>
              <a:rPr b="0">
                <a:solidFill>
                  <a:srgbClr val="475569"/>
                </a:solidFill>
              </a:rPr>
              <a:t>Simultaneously acquires dual-wavelength optical PPG pulses along with hyper-local ambient temperature, relative humidity, and laser PM2.5 particulate matter on the wrist.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How It Addresses the Problem: </a:t>
            </a:r>
            <a:r>
              <a:rPr b="0">
                <a:solidFill>
                  <a:srgbClr val="475569"/>
                </a:solidFill>
              </a:rPr>
              <a:t>Fuses bodily vitals with environmental stress in real time to calculate cardiac drift and respiratory strain, surfacing cardiac strain and respiratory stress as it develops.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Hardware Innovation (FPGA Silicon): </a:t>
            </a:r>
            <a:r>
              <a:rPr b="0">
                <a:solidFill>
                  <a:srgbClr val="475569"/>
                </a:solidFill>
              </a:rPr>
              <a:t>Custom Verilog 8-tap filter runs on 50 MHz hardware with 20 ns cycle resolution, completely eliminating operating system jitter without DSP multipliers or BRAM.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Uniqueness &amp; Zero Cloud Dependency: </a:t>
            </a:r>
            <a:r>
              <a:rPr b="0">
                <a:solidFill>
                  <a:srgbClr val="475569"/>
                </a:solidFill>
              </a:rPr>
              <a:t>Quantized INT8 neural network fits into only 619 bytes of INT8 weights, providing 100% offline protection during infrastructure blackouts.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715000"/>
            <a:ext cx="10698480" cy="594360"/>
          </a:xfrm>
          <a:prstGeom prst="roundRect">
            <a:avLst/>
          </a:prstGeom>
          <a:solidFill>
            <a:srgbClr val="F0F9FF"/>
          </a:solidFill>
          <a:ln>
            <a:solidFill>
              <a:srgbClr val="0B62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B62A4"/>
                </a:solidFill>
                <a:latin typeface="Arial"/>
              </a:defRPr>
            </a:pPr>
            <a:r>
              <a:t>💡 Layman Core: An offline medical guardian that connects what's happening outside (disaster) with what's happening inside (your heart) — flagging risk before a person would notice symptoms.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28600"/>
            <a:ext cx="137160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  <a:br/>
            <a:r>
              <a:t>Chipsters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32004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164592"/>
            <a:ext cx="1508760" cy="713232"/>
          </a:xfrm>
          <a:prstGeom prst="rect">
            <a:avLst/>
          </a:prstGeom>
        </p:spPr>
      </p:pic>
      <p:pic>
        <p:nvPicPr>
          <p:cNvPr id="5" name="Picture 4" descr="page_2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46520"/>
            <a:ext cx="1219169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49224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FFFFFF"/>
                </a:solidFill>
                <a:latin typeface="Arial"/>
              </a:defRPr>
            </a:pPr>
            <a:r>
              <a:t>@SIH Idea submission- Template                                                                                           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B62A4"/>
                </a:solidFill>
                <a:latin typeface="Arial"/>
              </a:defRPr>
            </a:pPr>
            <a:r>
              <a:t>❖ Technologies Used &amp; Implementation Methodology (4-Stage Autonomous Dataflow)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25146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508760"/>
            <a:ext cx="2514600" cy="5943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Stage 01: Sensing</a:t>
            </a:r>
          </a:p>
          <a:p>
            <a:pPr algn="ctr">
              <a:defRPr sz="900">
                <a:solidFill>
                  <a:srgbClr val="E2E8F0"/>
                </a:solidFill>
              </a:defRPr>
            </a:pPr>
            <a:r>
              <a:t>Physical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2331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MAX30102 PPG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Dual Red &amp; IR optical pulse oximeter for arterial blood flow &amp; SpO2.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BME280 Climate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Ambient temperature &amp; relative humidity for Steadman Heat Index.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PMSA003 PM2.5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Laser scattering sensor measuring hazardous fine particulate smog.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5576" y="1508760"/>
            <a:ext cx="25146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65576" y="1508760"/>
            <a:ext cx="2514600" cy="594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Stage 02: FPGA RTL</a:t>
            </a:r>
          </a:p>
          <a:p>
            <a:pPr algn="ctr">
              <a:defRPr sz="900">
                <a:solidFill>
                  <a:srgbClr val="E2E8F0"/>
                </a:solidFill>
              </a:defRPr>
            </a:pPr>
            <a:r>
              <a:t>50 MHz Custom Silicon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7016" y="2148840"/>
            <a:ext cx="2331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Dual 8-Tap Filter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O(1) running-sum noise filter with bit-shift (&gt;&gt; 3). 0 DSP, 0 BRAM.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Systolic Peak FSM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4-state finite state machine with 250 ms refractory lock-out window.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20 ns Cycle Timer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Continuous 50 MHz cycle counter latching IBI with zero software jitter.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508760"/>
            <a:ext cx="25146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508760"/>
            <a:ext cx="2514600" cy="5943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Stage 03: Clinical AI</a:t>
            </a:r>
          </a:p>
          <a:p>
            <a:pPr algn="ctr">
              <a:defRPr sz="900">
                <a:solidFill>
                  <a:srgbClr val="E2E8F0"/>
                </a:solidFill>
              </a:defRPr>
            </a:pPr>
            <a:r>
              <a:t>On-Device TinyML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2148840"/>
            <a:ext cx="2331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mNEWS2 Engine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Royal College of Physicians clinical early warning triage protocol.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Karlen/Elgendi SQI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Signal Quality Index rejecting motion noise and false beats.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6→24→16→3 Model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619-parameter INT8 micro-network (88.47% synthetic validation accuracy).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33688" y="1508760"/>
            <a:ext cx="25146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33688" y="1508760"/>
            <a:ext cx="2514600" cy="5943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Stage 04: Edge Action</a:t>
            </a:r>
          </a:p>
          <a:p>
            <a:pPr algn="ctr">
              <a:defRPr sz="900">
                <a:solidFill>
                  <a:srgbClr val="E2E8F0"/>
                </a:solidFill>
              </a:defRPr>
            </a:pPr>
            <a:r>
              <a:t>Alerts &amp; Telemetry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5128" y="2148840"/>
            <a:ext cx="2331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Local OLED Display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128x64 display of live HR, SpO2, RR, and multi-hazard risk tiers.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Haptic Alarm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Vibration motor &amp; emergency buzzer for immediate worker evacuation.</a:t>
            </a:r>
          </a:p>
          <a:p>
            <a:pPr>
              <a:defRPr b="1" sz="1000">
                <a:solidFill>
                  <a:srgbClr val="1E293B"/>
                </a:solidFill>
                <a:latin typeface="Arial"/>
              </a:defRPr>
            </a:pPr>
            <a:r>
              <a:t>• WiFi / MQTT Mesh</a:t>
            </a:r>
          </a:p>
          <a:p>
            <a:pPr>
              <a:spcAft>
                <a:spcPts val="400"/>
              </a:spcAft>
              <a:defRPr sz="850">
                <a:solidFill>
                  <a:srgbClr val="475569"/>
                </a:solidFill>
                <a:latin typeface="Arial"/>
              </a:defRPr>
            </a:pPr>
            <a:r>
              <a:t>Optional emergency beacon broadcasting vitals to disaster rescue teams.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800600"/>
            <a:ext cx="1069848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62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waveform_snapsh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892040"/>
            <a:ext cx="3931920" cy="1325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937760" y="484632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Verified Cycle-Accurate Timing: </a:t>
            </a:r>
            <a:r>
              <a:rPr b="0">
                <a:solidFill>
                  <a:srgbClr val="475569"/>
                </a:solidFill>
              </a:rPr>
              <a:t>GTKWave trace proves O(1) noise filter convergence and systolic peak latching with 20 ns resolution.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Zero OS Scheduling Jitter: </a:t>
            </a:r>
            <a:r>
              <a:rPr b="0">
                <a:solidFill>
                  <a:srgbClr val="475569"/>
                </a:solidFill>
              </a:rPr>
              <a:t>Unlike software CPUs with 5-20 ms latency, the 50 MHz FPGA timer gives 100% medically reliable Heart Rate Variability (HRV).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Hardware Technologies: </a:t>
            </a:r>
            <a:r>
              <a:rPr b="0">
                <a:solidFill>
                  <a:srgbClr val="475569"/>
                </a:solidFill>
              </a:rPr>
              <a:t>Synthesizable Verilog-2001 (Renesas ForgeFPGA + Xilinx Zynq-7000), C99 bare-metal / FreeRTOS, INT8 TinyML, Win32 GDI GUI.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28600"/>
            <a:ext cx="137160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  <a:br/>
            <a:r>
              <a:t>Chipsters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32004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164592"/>
            <a:ext cx="1508760" cy="713232"/>
          </a:xfrm>
          <a:prstGeom prst="rect">
            <a:avLst/>
          </a:prstGeom>
        </p:spPr>
      </p:pic>
      <p:pic>
        <p:nvPicPr>
          <p:cNvPr id="5" name="Picture 4" descr="page_2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46520"/>
            <a:ext cx="1219169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49224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FFFFFF"/>
                </a:solidFill>
                <a:latin typeface="Arial"/>
              </a:defRPr>
            </a:pPr>
            <a:r>
              <a:t>@SIH Idea submission- Template                                                                                               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516636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62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234440"/>
            <a:ext cx="5166360" cy="411480"/>
          </a:xfrm>
          <a:prstGeom prst="rect">
            <a:avLst/>
          </a:prstGeom>
          <a:solidFill>
            <a:srgbClr val="0B62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📊 Feasibility Analysis: Hardware, Silicon &amp; Economics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91640"/>
            <a:ext cx="4800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Vendor-Agnostic Verilog RTL: </a:t>
            </a:r>
            <a:r>
              <a:rPr b="0">
                <a:solidFill>
                  <a:srgbClr val="475569"/>
                </a:solidFill>
              </a:rPr>
              <a:t>Identical synthesizable core Verilog runs on both AMD Xilinx (6-input LUT) and Renesas ForgeFPGA (5-input LUT) architectures without redesign.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Ultra-Low Silicon Footprint: </a:t>
            </a:r>
            <a:r>
              <a:rPr b="0">
                <a:solidFill>
                  <a:srgbClr val="475569"/>
                </a:solidFill>
              </a:rPr>
              <a:t>Synthesized on Renesas ForgeFPGA requiring 443 / 1120 LUT5s (39.6% logic utilization) with 0 DSP multipliers and 0 Block RAM.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Static Timing Closure (+5.603 ns WNS): </a:t>
            </a:r>
            <a:r>
              <a:rPr b="0">
                <a:solidFill>
                  <a:srgbClr val="475569"/>
                </a:solidFill>
              </a:rPr>
              <a:t>Baseline Zynq-7000 build, tag v1.0-zynq-SIH: +5.603 ns setup slack, 69.45 MHz Fmax against a 50 MHz target clock.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Economic Viability &amp; Bulk BOM: </a:t>
            </a:r>
            <a:r>
              <a:rPr b="0">
                <a:solidFill>
                  <a:srgbClr val="475569"/>
                </a:solidFill>
              </a:rPr>
              <a:t>• 12 line items: ForgeFPGA, ESP32-S3, 3 sensors, OLED
• Projected under $15 at 100k-unit volume (distributor estimates)
• No cloud, no subscription, no data plan
=&gt; Parts list: hardware/shrikefi/pcb/ BOM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16636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234440"/>
            <a:ext cx="5166360" cy="4114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🛡️ Potential Challenges, Risks &amp; Mitigation Strategies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91640"/>
            <a:ext cx="4800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Challenge 1: Motion &amp; Optical Noise: </a:t>
            </a:r>
            <a:r>
              <a:rPr b="0">
                <a:solidFill>
                  <a:srgbClr val="475569"/>
                </a:solidFill>
              </a:rPr>
              <a:t>Mitigation -&gt; Dual 8-tap running-sum digital filter on FPGA plus Karlen/Elgendi Signal Quality Index (SQI) algorithm automatically discards corrupted beats.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Challenge 2: Micro-FPGA Resource Limits: </a:t>
            </a:r>
            <a:r>
              <a:rPr b="0">
                <a:solidFill>
                  <a:srgbClr val="475569"/>
                </a:solidFill>
              </a:rPr>
              <a:t>Mitigation -&gt; Pure logic O(1) bit-shift division (&gt;&gt; 3) requires 0 DSP48 multipliers and 0 Block RAM, running on the lowest-cost micro-FPGAs.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Challenge 3: Grid &amp; Cellular Tower Outages: </a:t>
            </a:r>
            <a:r>
              <a:rPr b="0">
                <a:solidFill>
                  <a:srgbClr val="475569"/>
                </a:solidFill>
              </a:rPr>
              <a:t>Mitigation -&gt; Fully on-device offline TinyML; 619 bytes of INT8 weight storage. Operates autonomously during catastrophic floods and storms without internet.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Challenge 4: Clinical Real-World Accuracy: </a:t>
            </a:r>
            <a:r>
              <a:rPr b="0">
                <a:solidFill>
                  <a:srgbClr val="475569"/>
                </a:solidFill>
              </a:rPr>
              <a:t>Mitigation -&gt; Benchmarked against 16,387 gold-standard patient records from the MIT MIMIC-III ICU database (94.11% triage accuracy on real HR/SpO2 inputs).</a:t>
            </a:r>
          </a:p>
          <a:p>
            <a:pPr>
              <a:spcAft>
                <a:spcPts val="700"/>
              </a:spcAft>
              <a:defRPr b="1" sz="1100">
                <a:solidFill>
                  <a:srgbClr val="1E293B"/>
                </a:solidFill>
                <a:latin typeface="Arial"/>
              </a:defRPr>
            </a:pPr>
            <a:r>
              <a:t>• Commercial Roadmap Target: </a:t>
            </a:r>
            <a:r>
              <a:rPr b="0">
                <a:solidFill>
                  <a:srgbClr val="475569"/>
                </a:solidFill>
              </a:rPr>
              <a:t>Migration path identified to Qualcomm Snapdragon Wear W5+ Gen 1 Low-Power Island (target platform; power not yet measured).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28600"/>
            <a:ext cx="137160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  <a:br/>
            <a:r>
              <a:t>Chipsters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32004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164592"/>
            <a:ext cx="1508760" cy="713232"/>
          </a:xfrm>
          <a:prstGeom prst="rect">
            <a:avLst/>
          </a:prstGeom>
        </p:spPr>
      </p:pic>
      <p:pic>
        <p:nvPicPr>
          <p:cNvPr id="5" name="Picture 4" descr="page_2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46520"/>
            <a:ext cx="1219169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49224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FFFFFF"/>
                </a:solidFill>
                <a:latin typeface="Arial"/>
              </a:defRPr>
            </a:pPr>
            <a:r>
              <a:t>@SIH Idea submission- Template                                                                                               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2531059" cy="117043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B62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371600"/>
            <a:ext cx="2421331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B62A4"/>
                </a:solidFill>
                <a:latin typeface="Arial"/>
              </a:defRPr>
            </a:pPr>
            <a:r>
              <a:t>20 ns</a:t>
            </a:r>
          </a:p>
          <a:p>
            <a:pPr algn="ctr">
              <a:defRPr sz="900">
                <a:solidFill>
                  <a:srgbClr val="475569"/>
                </a:solidFill>
                <a:latin typeface="Arial"/>
              </a:defRPr>
            </a:pPr>
            <a:r>
              <a:t>beat-to-beat timing</a:t>
            </a:r>
            <a:br/>
            <a:r>
              <a:t>resolution (hardware)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3747" y="1280160"/>
            <a:ext cx="2531059" cy="117043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18611" y="1371600"/>
            <a:ext cx="2421331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C2626"/>
                </a:solidFill>
                <a:latin typeface="Arial"/>
              </a:defRPr>
            </a:pPr>
            <a:r>
              <a:t>94.11%</a:t>
            </a:r>
          </a:p>
          <a:p>
            <a:pPr algn="ctr">
              <a:defRPr sz="900">
                <a:solidFill>
                  <a:srgbClr val="475569"/>
                </a:solidFill>
                <a:latin typeface="Arial"/>
              </a:defRPr>
            </a:pPr>
            <a:r>
              <a:t>triage accuracy vs</a:t>
            </a:r>
            <a:br/>
            <a:r>
              <a:t>16,387 ICU records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974" y="1280160"/>
            <a:ext cx="2531059" cy="117043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0838" y="1371600"/>
            <a:ext cx="2421331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D9488"/>
                </a:solidFill>
                <a:latin typeface="Arial"/>
              </a:defRPr>
            </a:pPr>
            <a:r>
              <a:t>619 B</a:t>
            </a:r>
          </a:p>
          <a:p>
            <a:pPr algn="ctr">
              <a:defRPr sz="900">
                <a:solidFill>
                  <a:srgbClr val="475569"/>
                </a:solidFill>
                <a:latin typeface="Arial"/>
              </a:defRPr>
            </a:pPr>
            <a:r>
              <a:t>offline INT8 network</a:t>
            </a:r>
            <a:br/>
            <a:r>
              <a:t>(6 -&gt; 24 -&gt; 16 -&gt; 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28201" y="1280160"/>
            <a:ext cx="2531059" cy="117043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83065" y="1371600"/>
            <a:ext cx="2421331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Arial"/>
              </a:defRPr>
            </a:pPr>
            <a:r>
              <a:t>12</a:t>
            </a:r>
          </a:p>
          <a:p>
            <a:pPr algn="ctr">
              <a:defRPr sz="900">
                <a:solidFill>
                  <a:srgbClr val="475569"/>
                </a:solidFill>
                <a:latin typeface="Arial"/>
              </a:defRPr>
            </a:pPr>
            <a:r>
              <a:t>components in the</a:t>
            </a:r>
            <a:br/>
            <a:r>
              <a:t>entire wearable BOM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743200"/>
            <a:ext cx="3441801" cy="2487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2743200"/>
            <a:ext cx="3441801" cy="3657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SOCIAL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255264"/>
            <a:ext cx="3112617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Offline triage during network and grid blackouts.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Health data never leaves the device - no cloud, no phone.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4489" y="2743200"/>
            <a:ext cx="3441801" cy="2487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74489" y="2743200"/>
            <a:ext cx="3441801" cy="365760"/>
          </a:xfrm>
          <a:prstGeom prst="rect">
            <a:avLst/>
          </a:prstGeom>
          <a:solidFill>
            <a:srgbClr val="0B62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ECONOMIC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9081" y="3255264"/>
            <a:ext cx="3112617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12-component commodity BOM; no subscription.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No server, no data plan, no recurring cost.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7459" y="2743200"/>
            <a:ext cx="3441801" cy="2487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17459" y="2743200"/>
            <a:ext cx="3441801" cy="3657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ENVIRONMENTAL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2051" y="3255264"/>
            <a:ext cx="3112617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Zero-cloud: no data-centre or network load.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0 DSP and 0 BRAM in the FPGA fabric - pure logic.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449824"/>
            <a:ext cx="10725912" cy="603504"/>
          </a:xfrm>
          <a:prstGeom prst="roundRect">
            <a:avLst/>
          </a:prstGeom>
          <a:solidFill>
            <a:srgbClr val="1E3A8A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FFFFF"/>
                </a:solidFill>
                <a:latin typeface="Arial"/>
              </a:defRPr>
            </a:pPr>
            <a:r>
              <a:t>Implements the NHS early-warning score used in ICUs - running on a wrist, with no network.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28600"/>
            <a:ext cx="137160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  <a:br/>
            <a:r>
              <a:t>Chipsters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32004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164592"/>
            <a:ext cx="1508760" cy="713232"/>
          </a:xfrm>
          <a:prstGeom prst="rect">
            <a:avLst/>
          </a:prstGeom>
        </p:spPr>
      </p:pic>
      <p:pic>
        <p:nvPicPr>
          <p:cNvPr id="5" name="Picture 4" descr="page_2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46520"/>
            <a:ext cx="12191695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49224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FFFFFF"/>
                </a:solidFill>
                <a:latin typeface="Arial"/>
              </a:defRPr>
            </a:pPr>
            <a:r>
              <a:t>@SIH Idea submission- Template                                                                                               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234440"/>
          <a:ext cx="1072591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818120"/>
                <a:gridCol w="2907792"/>
              </a:tblGrid>
              <a:tr h="2743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REFERENCE  (paper, dataset or standard)</a:t>
                      </a:r>
                    </a:p>
                  </a:txBody>
                  <a:tcPr>
                    <a:solidFill>
                      <a:srgbClr val="0B62A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IMPLEMENTED IN</a:t>
                      </a:r>
                    </a:p>
                  </a:txBody>
                  <a:tcPr>
                    <a:solidFill>
                      <a:srgbClr val="0B62A4"/>
                    </a:solidFill>
                  </a:tcPr>
                </a:tc>
              </a:tr>
              <a:tr h="274320">
                <a:tc gridSpan="2"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CLINICAL &amp; PHYSIOLOGICAL FOUNDATIONS  (peer-reviewed)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RCP (2017)  NEWS2: National Early Warning Score 2 - NHS acute-illness severity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475569"/>
                          </a:solidFill>
                          <a:latin typeface="Consolas"/>
                        </a:defRPr>
                      </a:pPr>
                      <a:r>
                        <a:t>clinical_vitals_engine.c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Moran DS et al. (1998)  A physiological strain index to evaluate heat stress - Am J Physiol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475569"/>
                          </a:solidFill>
                          <a:latin typeface="Consolas"/>
                        </a:defRPr>
                      </a:pPr>
                      <a:r>
                        <a:t>disaster_risk_engine.c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Brook RD et al. / AHA (2010)  Particulate matter air pollution and cardiovascular disease - Circulation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475569"/>
                          </a:solidFill>
                          <a:latin typeface="Consolas"/>
                        </a:defRPr>
                      </a:pPr>
                      <a:r>
                        <a:t>disaster_risk_engine.c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Steadman RG (1979)  The assessment of sultriness, Parts I &amp; II - J Appl Meteorol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475569"/>
                          </a:solidFill>
                          <a:latin typeface="Consolas"/>
                        </a:defRPr>
                      </a:pPr>
                      <a:r>
                        <a:t>disaster_risk_engine.c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Karlen W et al. (2012)  PPG signal quality estimation using repeated Gaussian filters - Physiol Meas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475569"/>
                          </a:solidFill>
                          <a:latin typeface="Consolas"/>
                        </a:defRPr>
                      </a:pPr>
                      <a:r>
                        <a:t>ppg_sqi.c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Elgendi M (2016)  Optimal signal quality index for photoplethysmogram signals - Bioengineering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475569"/>
                          </a:solidFill>
                          <a:latin typeface="Consolas"/>
                        </a:defRPr>
                      </a:pPr>
                      <a:r>
                        <a:t>ppg_sqi.c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Charlton PH et al. (2018)  Breathing rate estimation from the ECG and PPG - IEEE Rev Biomed Eng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475569"/>
                          </a:solidFill>
                          <a:latin typeface="Consolas"/>
                        </a:defRPr>
                      </a:pPr>
                      <a:r>
                        <a:t>ppg_respiratory_rate.c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Si M et al. (2019)  Low-cost particle sensor calibration using machine learning - Atmos Meas Tech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475569"/>
                          </a:solidFill>
                          <a:latin typeface="Consolas"/>
                        </a:defRPr>
                      </a:pPr>
                      <a:r>
                        <a:t>pm25_calibration_int8.c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 gridSpan="2"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DATASETS &amp; STANDARDS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Johnson AEW et al. (2016)  MIMIC-III, a freely accessible critical care database - Sci Data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475569"/>
                          </a:solidFill>
                          <a:latin typeface="Consolas"/>
                        </a:defRPr>
                      </a:pPr>
                      <a:r>
                        <a:t>data/mimic/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WHO (2021)  Global air quality guidelines: PM2.5 hazard thresholds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475569"/>
                          </a:solidFill>
                          <a:latin typeface="Consolas"/>
                        </a:defRPr>
                      </a:pPr>
                      <a:r>
                        <a:t>disaster_risk_engine.c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ARM  AMBA AXI and ACE Protocol Specification (AXI4-Lite)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475569"/>
                          </a:solidFill>
                          <a:latin typeface="Consolas"/>
                        </a:defRPr>
                      </a:pPr>
                      <a:r>
                        <a:t>axi_ppg_accelerator.v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5742432"/>
            <a:ext cx="107259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Arial"/>
              </a:defRPr>
            </a:pPr>
            <a:r>
              <a:t>Every reference above maps to a file in this repository - these were implemented, not just cited.</a:t>
            </a:r>
          </a:p>
          <a:p>
            <a:pPr>
              <a:defRPr sz="800">
                <a:solidFill>
                  <a:srgbClr val="475569"/>
                </a:solidFill>
                <a:latin typeface="Arial"/>
              </a:defRPr>
            </a:pPr>
            <a:r>
              <a:t>Toolchain (how it was built, not a reference): Vivado ML 2026.1  |  Renesas ForgeFPGA Workshop v6.55  |  Icarus Verilog  |  GTKWave  |  GCC  |  ESP-IDF v5.5.5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