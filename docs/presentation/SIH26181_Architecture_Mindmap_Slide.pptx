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SHRIKEFI SYSTEM ARCHITECTURE &amp; DATA FLOW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End-to-End Edge Pipeline: Sensor Acquisition -&gt; 50 MHz FPGA Filtering -&gt; Clinical TinyML -&gt; Autonomous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23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23160" cy="914400"/>
          </a:xfrm>
          <a:prstGeom prst="rect">
            <a:avLst/>
          </a:prstGeom>
          <a:solidFill>
            <a:srgbClr val="1D63ED"/>
          </a:solidFill>
          <a:ln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01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Sensing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D63ED"/>
                </a:solidFill>
                <a:latin typeface="Arial"/>
              </a:defRPr>
            </a:pPr>
            <a:r>
              <a:t>PHYSICAL DATA ACQUISITION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057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MAX30102 PPG Sensor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Dual Red &amp; IR optical pulse oximeter measuring pulsatile arterial blood flow and SpO2 levels.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BME280 Climate Sensor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Calibrated digital sensor measuring ambient temperature, humidity &amp; barometric pressure.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PMSA003 PM2.5 Sensor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Laser scattering particulate sensor measuring hazardous airborne PM1.0, PM2.5, and PM10.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91256" y="347472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2563EB"/>
                </a:solidFill>
                <a:latin typeface="Arial"/>
              </a:defRPr>
            </a:pPr>
            <a:r>
              <a:t>I2C / UART</a:t>
            </a:r>
            <a:br/>
            <a:r>
              <a:t>Raw ADC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63040"/>
            <a:ext cx="2423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463040"/>
            <a:ext cx="242316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02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FPGA RTL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F766E"/>
                </a:solidFill>
                <a:latin typeface="Arial"/>
              </a:defRPr>
            </a:pPr>
            <a:r>
              <a:t>50 MHZ CUSTOM SILICON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2743200"/>
            <a:ext cx="2057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Dual 8-Tap Filter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O(1) running-sum MA noise filter with bit-shift division (&gt;&gt; 3). Consumes 0 DSP slices and 0 BRAM.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Systolic Peak FSM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4-state finite state machine with a 250 ms refractory lock-out window preventing false dicrotic double-peaks.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20 ns Cycle Timer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Continuous 50 MHz cycle counter latching inter-beat intervals (IBI) with 0 software jitter.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347472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2563EB"/>
                </a:solidFill>
                <a:latin typeface="Arial"/>
              </a:defRPr>
            </a:pPr>
            <a:r>
              <a:t>4-Bit Link</a:t>
            </a:r>
            <a:br/>
            <a:r>
              <a:t>20ns IBI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463040"/>
            <a:ext cx="2423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63040"/>
            <a:ext cx="2423160" cy="9144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03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Clinical TinyML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4F46E5"/>
                </a:solidFill>
                <a:latin typeface="Arial"/>
              </a:defRPr>
            </a:pPr>
            <a:r>
              <a:t>ESP32-S3 DUAL-CORE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2743200"/>
            <a:ext cx="2057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mNEWS2 Triage Engine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Royal College of Physicians early warning clinical triage protocol for acute vital deterioration.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Karlen / Elgendi SQI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Multi-parameter Signal Quality Index evaluating skewness &amp; perfusion, rejecting motion artifacts.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6-&gt;24-&gt;16-&gt;3 Model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619-parameter INT8 neural net; 94.11% MIMIC-III benchmarked with Absolute Crisis Override safety.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3474720"/>
            <a:ext cx="274320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2563EB"/>
                </a:solidFill>
                <a:latin typeface="Arial"/>
              </a:defRPr>
            </a:pPr>
            <a:r>
              <a:t>Vitals Sync</a:t>
            </a:r>
            <a:br/>
            <a:r>
              <a:t>Risk Tiers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1463040"/>
            <a:ext cx="2423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3416" y="1463040"/>
            <a:ext cx="2423160" cy="914400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04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Output &amp;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C2410C"/>
                </a:solidFill>
                <a:latin typeface="Arial"/>
              </a:defRPr>
            </a:pPr>
            <a:r>
              <a:t>EDGE ALERTS &amp; TELEMETRY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2743200"/>
            <a:ext cx="2057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OLED Local Display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128x64 high-contrast zero-latency screen showing real-time HR, SpO2, RR, and threat tiers.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WiFi / MQTT Telemetry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Secure real-time bidirectional telemetry streaming to hospital command and IoT backends.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60 FPS Win32 GUI</a:t>
            </a:r>
          </a:p>
          <a:p>
            <a:pPr>
              <a:spcAft>
                <a:spcPts val="400"/>
              </a:spcAft>
              <a:defRPr sz="800">
                <a:solidFill>
                  <a:srgbClr val="475569"/>
                </a:solidFill>
                <a:latin typeface="Arial"/>
              </a:defRPr>
            </a:pPr>
            <a:r>
              <a:t>  Hardware-accelerated GDI desktop oscilloscope for multi-sensor waveforms and live telemetry.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CORE BENCHMARKS:  50 MHz FPGA Clock (20 ns IBI)  |  0 DSP / 0 BRAM RTL  |  94.11% MIMIC-III Clinical Accuracy  |  Sub-5ms Triage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SHRIKEFI SYSTEM ARCHITECTURE &amp; DATA FLOW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End-to-End Edge Pipeline: Sensor Acquisition -&gt; 50 MHz FPGA Filtering -&gt; Clinical TinyML -&gt; Autonomous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23160" cy="475488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23160" cy="914400"/>
          </a:xfrm>
          <a:prstGeom prst="rect">
            <a:avLst/>
          </a:prstGeom>
          <a:solidFill>
            <a:srgbClr val="1D63ED"/>
          </a:solidFill>
          <a:ln>
            <a:solidFill>
              <a:srgbClr val="1D6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01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Sensing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D63ED"/>
                </a:solidFill>
                <a:latin typeface="Arial"/>
              </a:defRPr>
            </a:pPr>
            <a:r>
              <a:t>PHYSICAL DATA ACQUISITION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2057400" cy="19050"/>
          </a:xfrm>
          <a:prstGeom prst="rect">
            <a:avLst/>
          </a:prstGeom>
          <a:solidFill>
            <a:srgbClr val="22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MAX30102 PPG Sensor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Dual Red &amp; IR optical pulse oximeter measuring pulsatile arterial blood flow and SpO2 levels.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BME280 Climate Sensor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Calibrated digital sensor measuring ambient temperature, humidity &amp; barometric pressure.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PMSA003 PM2.5 Sensor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Laser scattering particulate sensor measuring hazardous airborne PM1.0, PM2.5, and PM10.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91256" y="3474720"/>
            <a:ext cx="27432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6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8BDF8"/>
                </a:solidFill>
                <a:latin typeface="Arial"/>
              </a:defRPr>
            </a:pPr>
            <a:r>
              <a:t>I2C / UART</a:t>
            </a:r>
            <a:br/>
            <a:r>
              <a:t>Raw ADC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63040"/>
            <a:ext cx="2423160" cy="475488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463040"/>
            <a:ext cx="2423160" cy="9144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02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FPGA RTL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F766E"/>
                </a:solidFill>
                <a:latin typeface="Arial"/>
              </a:defRPr>
            </a:pPr>
            <a:r>
              <a:t>50 MHZ CUSTOM SILICON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2743200"/>
            <a:ext cx="2057400" cy="19050"/>
          </a:xfrm>
          <a:prstGeom prst="rect">
            <a:avLst/>
          </a:prstGeom>
          <a:solidFill>
            <a:srgbClr val="22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Dual 8-Tap Filter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O(1) running-sum MA noise filter with bit-shift division (&gt;&gt; 3). Consumes 0 DSP slices and 0 BRAM.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Systolic Peak FSM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4-state finite state machine with a 250 ms refractory lock-out window preventing false dicrotic double-peaks.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20 ns Cycle Timer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Continuous 50 MHz cycle counter latching inter-beat intervals (IBI) with 0 software jitter.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3474720"/>
            <a:ext cx="27432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8BDF8"/>
                </a:solidFill>
                <a:latin typeface="Arial"/>
              </a:defRPr>
            </a:pPr>
            <a:r>
              <a:t>4-Bit Link</a:t>
            </a:r>
            <a:br/>
            <a:r>
              <a:t>20ns IBI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463040"/>
            <a:ext cx="2423160" cy="475488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463040"/>
            <a:ext cx="2423160" cy="9144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03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Clinical TinyML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4F46E5"/>
                </a:solidFill>
                <a:latin typeface="Arial"/>
              </a:defRPr>
            </a:pPr>
            <a:r>
              <a:t>ESP32-S3 DUAL-CORE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2743200"/>
            <a:ext cx="2057400" cy="19050"/>
          </a:xfrm>
          <a:prstGeom prst="rect">
            <a:avLst/>
          </a:prstGeom>
          <a:solidFill>
            <a:srgbClr val="22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mNEWS2 Triage Engine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Royal College of Physicians early warning clinical triage protocol for acute vital deterioration.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Karlen / Elgendi SQI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Multi-parameter Signal Quality Index evaluating skewness &amp; perfusion, rejecting motion artifacts.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6-&gt;24-&gt;16-&gt;3 Model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619-parameter INT8 neural net; 94.11% MIMIC-III benchmarked with Absolute Crisis Override safety.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3474720"/>
            <a:ext cx="274320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38BDF8"/>
                </a:solidFill>
                <a:latin typeface="Arial"/>
              </a:defRPr>
            </a:pPr>
            <a:r>
              <a:t>Vitals Sync</a:t>
            </a:r>
            <a:br/>
            <a:r>
              <a:t>Risk Tiers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1463040"/>
            <a:ext cx="2423160" cy="475488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3416" y="1463040"/>
            <a:ext cx="2423160" cy="914400"/>
          </a:xfrm>
          <a:prstGeom prst="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STAGE 04</a:t>
            </a:r>
          </a:p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Output &amp;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423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C2410C"/>
                </a:solidFill>
                <a:latin typeface="Arial"/>
              </a:defRPr>
            </a:pPr>
            <a:r>
              <a:t>EDGE ALERTS &amp; TELEMETRY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2743200"/>
            <a:ext cx="2057400" cy="19050"/>
          </a:xfrm>
          <a:prstGeom prst="rect">
            <a:avLst/>
          </a:prstGeom>
          <a:solidFill>
            <a:srgbClr val="22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2788920"/>
            <a:ext cx="220370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OLED Local Display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128x64 high-contrast zero-latency screen showing real-time HR, SpO2, RR, and threat tiers.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WiFi / MQTT Telemetry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Secure real-time bidirectional telemetry streaming to hospital command and IoT backends.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Arial"/>
              </a:defRPr>
            </a:pPr>
            <a:r>
              <a:t>• 60 FPS Win32 GUI</a:t>
            </a:r>
          </a:p>
          <a:p>
            <a:pPr>
              <a:spcAft>
                <a:spcPts val="400"/>
              </a:spcAft>
              <a:defRPr sz="800">
                <a:solidFill>
                  <a:srgbClr val="94A3B8"/>
                </a:solidFill>
                <a:latin typeface="Arial"/>
              </a:defRPr>
            </a:pPr>
            <a:r>
              <a:t>  Hardware-accelerated GDI desktop oscilloscope for multi-sensor waveforms and live telemetry.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Arial"/>
              </a:defRPr>
            </a:pPr>
            <a:r>
              <a:t>CORE BENCHMARKS:  50 MHz FPGA Clock (20 ns IBI)  |  0 DSP / 0 BRAM RTL  |  94.11% MIMIC-III Clinical Accuracy  |  Sub-5ms Triage Latency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