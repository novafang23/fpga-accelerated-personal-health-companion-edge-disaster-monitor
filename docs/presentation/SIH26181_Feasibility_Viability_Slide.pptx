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182880"/>
            <a:ext cx="137160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Team</a:t>
            </a:r>
            <a:br/>
            <a:r>
              <a:t>Chipsters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01168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pic>
        <p:nvPicPr>
          <p:cNvPr id="5" name="Picture 4" descr="page_1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64592"/>
            <a:ext cx="1508760" cy="713232"/>
          </a:xfrm>
          <a:prstGeom prst="rect">
            <a:avLst/>
          </a:prstGeom>
        </p:spPr>
      </p:pic>
      <p:pic>
        <p:nvPicPr>
          <p:cNvPr id="6" name="Picture 5" descr="page_2_img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46520"/>
            <a:ext cx="12191695" cy="411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649224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15568"/>
            <a:ext cx="5303520" cy="2423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0B6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115568"/>
            <a:ext cx="5303520" cy="347472"/>
          </a:xfrm>
          <a:prstGeom prst="rect">
            <a:avLst/>
          </a:prstGeom>
          <a:solidFill>
            <a:srgbClr val="0B62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1. TECHNICAL &amp; SILICON FEASIBILITY (PROVEN IN RTL)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481328"/>
            <a:ext cx="50840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19" b="1">
                <a:solidFill>
                  <a:srgbClr val="0F172A"/>
                </a:solidFill>
                <a:latin typeface="Arial"/>
              </a:defRPr>
            </a:pPr>
            <a:r>
              <a:t>• Pure-Logic RTL (Zero DSP / 0 BRAM): </a:t>
            </a:r>
            <a:r>
              <a:rPr sz="880" b="0">
                <a:solidFill>
                  <a:srgbClr val="475569"/>
                </a:solidFill>
                <a:latin typeface="Arial"/>
              </a:rPr>
              <a:t>Eliminates high-cost FPGA components; synthesizes entirely into standard LUT logic.</a:t>
            </a:r>
          </a:p>
          <a:p>
            <a:pPr>
              <a:spcBef>
                <a:spcPts val="300"/>
              </a:spcBef>
              <a:defRPr sz="919" b="1">
                <a:solidFill>
                  <a:srgbClr val="0F172A"/>
                </a:solidFill>
                <a:latin typeface="Arial"/>
              </a:defRPr>
            </a:pPr>
            <a:r>
              <a:t>• Minimal Silicon Utilization: </a:t>
            </a:r>
            <a:r>
              <a:rPr sz="880" b="0">
                <a:solidFill>
                  <a:srgbClr val="475569"/>
                </a:solidFill>
                <a:latin typeface="Arial"/>
              </a:rPr>
              <a:t>Consumes only ~40% LUT5s and ~30% flip-flops on ultra-low-cost Renesas ForgeFPGA (SLG47910C).</a:t>
            </a:r>
          </a:p>
          <a:p>
            <a:pPr>
              <a:spcBef>
                <a:spcPts val="300"/>
              </a:spcBef>
              <a:defRPr sz="919" b="1">
                <a:solidFill>
                  <a:srgbClr val="0F172A"/>
                </a:solidFill>
                <a:latin typeface="Arial"/>
              </a:defRPr>
            </a:pPr>
            <a:r>
              <a:t>• Multi-Vendor Code Portability: </a:t>
            </a:r>
            <a:r>
              <a:rPr sz="880" b="0">
                <a:solidFill>
                  <a:srgbClr val="475569"/>
                </a:solidFill>
                <a:latin typeface="Arial"/>
              </a:rPr>
              <a:t>Identical synthesizable Verilog compiles seamlessly on AMD Xilinx (6-LUT) and Renesas (5-LUT).</a:t>
            </a:r>
          </a:p>
          <a:p>
            <a:pPr>
              <a:spcBef>
                <a:spcPts val="300"/>
              </a:spcBef>
              <a:defRPr sz="919" b="1">
                <a:solidFill>
                  <a:srgbClr val="0F172A"/>
                </a:solidFill>
                <a:latin typeface="Arial"/>
              </a:defRPr>
            </a:pPr>
            <a:r>
              <a:t>• Static Timing Closure (+5.603 ns WNS): </a:t>
            </a:r>
            <a:r>
              <a:rPr sz="880" b="0">
                <a:solidFill>
                  <a:srgbClr val="475569"/>
                </a:solidFill>
                <a:latin typeface="Arial"/>
              </a:rPr>
              <a:t>Validated in Vivado ML at 50 MHz clock; verified operational ceiling of 69.45 MHz.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15568"/>
            <a:ext cx="5303520" cy="2423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115568"/>
            <a:ext cx="5303520" cy="347472"/>
          </a:xfrm>
          <a:prstGeom prst="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2. FINANCIAL &amp; COMMERCIAL VIABILITY (UNIT ECONOMICS)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481328"/>
            <a:ext cx="50840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19" b="1">
                <a:solidFill>
                  <a:srgbClr val="0F172A"/>
                </a:solidFill>
                <a:latin typeface="Arial"/>
              </a:defRPr>
            </a:pPr>
            <a:r>
              <a:t>• Prototype Single-Unit BOM: </a:t>
            </a:r>
            <a:r>
              <a:rPr sz="880" b="0">
                <a:solidFill>
                  <a:srgbClr val="475569"/>
                </a:solidFill>
                <a:latin typeface="Arial"/>
              </a:rPr>
              <a:t>₹3,500 (~$40 retail) for custom FPGA carrier + ESP32-S3 + multi-sensor cluster.</a:t>
            </a:r>
          </a:p>
          <a:p>
            <a:pPr>
              <a:spcBef>
                <a:spcPts val="300"/>
              </a:spcBef>
              <a:defRPr sz="919" b="1">
                <a:solidFill>
                  <a:srgbClr val="0F172A"/>
                </a:solidFill>
                <a:latin typeface="Arial"/>
              </a:defRPr>
            </a:pPr>
            <a:r>
              <a:t>• Mass-Production Bulk Target (&lt;$18 / ₹1,450): </a:t>
            </a:r>
            <a:r>
              <a:rPr sz="880" b="0">
                <a:solidFill>
                  <a:srgbClr val="475569"/>
                </a:solidFill>
                <a:latin typeface="Arial"/>
              </a:rPr>
              <a:t>Micro-FPGA ($1.80) + ESP32 ($2.20) + Sensors ($5.80) + Battery/Enclosure ($4.20).</a:t>
            </a:r>
          </a:p>
          <a:p>
            <a:pPr>
              <a:spcBef>
                <a:spcPts val="300"/>
              </a:spcBef>
              <a:defRPr sz="919" b="1">
                <a:solidFill>
                  <a:srgbClr val="0F172A"/>
                </a:solidFill>
                <a:latin typeface="Arial"/>
              </a:defRPr>
            </a:pPr>
            <a:r>
              <a:t>• Zero Ongoing Cloud Cost: </a:t>
            </a:r>
            <a:r>
              <a:rPr sz="880" b="0">
                <a:solidFill>
                  <a:srgbClr val="475569"/>
                </a:solidFill>
                <a:latin typeface="Arial"/>
              </a:rPr>
              <a:t>100% on-device TinyML edge execution = ₹0 cloud server or API subscription cost per user.</a:t>
            </a:r>
          </a:p>
          <a:p>
            <a:pPr>
              <a:spcBef>
                <a:spcPts val="300"/>
              </a:spcBef>
              <a:defRPr sz="919" b="1">
                <a:solidFill>
                  <a:srgbClr val="0F172A"/>
                </a:solidFill>
                <a:latin typeface="Arial"/>
              </a:defRPr>
            </a:pPr>
            <a:r>
              <a:t>• 95% Cost Reduction vs Wearables: </a:t>
            </a:r>
            <a:r>
              <a:rPr sz="880" b="0">
                <a:solidFill>
                  <a:srgbClr val="475569"/>
                </a:solidFill>
                <a:latin typeface="Arial"/>
              </a:rPr>
              <a:t>Delivers hospital-grade mNEWS2 triage at ₹1,450 vs commercial monitors at ₹25k–₹40k.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822191"/>
            <a:ext cx="5303520" cy="2423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822191"/>
            <a:ext cx="5303520" cy="34747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3. OPERATIONAL CHALLENGES &amp; MITIGATION MATRIX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85800" y="4224527"/>
          <a:ext cx="5120640" cy="1947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1463040"/>
              </a:tblGrid>
              <a:tr h="389534">
                <a:tc>
                  <a:txBody>
                    <a:bodyPr/>
                    <a:lstStyle/>
                    <a:p>
                      <a:pPr>
                        <a:defRPr b="1" sz="819">
                          <a:solidFill>
                            <a:srgbClr val="0F172A"/>
                          </a:solidFill>
                        </a:defRPr>
                      </a:pPr>
                      <a:r>
                        <a:t>Operational Challenge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19">
                          <a:solidFill>
                            <a:srgbClr val="0F172A"/>
                          </a:solidFill>
                        </a:defRPr>
                      </a:pPr>
                      <a:r>
                        <a:t>Engineering Mitigation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19">
                          <a:solidFill>
                            <a:srgbClr val="0F172A"/>
                          </a:solidFill>
                        </a:defRPr>
                      </a:pPr>
                      <a:r>
                        <a:t>Proven Result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953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DC2626"/>
                          </a:solidFill>
                        </a:defRPr>
                      </a:pPr>
                      <a:r>
                        <a:t>PPG Motion Artifacts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8-Tap MA Filter + Peak FSM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0956A"/>
                          </a:solidFill>
                        </a:defRPr>
                      </a:pPr>
                      <a:r>
                        <a:t>250ms refractory lockout</a:t>
                      </a:r>
                    </a:p>
                  </a:txBody>
                  <a:tcPr/>
                </a:tc>
              </a:tr>
              <a:tr h="38953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DC2626"/>
                          </a:solidFill>
                        </a:defRPr>
                      </a:pPr>
                      <a:r>
                        <a:t>Micro-FPGA 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O(1) Bit-Shift Division (&gt;&gt;3)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0956A"/>
                          </a:solidFill>
                        </a:defRPr>
                      </a:pPr>
                      <a:r>
                        <a:t>0 DSP, 0 BRAM used</a:t>
                      </a:r>
                    </a:p>
                  </a:txBody>
                  <a:tcPr/>
                </a:tc>
              </a:tr>
              <a:tr h="38953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DC2626"/>
                          </a:solidFill>
                        </a:defRPr>
                      </a:pPr>
                      <a:r>
                        <a:t>FPGA Pin Constraints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4-Bit Clock-Strobed 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0956A"/>
                          </a:solidFill>
                        </a:defRPr>
                      </a:pPr>
                      <a:r>
                        <a:t>Saves 12 GPIO pins</a:t>
                      </a:r>
                    </a:p>
                  </a:txBody>
                  <a:tcPr/>
                </a:tc>
              </a:tr>
              <a:tr h="3895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DC2626"/>
                          </a:solidFill>
                        </a:defRPr>
                      </a:pPr>
                      <a:r>
                        <a:t>Network Outages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100% Autonomous Edge TinyML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0956A"/>
                          </a:solidFill>
                        </a:defRPr>
                      </a:pPr>
                      <a:r>
                        <a:t>619-byte offline model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6263640" y="3822191"/>
            <a:ext cx="5303520" cy="2423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822191"/>
            <a:ext cx="530352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4. VALIDATION &amp; SCALABLE DEPLOYMENT ROADMAP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187951"/>
            <a:ext cx="50840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19" b="1">
                <a:solidFill>
                  <a:srgbClr val="0F172A"/>
                </a:solidFill>
                <a:latin typeface="Arial"/>
              </a:defRPr>
            </a:pPr>
            <a:r>
              <a:t>• Phase 1: Lab Silicon Validation [COMPLETED]: </a:t>
            </a:r>
            <a:r>
              <a:rPr sz="880" b="0">
                <a:solidFill>
                  <a:srgbClr val="475569"/>
                </a:solidFill>
                <a:latin typeface="Arial"/>
              </a:rPr>
              <a:t>Hardware prototype tested on Renesas ForgeFPGA + ESP32-S3. Benchmarked on 16k+ MIMIC-III patient records (94.11% accuracy).</a:t>
            </a:r>
          </a:p>
          <a:p>
            <a:pPr>
              <a:spcBef>
                <a:spcPts val="300"/>
              </a:spcBef>
              <a:defRPr sz="919" b="1">
                <a:solidFill>
                  <a:srgbClr val="0F172A"/>
                </a:solidFill>
                <a:latin typeface="Arial"/>
              </a:defRPr>
            </a:pPr>
            <a:r>
              <a:t>• Phase 2: Pilot Field Deployment [NEAR-TERM]: </a:t>
            </a:r>
            <a:r>
              <a:rPr sz="880" b="0">
                <a:solidFill>
                  <a:srgbClr val="475569"/>
                </a:solidFill>
                <a:latin typeface="Arial"/>
              </a:rPr>
              <a:t>50-unit pilot trial targeting municipal sanitation workers, traffic police, and construction sites under 45°C heat.</a:t>
            </a:r>
          </a:p>
          <a:p>
            <a:pPr>
              <a:spcBef>
                <a:spcPts val="300"/>
              </a:spcBef>
              <a:defRPr sz="919" b="1">
                <a:solidFill>
                  <a:srgbClr val="0F172A"/>
                </a:solidFill>
                <a:latin typeface="Arial"/>
              </a:defRPr>
            </a:pPr>
            <a:r>
              <a:t>• Phase 3: Commercial Silicon Target [MASS SCALE]: </a:t>
            </a:r>
            <a:r>
              <a:rPr sz="880" b="0">
                <a:solidFill>
                  <a:srgbClr val="475569"/>
                </a:solidFill>
                <a:latin typeface="Arial"/>
              </a:rPr>
              <a:t>Direct migration of Verilog DSP to Qualcomm Hexagon DSP; TinyML deployed to Qualcomm NPU via Snapdragon Neural Processing SDK (SNPE).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