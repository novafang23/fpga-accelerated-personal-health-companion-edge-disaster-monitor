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SMART INDIA HACKATHON 2026  •  MEDTECH / HARDWARE  •  PS ID: 26181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EdgeGuard / ShrikeFi</a:t>
            </a:r>
          </a:p>
          <a:p>
            <a:pPr>
              <a:defRPr sz="2000">
                <a:solidFill>
                  <a:srgbClr val="BFDBFE"/>
                </a:solidFill>
              </a:defRPr>
            </a:pPr>
            <a:r>
              <a:t>AI-Powered Personal Health Companion &amp; Edge Disaster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E2E8F0"/>
                </a:solidFill>
              </a:defRPr>
            </a:pPr>
            <a:r>
              <a:t>A secure, offline medical wearable fusing physiological vitals with environmental disaster telemetry on custom silicon to predict fatal heat stroke, toxic air inhalation, and cold-shock hypothermia before collapse.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46320"/>
            <a:ext cx="201168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⚡ 20 ns FPGA Timing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4846320"/>
            <a:ext cx="210312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🧠 91% INT8 TinyML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4846320"/>
            <a:ext cx="2103120" cy="457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🏥 92% MIMIC-III Validated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Team Name: CHIPSTERS    |    Team ID: 01    |    Category: Hardware</a:t>
            </a:r>
          </a:p>
        </p:txBody>
      </p:sp>
      <p:pic>
        <p:nvPicPr>
          <p:cNvPr id="10" name="Picture 9" descr="sih_hero_ren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 •  MEDTECH / HARDWARE | PS ID: 26181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&amp; Solution — The Deadly 'Smartwatch Blind Spot'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Team CHIPSTERS</a:t>
            </a:r>
          </a:p>
          <a:p>
            <a:pPr algn="r">
              <a:defRPr sz="1100">
                <a:solidFill>
                  <a:srgbClr val="E2E8F0"/>
                </a:solidFill>
              </a:defRPr>
            </a:pPr>
            <a:r>
              <a:t>Team ID: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❌ The Problem: Why Current Tech Fails in Disasters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Wearables Are Environmentally Blind: </a:t>
            </a:r>
            <a:r>
              <a:rPr b="0">
                <a:solidFill>
                  <a:srgbClr val="64748B"/>
                </a:solidFill>
              </a:rPr>
              <a:t>Smartwatches only track fitness steps or resting pulse. They have zero awareness if ambient air is toxic (AQI 500+) or if 48°C heat is causing heat exhaustion.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Environmental Sensors Ignore the Body: </a:t>
            </a:r>
            <a:r>
              <a:rPr b="0">
                <a:solidFill>
                  <a:srgbClr val="64748B"/>
                </a:solidFill>
              </a:rPr>
              <a:t>Weather apps report regional city forecasts, not what an individual worker's cardiovascular system is actually enduring at street level.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Cloud Dependency Trap: </a:t>
            </a:r>
            <a:r>
              <a:rPr b="0">
                <a:solidFill>
                  <a:srgbClr val="64748B"/>
                </a:solidFill>
              </a:rPr>
              <a:t>Commercial AI health platforms require mobile networks. During severe storms, floods, or grid failures, cell towers collapse and cloud apps die completely.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Software Jitter Destroys HRV: </a:t>
            </a:r>
            <a:r>
              <a:rPr b="0">
                <a:solidFill>
                  <a:srgbClr val="64748B"/>
                </a:solidFill>
              </a:rPr>
              <a:t>Operating system scheduling delays on standard CPUs jitter by 5-20 ms, severely distorting heart rate variability (HRV)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✅ The Solution: EdgeGuard Heterogeneous Companion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Biometric &amp; Environmental Fusion: </a:t>
            </a:r>
            <a:r>
              <a:rPr b="0">
                <a:solidFill>
                  <a:srgbClr val="64748B"/>
                </a:solidFill>
              </a:rPr>
              <a:t>Simultaneously acquires dual-wavelength optical PPG pulses along with hyper-local ambient temperature, humidity, and laser PM2.5 particulate matter on the wrist.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Cycle-Accurate FPGA Silicon: </a:t>
            </a:r>
            <a:r>
              <a:rPr b="0">
                <a:solidFill>
                  <a:srgbClr val="64748B"/>
                </a:solidFill>
              </a:rPr>
              <a:t>Custom Verilog 8-tap filter and peak-detector FSM runs on 50 MHz hardware with 20 ns resolution, completely bypassing OS scheduling jitter.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Zero-Cloud On-Device TinyML: </a:t>
            </a:r>
            <a:r>
              <a:rPr b="0">
                <a:solidFill>
                  <a:srgbClr val="64748B"/>
                </a:solidFill>
              </a:rPr>
              <a:t>Deep neural network fits in only 619 bytes SRAM and evaluates risks in 42 µs, providing 100% offline continuous triage during infrastructure blackouts.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Early Preventive Warnings: </a:t>
            </a:r>
            <a:r>
              <a:rPr b="0">
                <a:solidFill>
                  <a:srgbClr val="64748B"/>
                </a:solidFill>
              </a:rPr>
              <a:t>Predicts heat stroke collapse, acute pollution-induced vagal suppression, and cold-water immersion shock 15-20 minutes before medical emergencies.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23560"/>
            <a:ext cx="10698480" cy="68580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💡 Core Innovation: Turning dumb wearable sensors into an autonomous, offline clinical life-saver that detects physiological collapse before symptoms turn fatal.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 •  MEDTECH / HARDWARE | PS ID: 26181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Technical Approach — 4-Stage Autonomous Dataflow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Team CHIPSTERS</a:t>
            </a:r>
          </a:p>
          <a:p>
            <a:pPr algn="r">
              <a:defRPr sz="1100">
                <a:solidFill>
                  <a:srgbClr val="E2E8F0"/>
                </a:solidFill>
              </a:defRPr>
            </a:pPr>
            <a:r>
              <a:t>Team ID: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514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251460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STAGE 01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Sensing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Physical Data Acquisition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2240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E293B"/>
                </a:solidFill>
              </a:defRPr>
            </a:pPr>
            <a:r>
              <a:t>• MAX30102 PPG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Dual Red &amp; IR optical pulse oximeter for arterial blood flow &amp; SpO2.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• BME280 Climate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Measures ambient temperature &amp; relative humidity for Steadman Heat Index.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• PMSA003 PM2.5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Laser scattering sensor measuring hazardous fine particulate pollution.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325880"/>
            <a:ext cx="2514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65576" y="1325880"/>
            <a:ext cx="2514600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STAGE 02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FPGA RTL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016" y="214884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50 MHz Custom Silicon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560320"/>
            <a:ext cx="2240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E293B"/>
                </a:solidFill>
              </a:defRPr>
            </a:pPr>
            <a:r>
              <a:t>• Dual 8-Tap Filter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O(1) running-sum noise filter with bit-shift division (&gt;&gt; 3). 0 DSP, 0 BRAM.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• Systolic Peak FSM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4-state finite state machine with 250 ms refractory lock-out window.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• 20 ns Cycle Timer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Continuous 50 MHz cycle counter latching heartbeat intervals (IBI) with 0 jitter.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325880"/>
            <a:ext cx="2514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325880"/>
            <a:ext cx="25146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STAGE 03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Clinical TinyML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14884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ARM Cortex / ESP32-S3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560320"/>
            <a:ext cx="2240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E293B"/>
                </a:solidFill>
              </a:defRPr>
            </a:pPr>
            <a:r>
              <a:t>• mNEWS2 Engine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Royal College of Physicians early warning triage protocol score.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• Karlen/Elgendi SQI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Signal Quality Index rejecting motion noise and false beats.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• 6-&gt;24-&gt;16-&gt;3 Model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INT8 deep micro-network running in 42 µs (91.00% validation accuracy).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88" y="1325880"/>
            <a:ext cx="2514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33688" y="1325880"/>
            <a:ext cx="2514600" cy="777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</a:defRPr>
            </a:pPr>
            <a:r>
              <a:t>STAGE 04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Output &amp;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214884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A580C"/>
                </a:solidFill>
              </a:defRPr>
            </a:pPr>
            <a:r>
              <a:t>Edge Alerts &amp; Telemetry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2560320"/>
            <a:ext cx="2240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E293B"/>
                </a:solidFill>
              </a:defRPr>
            </a:pPr>
            <a:r>
              <a:t>• OLED Display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128x64 offline display of live HR, SpO2, RR, and hazard threat tiers.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• Haptic Alarm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Vibration motor &amp; emergency buzzer for immediate worker evacuation.</a:t>
            </a:r>
          </a:p>
          <a:p>
            <a:pPr>
              <a:defRPr b="1" sz="1150">
                <a:solidFill>
                  <a:srgbClr val="1E293B"/>
                </a:solidFill>
              </a:defRPr>
            </a:pPr>
            <a:r>
              <a:t>• WiFi / MQTT Mesh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Optional emergency beacon broadcasting vitals to disaster rescue teams.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 •  MEDTECH / HARDWARE | PS ID: 26181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Hardware Acceleration — 20 ns Cycle-Accurate Verilog RTL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Team CHIPSTERS</a:t>
            </a:r>
          </a:p>
          <a:p>
            <a:pPr algn="r">
              <a:defRPr sz="1100">
                <a:solidFill>
                  <a:srgbClr val="E2E8F0"/>
                </a:solidFill>
              </a:defRPr>
            </a:pPr>
            <a:r>
              <a:t>Team ID: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E3A8A"/>
                </a:solidFill>
              </a:defRPr>
            </a:pPr>
            <a:r>
              <a:t>💡 Layman Analogy: Why FPGA? Software CPUs have OS jitter — like timing a sprint with a loose, flickering stopwatch. An FPGA is a custom physical circuit: it gives us 20 billionths of a second (20 ns) timing accuracy with zero lag.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⚡ Renesas ForgeFPGA Silicon Synthesis &amp; Floorplan</a:t>
            </a:r>
          </a:p>
        </p:txBody>
      </p:sp>
      <p:pic>
        <p:nvPicPr>
          <p:cNvPr id="9" name="Picture 8" descr="forgefpga_chip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60320"/>
            <a:ext cx="4846320" cy="21945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14400" y="4892040"/>
            <a:ext cx="1508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65192"/>
            <a:ext cx="150876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9488"/>
                </a:solidFill>
              </a:defRPr>
            </a:pPr>
            <a:r>
              <a:t>17.4%</a:t>
            </a:r>
          </a:p>
          <a:p>
            <a:pPr algn="ctr">
              <a:defRPr sz="1050">
                <a:solidFill>
                  <a:srgbClr val="1E293B"/>
                </a:solidFill>
              </a:defRPr>
            </a:pPr>
            <a:r>
              <a:t>LUT5 Logic Used</a:t>
            </a:r>
            <a:br/>
            <a:r>
              <a:t>(195 / 1120)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4892040"/>
            <a:ext cx="1554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4965192"/>
            <a:ext cx="155448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0 DSP / 0 BRAM</a:t>
            </a:r>
          </a:p>
          <a:p>
            <a:pPr algn="ctr">
              <a:defRPr sz="1050">
                <a:solidFill>
                  <a:srgbClr val="1E293B"/>
                </a:solidFill>
              </a:defRPr>
            </a:pPr>
            <a:r>
              <a:t>Pure Logic Gates</a:t>
            </a:r>
            <a:br/>
            <a:r>
              <a:t>(Lowest Cost BOM)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4892040"/>
            <a:ext cx="1508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4965192"/>
            <a:ext cx="150876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A34A"/>
                </a:solidFill>
              </a:defRPr>
            </a:pPr>
            <a:r>
              <a:t>+5.603 ns</a:t>
            </a:r>
          </a:p>
          <a:p>
            <a:pPr algn="ctr">
              <a:defRPr sz="1050">
                <a:solidFill>
                  <a:srgbClr val="1E293B"/>
                </a:solidFill>
              </a:defRPr>
            </a:pPr>
            <a:r>
              <a:t>WNS Timing Slack</a:t>
            </a:r>
            <a:br/>
            <a:r>
              <a:t>(STA Met at 69 MHz)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5740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488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📈 Verified GTKWave Cycle-Accurate Timing Simulation</a:t>
            </a:r>
          </a:p>
        </p:txBody>
      </p:sp>
      <p:pic>
        <p:nvPicPr>
          <p:cNvPr id="18" name="Picture 17" descr="waveform_snap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560320"/>
            <a:ext cx="4846320" cy="20116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0" y="470916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Noise Filtering Convergence: </a:t>
            </a:r>
            <a:r>
              <a:rPr b="0">
                <a:solidFill>
                  <a:srgbClr val="64748B"/>
                </a:solidFill>
              </a:rPr>
              <a:t>Raw optical signals are smoothed by the 8-tap pipeline into filter_red_out[7:0] with 0 multiplier delay.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Systolic Peak Detection: </a:t>
            </a:r>
            <a:r>
              <a:rPr b="0">
                <a:solidFill>
                  <a:srgbClr val="64748B"/>
                </a:solidFill>
              </a:rPr>
              <a:t>FSM transitions ARMED -&gt; RISING -&gt; PEAK_FOUND with a 250 ms refractory lock-out window.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Interrupt &amp; IBI Latch: </a:t>
            </a:r>
            <a:r>
              <a:rPr b="0">
                <a:solidFill>
                  <a:srgbClr val="64748B"/>
                </a:solidFill>
              </a:rPr>
              <a:t>A single-cycle irq_beat fires, latching the 32-bit heartbeat interval count with 20.0 ns resolution.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 •  MEDTECH / HARDWARE | PS ID: 26181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Clinical Intelligence — 91% TinyML &amp; MIMIC-III ICU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Team CHIPSTERS</a:t>
            </a:r>
          </a:p>
          <a:p>
            <a:pPr algn="r">
              <a:defRPr sz="1100">
                <a:solidFill>
                  <a:srgbClr val="E2E8F0"/>
                </a:solidFill>
              </a:defRPr>
            </a:pPr>
            <a:r>
              <a:t>Team ID: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375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07592"/>
            <a:ext cx="333756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91.00%</a:t>
            </a:r>
          </a:p>
          <a:p>
            <a:pPr algn="ctr">
              <a:defRPr sz="1050">
                <a:solidFill>
                  <a:srgbClr val="1E293B"/>
                </a:solidFill>
              </a:defRPr>
            </a:pPr>
            <a:r>
              <a:t>Synthetic Multi-Hazard Accuracy</a:t>
            </a:r>
            <a:br/>
            <a:r>
              <a:t>(10,000 extreme edge condition test vectors)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307592"/>
            <a:ext cx="338328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9488"/>
                </a:solidFill>
              </a:defRPr>
            </a:pPr>
            <a:r>
              <a:t>92.05%</a:t>
            </a:r>
          </a:p>
          <a:p>
            <a:pPr algn="ctr">
              <a:defRPr sz="1050">
                <a:solidFill>
                  <a:srgbClr val="1E293B"/>
                </a:solidFill>
              </a:defRPr>
            </a:pPr>
            <a:r>
              <a:t>Clinical Concordance on MIMIC-III</a:t>
            </a:r>
            <a:br/>
            <a:r>
              <a:t>(16,387 gold-standard patient ICU records)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34440"/>
            <a:ext cx="333756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307592"/>
            <a:ext cx="333756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6A34A"/>
                </a:solidFill>
              </a:defRPr>
            </a:pPr>
            <a:r>
              <a:t>619 Bytes</a:t>
            </a:r>
          </a:p>
          <a:p>
            <a:pPr algn="ctr">
              <a:defRPr sz="1050">
                <a:solidFill>
                  <a:srgbClr val="1E293B"/>
                </a:solidFill>
              </a:defRPr>
            </a:pPr>
            <a:r>
              <a:t>Ultra-Low SRAM Memory Footprint</a:t>
            </a:r>
            <a:br/>
            <a:r>
              <a:t>(Executes in 42 µs with zero cloud)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52120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🧠 On-Device TinyML INT8 Micro-Engine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Deep Micro-Architecture: </a:t>
            </a:r>
            <a:r>
              <a:rPr b="0">
                <a:solidFill>
                  <a:srgbClr val="64748B"/>
                </a:solidFill>
              </a:rPr>
              <a:t>6 Inputs -&gt; 24 Hidden (ReLU) -&gt; 16 Hidden (ReLU) -&gt; 3 Multi-Hazard Outputs (Logistic Sigmoid).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Quantization-Aware Training (QAT): </a:t>
            </a:r>
            <a:r>
              <a:rPr b="0">
                <a:solidFill>
                  <a:srgbClr val="64748B"/>
                </a:solidFill>
              </a:rPr>
              <a:t>Converted to fixed-point INT8 arithmetic. Zero floating-point math prevents battery drain on edge microcontrollers.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Multi-Disaster Risk Outputs: </a:t>
            </a:r>
            <a:r>
              <a:rPr b="0">
                <a:solidFill>
                  <a:srgbClr val="64748B"/>
                </a:solidFill>
              </a:rPr>
              <a:t>Independent continuous threat probabilities:
  1. Heat Stroke Risk (Cardiovascular drift + thermal index)
  2. Smog Distress Risk (PM2.5 inhalation + HRV vagal drop)
  3. Flood Hypothermia Risk (Cold shock + bradycardia)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51760"/>
            <a:ext cx="52120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🏥 Peer-Reviewed Clinical Foundations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mNEWS2 Triage Protocol: </a:t>
            </a:r>
            <a:r>
              <a:rPr b="0">
                <a:solidFill>
                  <a:srgbClr val="64748B"/>
                </a:solidFill>
              </a:rPr>
              <a:t>Royal College of Physicians clinical early warning system scoring respiration, blood oxygen, and heart rate for hospital-grade triage.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Karlen &amp; Elgendi SQI (Signal Quality): </a:t>
            </a:r>
            <a:r>
              <a:rPr b="0">
                <a:solidFill>
                  <a:srgbClr val="64748B"/>
                </a:solidFill>
              </a:rPr>
              <a:t>Algorithms compute skewness, perfusion index, and waveform entropy to eliminate false alarms from arm motion.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Moran's Physiological Strain Index (PSI): </a:t>
            </a:r>
            <a:r>
              <a:rPr b="0">
                <a:solidFill>
                  <a:srgbClr val="64748B"/>
                </a:solidFill>
              </a:rPr>
              <a:t>Gold-standard cardio-thermal formula quantifying heat exhaustion strain on a scale of 0-10.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AHA Brook Autonomic Stress Model: </a:t>
            </a:r>
            <a:r>
              <a:rPr b="0">
                <a:solidFill>
                  <a:srgbClr val="64748B"/>
                </a:solidFill>
              </a:rPr>
              <a:t>American Heart Association scientific formula linking acute fine particulate (PM2.5) exposure to vagal heart rate suppression.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 •  MEDTECH / HARDWARE | PS ID: 26181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Working System — Live GUI Dashboard &amp; Wearable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Team CHIPSTERS</a:t>
            </a:r>
          </a:p>
          <a:p>
            <a:pPr algn="r">
              <a:defRPr sz="1100">
                <a:solidFill>
                  <a:srgbClr val="E2E8F0"/>
                </a:solidFill>
              </a:defRPr>
            </a:pPr>
            <a:r>
              <a:t>Team ID: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🖥️ Standalone 60 FPS Desktop GUI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Real-Time Optical Oscilloscope: </a:t>
            </a:r>
            <a:r>
              <a:rPr b="0">
                <a:solidFill>
                  <a:srgbClr val="64748B"/>
                </a:solidFill>
              </a:rPr>
              <a:t>Visualizes raw &amp; filtered systolic pulses at 60 frames per second using high-performance Win32 GDI graphics (0 external dependencies).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Dual-Mode Hardware Connectivity: </a:t>
            </a:r>
            <a:r>
              <a:rPr b="0">
                <a:solidFill>
                  <a:srgbClr val="64748B"/>
                </a:solidFill>
              </a:rPr>
              <a:t>Auto-connects to ESP32-S3 USB COM port at 115,200 baud for live streaming, or switches to 6 simulated disaster profiles for offline demonstrations.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Comprehensive Digital Biomarkers: </a:t>
            </a:r>
            <a:r>
              <a:rPr b="0">
                <a:solidFill>
                  <a:srgbClr val="64748B"/>
                </a:solidFill>
              </a:rPr>
              <a:t>Displays continuous digital readouts: Heart Rate (BPM), SpO2 (%), Respiratory Rate (RPM), RMSSD HRV (ms), and PM2.5 (ug/m3).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Live Clinical &amp; TinyML Meters: </a:t>
            </a:r>
            <a:r>
              <a:rPr b="0">
                <a:solidFill>
                  <a:srgbClr val="64748B"/>
                </a:solidFill>
              </a:rPr>
              <a:t>Color-coded dynamic meters for Royal College mNEWS2 clinical triage alongside the 3 on-device AI disaster hazard risk scores.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One-Click Instant Execution: </a:t>
            </a:r>
            <a:r>
              <a:rPr b="0">
                <a:solidFill>
                  <a:srgbClr val="64748B"/>
                </a:solidFill>
              </a:rPr>
              <a:t>Self-compiles with GCC and launches instantly via launch_dashboard.bat from the repository root.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📦 Physical Wearable CAD &amp; Bill of Materials</a:t>
            </a:r>
          </a:p>
        </p:txBody>
      </p:sp>
      <p:pic>
        <p:nvPicPr>
          <p:cNvPr id="11" name="Picture 10" descr="sih_exploded_c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83080"/>
            <a:ext cx="4846320" cy="2103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3977639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Custom Ergonomic Enclosure: </a:t>
            </a:r>
            <a:r>
              <a:rPr b="0">
                <a:solidFill>
                  <a:srgbClr val="64748B"/>
                </a:solidFill>
              </a:rPr>
              <a:t>Engineered in Autodesk CAD with optical skin aperture, strap clips, and airflow ventilation for thermal &amp; PM2.5 sensors.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KiCad PCB &amp; Routing: </a:t>
            </a:r>
            <a:r>
              <a:rPr b="0">
                <a:solidFill>
                  <a:srgbClr val="64748B"/>
                </a:solidFill>
              </a:rPr>
              <a:t>Complete dual-layer hardware PCB designed in hardware/shrikefi/pcb/ for compact Zero PCB / wearable assembly.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Commercial Mass-Production BOM: </a:t>
            </a:r>
            <a:r>
              <a:rPr b="0">
                <a:solidFill>
                  <a:srgbClr val="64748B"/>
                </a:solidFill>
              </a:rPr>
              <a:t>• Renesas ForgeFPGA ($1.80) + ESP32-S3 ($2.20)
• MAX30102 + BME280 + PM2.5 Sensors ($5.80)
• OLED + Battery + Enclosure ($4.20)
=&gt; Total Bulk Unit BOM: &lt;$15 (~₹1,250)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SMART INDIA HACKATHON 2026  •  MEDTECH / HARDWARE | PS ID: 26181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National Impact &amp; Production Roadmap (India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103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Team CHIPSTERS</a:t>
            </a:r>
          </a:p>
          <a:p>
            <a:pPr algn="r">
              <a:defRPr sz="1100">
                <a:solidFill>
                  <a:srgbClr val="E2E8F0"/>
                </a:solidFill>
              </a:defRPr>
            </a:pPr>
            <a:r>
              <a:t>Team ID: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🇮🇳 Tailored for Extreme Indian Climate Emergencies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☀️ Severe North India Heatwaves (May-June): </a:t>
            </a:r>
            <a:r>
              <a:rPr b="0">
                <a:solidFill>
                  <a:srgbClr val="64748B"/>
                </a:solidFill>
              </a:rPr>
              <a:t>Protects 380+ million construction laborers, agricultural workers, and delivery personnel from fatal heat exhaustion by issuing warnings 15-20 minutes before collapse.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🌫️ Winter Toxic Smog in Indo-Gangetic Plains: </a:t>
            </a:r>
            <a:r>
              <a:rPr b="0">
                <a:solidFill>
                  <a:srgbClr val="64748B"/>
                </a:solidFill>
              </a:rPr>
              <a:t>Warns traffic police, elderly individuals, and asthmatic patients when hyper-local PM2.5 triggers dangerous autonomic cardiac vagal suppression.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🌊 Monsoon Flash Floods (Mumbai / Assam): </a:t>
            </a:r>
            <a:r>
              <a:rPr b="0">
                <a:solidFill>
                  <a:srgbClr val="64748B"/>
                </a:solidFill>
              </a:rPr>
              <a:t>Detects cold-water immersion, hyperventilation, and bradycardia when citizens or rescue teams are stranded during electric grid and mobile network blackouts.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🚀 Commercial Production: Qualcomm Snapdragon Wear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Hardware Challenge Silicon Roadmap: </a:t>
            </a:r>
            <a:r>
              <a:rPr b="0">
                <a:solidFill>
                  <a:srgbClr val="64748B"/>
                </a:solidFill>
              </a:rPr>
              <a:t>While prototyped on Renesas ForgeFPGA + ESP32-S3 for hackathon accessibility, our architecture is designed for direct migration to Qualcomm Snapdragon Wear W5+ Gen 1.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Qualcomm Hexagon™ DSP Acceleration: </a:t>
            </a:r>
            <a:r>
              <a:rPr b="0">
                <a:solidFill>
                  <a:srgbClr val="64748B"/>
                </a:solidFill>
              </a:rPr>
              <a:t>The synthesizable Verilog 8-tap filter algorithms map directly to Hexagon Vector eXtensions (HVX) on the Snapdragon Low-Power Island (&lt;5 mW continuous power).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Qualcomm AI Engine (SNPE / QNN): </a:t>
            </a:r>
            <a:r>
              <a:rPr b="0">
                <a:solidFill>
                  <a:srgbClr val="64748B"/>
                </a:solidFill>
              </a:rPr>
              <a:t>The quantized INT8 neural network compiles natively via Snapdragon Neural Processing Engine (SNPE) for microsecond hardware acceleration.</a:t>
            </a:r>
          </a:p>
          <a:p>
            <a:pPr>
              <a:spcAft>
                <a:spcPts val="800"/>
              </a:spcAft>
              <a:defRPr b="1" sz="1200">
                <a:solidFill>
                  <a:srgbClr val="1E293B"/>
                </a:solidFill>
              </a:defRPr>
            </a:pPr>
            <a:r>
              <a:t>Enterprise &amp; Defense Readiness: </a:t>
            </a:r>
            <a:r>
              <a:rPr b="0">
                <a:solidFill>
                  <a:srgbClr val="64748B"/>
                </a:solidFill>
              </a:rPr>
              <a:t>Targeted for National Disaster Response Force (NDRF), municipal sanitation departments, traffic police, and commercial health insurance deployments.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