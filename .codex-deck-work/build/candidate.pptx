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c634d0ab0d43d5" /><Relationship Type="http://schemas.openxmlformats.org/officeDocument/2006/relationships/extended-properties" Target="/docProps/app.xml" Id="Re6f90f37706547c0" /><Relationship Type="http://schemas.openxmlformats.org/officeDocument/2006/relationships/officeDocument" Target="/ppt/presentation.xml" Id="Rd992cf01df434e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30d5e79d4349c7"/>
  </p:sldMasterIdLst>
  <p:notesMasterIdLst>
    <p:notesMasterId xmlns:r="http://schemas.openxmlformats.org/officeDocument/2006/relationships" r:id="R5a2f27dda988460b"/>
  </p:notesMasterIdLst>
  <p:sldIdLst>
    <p:sldId xmlns:r="http://schemas.openxmlformats.org/officeDocument/2006/relationships" id="256" r:id="Rd22782181c934e37"/>
    <p:sldId xmlns:r="http://schemas.openxmlformats.org/officeDocument/2006/relationships" id="257" r:id="R5c19e5a6e4c74c21"/>
    <p:sldId xmlns:r="http://schemas.openxmlformats.org/officeDocument/2006/relationships" id="258" r:id="R7a54518348014a61"/>
    <p:sldId xmlns:r="http://schemas.openxmlformats.org/officeDocument/2006/relationships" id="259" r:id="R008a432d32144d73"/>
    <p:sldId xmlns:r="http://schemas.openxmlformats.org/officeDocument/2006/relationships" id="260" r:id="Re850298672904eba"/>
    <p:sldId xmlns:r="http://schemas.openxmlformats.org/officeDocument/2006/relationships" id="261" r:id="R10429e2293014e64"/>
    <p:sldId xmlns:r="http://schemas.openxmlformats.org/officeDocument/2006/relationships" id="262" r:id="R0a91679dd70e41dd"/>
    <p:sldId xmlns:r="http://schemas.openxmlformats.org/officeDocument/2006/relationships" id="263" r:id="R78a6a7ff811b4d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d9ab874e124501" /><Relationship Type="http://schemas.openxmlformats.org/officeDocument/2006/relationships/slideMaster" Target="/ppt/slideMasters/slideMaster1.xml" Id="Ra230d5e79d4349c7" /><Relationship Type="http://schemas.openxmlformats.org/officeDocument/2006/relationships/notesMaster" Target="/ppt/notesMasters/notesMaster1.xml" Id="R5a2f27dda988460b" /><Relationship Type="http://schemas.openxmlformats.org/officeDocument/2006/relationships/presProps" Target="/ppt/presProps.xml" Id="R60fd302b664641a4" /><Relationship Type="http://schemas.openxmlformats.org/officeDocument/2006/relationships/tableStyles" Target="/ppt/tableStyles.xml" Id="R74c1772f224e4fcf" /><Relationship Type="http://schemas.openxmlformats.org/officeDocument/2006/relationships/slide" Target="/ppt/slides/slide1.xml" Id="Rd22782181c934e37" /><Relationship Type="http://schemas.openxmlformats.org/officeDocument/2006/relationships/slide" Target="/ppt/slides/slide2.xml" Id="R5c19e5a6e4c74c21" /><Relationship Type="http://schemas.openxmlformats.org/officeDocument/2006/relationships/slide" Target="/ppt/slides/slide3.xml" Id="R7a54518348014a61" /><Relationship Type="http://schemas.openxmlformats.org/officeDocument/2006/relationships/slide" Target="/ppt/slides/slide4.xml" Id="R008a432d32144d73" /><Relationship Type="http://schemas.openxmlformats.org/officeDocument/2006/relationships/slide" Target="/ppt/slides/slide5.xml" Id="Re850298672904eba" /><Relationship Type="http://schemas.openxmlformats.org/officeDocument/2006/relationships/slide" Target="/ppt/slides/slide6.xml" Id="R10429e2293014e64" /><Relationship Type="http://schemas.openxmlformats.org/officeDocument/2006/relationships/slide" Target="/ppt/slides/slide7.xml" Id="R0a91679dd70e41dd" /><Relationship Type="http://schemas.openxmlformats.org/officeDocument/2006/relationships/slide" Target="/ppt/slides/slide8.xml" Id="R78a6a7ff811b4d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65ffe180af45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c15c2fe0774ce5" /><Relationship Type="http://schemas.openxmlformats.org/officeDocument/2006/relationships/notesMaster" Target="/ppt/notesMasters/notesMaster1.xml" Id="R75f5b1dc38414c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224515880047c9" /><Relationship Type="http://schemas.openxmlformats.org/officeDocument/2006/relationships/notesMaster" Target="/ppt/notesMasters/notesMaster1.xml" Id="R9eb9a93e81c24d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11b02de88a4ee5" /><Relationship Type="http://schemas.openxmlformats.org/officeDocument/2006/relationships/notesMaster" Target="/ppt/notesMasters/notesMaster1.xml" Id="Reb800477f9354d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6b5810d7de4d34" /><Relationship Type="http://schemas.openxmlformats.org/officeDocument/2006/relationships/notesMaster" Target="/ppt/notesMasters/notesMaster1.xml" Id="Ra07c193be1da43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b8376b3fd64fac" /><Relationship Type="http://schemas.openxmlformats.org/officeDocument/2006/relationships/notesMaster" Target="/ppt/notesMasters/notesMaster1.xml" Id="Raa80f12864c946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0cb51d3fef44e3" /><Relationship Type="http://schemas.openxmlformats.org/officeDocument/2006/relationships/notesMaster" Target="/ppt/notesMasters/notesMaster1.xml" Id="R6a5dd61865f24c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56370fe4c54bb4" /><Relationship Type="http://schemas.openxmlformats.org/officeDocument/2006/relationships/notesMaster" Target="/ppt/notesMasters/notesMaster1.xml" Id="R6b62d04e9e3446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37a42b28e64b35" /><Relationship Type="http://schemas.openxmlformats.org/officeDocument/2006/relationships/notesMaster" Target="/ppt/notesMasters/notesMaster1.xml" Id="Ra3e8fee73b9b48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name, team, track and identifier follow the provided VALOR Explainer Deck. Prototype photo: docs/images/hardware/valor_zeropcb.jpeg. The image shows the current bench board, not a finished wearable enclosure.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intent and local processing are described in docs/MASTER_PROJECT_GUIDE.md and docs/SHRIKEFI_LINK_PROTOCOL.md. The diagram is an editable summary of local sensor fusion and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docs/SHRIKEFI_LINK_PROTOCOL.md, docs/SHRIKEFI_HARDWARE_CONNECTIONS.md, and firmware/shrikefi/main_shrikefi.c. The MCU samples MAX30102 data, sends the IR path to ForgeFPGA over mode-0 SPI, and receives beat/IBI data. Red/IR ratio processing for SpO₂ stays on the MCU. The dashboard interfaces are distinct: a compact local SoftAP page and a richer USB serial desktop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hardware/shrikefi/forgefpga_ppg_top.v, hardware/common/moving_average_8tap.v, hardware/common/ppg_peak_detector.v, and docs/SHRIKEFI_LINK_PROTOCOL.md. The waveform is an RTL simulation image (docs/images/forgefpga_waveform.png), not a human measurement. The 50 MHz counter has a 20 ns tick; firmware validates intervals and signal quality before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firmware/core/clinical_vitals_engine.c, firmware/core/disaster_risk_engine.c, firmware/core/nn_risk_model_int8.h, and docs/reports/AI_MODEL_AUDIT_2026-10-20.md. The deployed INT8 model has 619 bytes of parameter storage and 88.39% agreement with its synthetic rule teacher on a held-out synthetic validation set. This is not clinical performance. The device does not have a fitted body-temperature sensor; BME280 measures ambient 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firmware/shrikefi/web_status.c, firmware/shrikefi/dashboard/README.md, and docs/DEMO_RUNBOOK.md. The phone SoftAP page is embedded in firmware and served locally; the richer dashboard screenshot is the separate USB Web Serial page and is explicitly in simulation mode. The SoftAP is open and lacks authentication; the final slide records that field-use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ForgeFPGA values: hardware/shrikefi/synthesis_evidence/resource_utilization_spi_link.log and timing_summary_spi_link_50mhz.log (post-route, 50 MHz constraint). Zynq numbers and 6/6 tests: repository AGENTS.md verified baseline and hardware/zynq/tb_ppg_system.v. The ForgeFPGA and Zynq figures describe separate targets and must not be combined or compared as if they used the same LUT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docs/DEMO_RUNBOOK.md, firmware/shrikefi/dashboard/README.md, firmware/core/skin_estimate.c, and the current sensor path. The prototype photo is docs/images/hardware/valor_breadboard.jpeg. The embedded SoftAP is open and unauthenticated. Body temperature is not instrumented by the current clinical scoring path; the BME280 reports ambient air. No clinical efficacy or human-subject validation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5022684f6549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820e9cb454d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8a928379c40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c97ab523b43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ab5fd096541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d8e6d3b9c43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1A5F66-D2F6-452F-BBE5-5A0FA0AF5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036A3DC-C6E0-48FC-8FE3-828AB1525C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C5C99A4-6625-4E42-83D8-8A4A88CE4E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C14A85-4E92-4745-9821-AC0644CC1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925EE2-7BB2-42F8-B455-2DA7682C0C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C80A7E-3910-45A2-88C6-BCA6011D0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3B818E-4C42-4784-B4F6-A89199AE3E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D6E4F5-573F-4CEE-A869-B25A3ABBE5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F6FFCA-8FCA-48CD-B725-419A16296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9C280D-9B94-4A6F-938C-14CEDF0761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4240b455404675" /><Relationship Type="http://schemas.openxmlformats.org/officeDocument/2006/relationships/slideLayout" Target="/ppt/slideLayouts/slideLayout1.xml" Id="R3d9372133b3b46ea" /><Relationship Type="http://schemas.openxmlformats.org/officeDocument/2006/relationships/slideLayout" Target="/ppt/slideLayouts/slideLayout2.xml" Id="R9dbbf470d78c4cc1" /><Relationship Type="http://schemas.openxmlformats.org/officeDocument/2006/relationships/slideLayout" Target="/ppt/slideLayouts/slideLayout3.xml" Id="R2fd77b9126d24d4f" /><Relationship Type="http://schemas.openxmlformats.org/officeDocument/2006/relationships/slideLayout" Target="/ppt/slideLayouts/slideLayout4.xml" Id="Rd419ebad803d46b1" /><Relationship Type="http://schemas.openxmlformats.org/officeDocument/2006/relationships/slideLayout" Target="/ppt/slideLayouts/slideLayout5.xml" Id="R0704cfc859a44759" /><Relationship Type="http://schemas.openxmlformats.org/officeDocument/2006/relationships/slideLayout" Target="/ppt/slideLayouts/slideLayout6.xml" Id="Ra3099767370744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9372133b3b46ea"/>
    <p:sldLayoutId xmlns:r="http://schemas.openxmlformats.org/officeDocument/2006/relationships" id="2147483650" r:id="R9dbbf470d78c4cc1"/>
    <p:sldLayoutId xmlns:r="http://schemas.openxmlformats.org/officeDocument/2006/relationships" id="2147483651" r:id="R2fd77b9126d24d4f"/>
    <p:sldLayoutId xmlns:r="http://schemas.openxmlformats.org/officeDocument/2006/relationships" id="2147483652" r:id="Rd419ebad803d46b1"/>
    <p:sldLayoutId xmlns:r="http://schemas.openxmlformats.org/officeDocument/2006/relationships" id="2147483653" r:id="R0704cfc859a44759"/>
    <p:sldLayoutId xmlns:r="http://schemas.openxmlformats.org/officeDocument/2006/relationships" id="2147483654" r:id="Ra3099767370744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02157f6ae642af" /><Relationship Type="http://schemas.openxmlformats.org/officeDocument/2006/relationships/image" Target="/ppt/media/image.jpeg" Id="Raf36dc585c8f4e9c" /><Relationship Type="http://schemas.openxmlformats.org/officeDocument/2006/relationships/notesSlide" Target="/ppt/notesSlides/notesSlide1.xml" Id="R150d4bb6323348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b8d3186194cd7" /><Relationship Type="http://schemas.openxmlformats.org/officeDocument/2006/relationships/notesSlide" Target="/ppt/notesSlides/notesSlide2.xml" Id="Rc99e513b7e0d47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bdd176a994bca" /><Relationship Type="http://schemas.openxmlformats.org/officeDocument/2006/relationships/notesSlide" Target="/ppt/notesSlides/notesSlide3.xml" Id="Rbae6b6d064e74f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30f3704b4341c5" /><Relationship Type="http://schemas.openxmlformats.org/officeDocument/2006/relationships/image" Target="/ppt/media/image.png" Id="R627867a2d21f44a5" /><Relationship Type="http://schemas.openxmlformats.org/officeDocument/2006/relationships/notesSlide" Target="/ppt/notesSlides/notesSlide4.xml" Id="Rc21805f3e1e145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5b395763f436a" /><Relationship Type="http://schemas.openxmlformats.org/officeDocument/2006/relationships/notesSlide" Target="/ppt/notesSlides/notesSlide5.xml" Id="R46c0adb4448c44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7d51dda4414f32" /><Relationship Type="http://schemas.openxmlformats.org/officeDocument/2006/relationships/image" Target="/ppt/media/image2.png" Id="R17c1429e0064462d" /><Relationship Type="http://schemas.openxmlformats.org/officeDocument/2006/relationships/notesSlide" Target="/ppt/notesSlides/notesSlide6.xml" Id="R8fd22db025b241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f68be3fb84d99" /><Relationship Type="http://schemas.openxmlformats.org/officeDocument/2006/relationships/image" Target="/ppt/media/image3.png" Id="Rd88ae3d2cc6e4251" /><Relationship Type="http://schemas.openxmlformats.org/officeDocument/2006/relationships/notesSlide" Target="/ppt/notesSlides/notesSlide7.xml" Id="R7d14526e2ea243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6a77593ae4d4b" /><Relationship Type="http://schemas.openxmlformats.org/officeDocument/2006/relationships/image" Target="/ppt/media/image2.jpeg" Id="R4ed4fdd26cbb4308" /><Relationship Type="http://schemas.openxmlformats.org/officeDocument/2006/relationships/notesSlide" Target="/ppt/notesSlides/notesSlide8.xml" Id="Rf499628fbc9b44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A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9B4A2-9385-4D4C-A606-F8F94D45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5727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36D4D"/>
            </a:solidFill>
            <a:prstDash val="solid"/>
          </a:ln>
        </p:spPr>
      </p:sp>
      <p:sp>
        <p:nvSpPr>
          <p:cNvPr id="2" name="cover-team">
            <a:extLst xmlns:a="http://schemas.openxmlformats.org/drawingml/2006/main">
              <a:ext uri="{FF2B5EF4-FFF2-40B4-BE49-F238E27FC236}">
                <a16:creationId xmlns:a16="http://schemas.microsoft.com/office/drawing/2014/main" id="{AFD19DD5-BE32-4EAB-A125-D73810DB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5A33E"/>
                </a:solidFill>
                <a:latin typeface="Segoe UI"/>
                <a:ea typeface="Segoe UI"/>
                <a:cs typeface="Segoe UI"/>
              </a:rPr>
              <a:t>SIH26181   TEAM CHIPSTERS   MEDTECH TRACK</a:t>
            </a:r>
          </a:p>
        </p:txBody>
      </p:sp>
      <p:sp>
        <p:nvSpPr>
          <p:cNvPr id="3" name="cover-valor">
            <a:extLst xmlns:a="http://schemas.openxmlformats.org/drawingml/2006/main">
              <a:ext uri="{FF2B5EF4-FFF2-40B4-BE49-F238E27FC236}">
                <a16:creationId xmlns:a16="http://schemas.microsoft.com/office/drawing/2014/main" id="{EE38F2C5-2A58-4026-A754-35A0C2E8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97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6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6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6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6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6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6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6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6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6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6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VALOR</a:t>
            </a:r>
          </a:p>
        </p:txBody>
      </p:sp>
      <p:sp>
        <p:nvSpPr>
          <p:cNvPr id="4" name="cover-expanded">
            <a:extLst xmlns:a="http://schemas.openxmlformats.org/drawingml/2006/main">
              <a:ext uri="{FF2B5EF4-FFF2-40B4-BE49-F238E27FC236}">
                <a16:creationId xmlns:a16="http://schemas.microsoft.com/office/drawing/2014/main" id="{5BCFFA6E-5AF6-4D60-B4A7-49F8C053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Vital and Atmospheric Logic</a:t>
            </a:r>
          </a:p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for Offline Rescue</a:t>
            </a:r>
          </a:p>
        </p:txBody>
      </p:sp>
      <p:sp>
        <p:nvSpPr>
          <p:cNvPr id="5" name="cover-descriptor">
            <a:extLst xmlns:a="http://schemas.openxmlformats.org/drawingml/2006/main">
              <a:ext uri="{FF2B5EF4-FFF2-40B4-BE49-F238E27FC236}">
                <a16:creationId xmlns:a16="http://schemas.microsoft.com/office/drawing/2014/main" id="{EDF28C8E-D80D-4C47-88FD-A142C245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3CDD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C3CDD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C3CDD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C3CDD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C3CDD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C3CDD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C3CDD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C3CDD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C3CDD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C3CDD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C3CDD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3CDD1"/>
                </a:solidFill>
                <a:latin typeface="Segoe UI"/>
                <a:ea typeface="Segoe UI"/>
                <a:cs typeface="Segoe UI"/>
              </a:rPr>
              <a:t>A local health and exposure monitor</a:t>
            </a:r>
          </a:p>
          <a:p xmlns:a="http://schemas.openxmlformats.org/drawingml/2006/main">
            <a:pPr algn="l">
              <a:defRPr sz="1875" b="0">
                <a:solidFill>
                  <a:srgbClr val="C3CDD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3CDD1"/>
                </a:solidFill>
                <a:latin typeface="Segoe UI"/>
                <a:ea typeface="Segoe UI"/>
                <a:cs typeface="Segoe UI"/>
              </a:rPr>
              <a:t>for disaster response</a:t>
            </a:r>
          </a:p>
        </p:txBody>
      </p:sp>
      <p:sp>
        <p:nvSpPr>
          <p:cNvPr id="6" name="cover-round">
            <a:extLst xmlns:a="http://schemas.openxmlformats.org/drawingml/2006/main">
              <a:ext uri="{FF2B5EF4-FFF2-40B4-BE49-F238E27FC236}">
                <a16:creationId xmlns:a16="http://schemas.microsoft.com/office/drawing/2014/main" id="{990DB7D3-F19C-46F7-831E-2D6E7A8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457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36D4D"/>
                </a:solidFill>
                <a:latin typeface="Segoe UI"/>
                <a:ea typeface="Segoe UI"/>
                <a:cs typeface="Segoe UI"/>
              </a:rPr>
              <a:t>FIRST-ROUND HACKATHON SUBMISSION</a:t>
            </a:r>
          </a:p>
        </p:txBody>
      </p:sp>
      <p:sp>
        <p:nvSpPr>
          <p:cNvPr id="7" name="cover-prototype-frame">
            <a:extLst xmlns:a="http://schemas.openxmlformats.org/drawingml/2006/main">
              <a:ext uri="{FF2B5EF4-FFF2-40B4-BE49-F238E27FC236}">
                <a16:creationId xmlns:a16="http://schemas.microsoft.com/office/drawing/2014/main" id="{1E57ADA4-D5D9-4D8F-8C60-8C2C73F9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390650"/>
            <a:ext cx="5734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3D"/>
          </a:solidFill>
          <a:ln xmlns:a="http://schemas.openxmlformats.org/drawingml/2006/main" w="11430">
            <a:solidFill>
              <a:srgbClr val="D7DDD8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C5CA0-6178-4620-AAAC-3BED3BFDC3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6dc585c8f4e9c"/>
          <a:srcRect xmlns:a="http://schemas.openxmlformats.org/drawingml/2006/main" l="0" t="1639" r="0" b="1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504950"/>
            <a:ext cx="5505450" cy="3105150"/>
          </a:xfrm>
          <a:prstGeom xmlns:a="http://schemas.openxmlformats.org/drawingml/2006/main" prst="rect">
            <a:avLst/>
          </a:prstGeom>
        </p:spPr>
      </p:pic>
      <p:sp>
        <p:nvSpPr>
          <p:cNvPr id="9" name="cover-photo-caption">
            <a:extLst xmlns:a="http://schemas.openxmlformats.org/drawingml/2006/main">
              <a:ext uri="{FF2B5EF4-FFF2-40B4-BE49-F238E27FC236}">
                <a16:creationId xmlns:a16="http://schemas.microsoft.com/office/drawing/2014/main" id="{0F6972D5-8FD4-4282-A71B-550542B7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720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5DFE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D5DFE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D5DFE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D5DFE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D5DFE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D5DFE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D5DFE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D5DFE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D5DFE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D5DFE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5DFE0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D5DFE0"/>
                </a:solidFill>
                <a:latin typeface="Segoe UI"/>
                <a:ea typeface="Segoe UI"/>
                <a:cs typeface="Segoe UI"/>
              </a:rPr>
              <a:t>ShrikeFi prototype board</a:t>
            </a:r>
          </a:p>
        </p:txBody>
      </p:sp>
      <p:sp>
        <p:nvSpPr>
          <p:cNvPr id="10" name="cover-photo-stage">
            <a:extLst xmlns:a="http://schemas.openxmlformats.org/drawingml/2006/main">
              <a:ext uri="{FF2B5EF4-FFF2-40B4-BE49-F238E27FC236}">
                <a16:creationId xmlns:a16="http://schemas.microsoft.com/office/drawing/2014/main" id="{E57AC2C0-5F6B-4ADB-82C0-6200204A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24450"/>
            <a:ext cx="533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CADB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9CADB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9CADB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9CADB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9CADB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9CADB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9CADB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9CADB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9CADB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9CADB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ADB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CADB1"/>
                </a:solidFill>
                <a:latin typeface="Segoe UI"/>
                <a:ea typeface="Segoe UI"/>
                <a:cs typeface="Segoe UI"/>
              </a:rPr>
              <a:t>Current bench build</a:t>
            </a:r>
          </a:p>
        </p:txBody>
      </p:sp>
    </p:spTree>
    <p:extLst>
      <p:ext uri="{BB962C8B-B14F-4D97-AF65-F5344CB8AC3E}">
        <p14:creationId xmlns:p14="http://schemas.microsoft.com/office/powerpoint/2010/main" val="1099686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52B0C-725F-4136-9167-CF09A37281F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372350" y="4100513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42231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7B94F-2C97-4D20-8605-093B385D047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3686175" y="4100513"/>
            <a:ext cx="1000125" cy="6810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A7472"/>
            </a:solidFill>
            <a:prstDash val="solid"/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3AE17-9385-4C9F-939D-9CB0D028F16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686175" y="3028950"/>
            <a:ext cx="1000125" cy="1071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36D4D"/>
            </a:solidFill>
            <a:prstDash val="solid"/>
            <a:tailEnd type="arrow" w="sm" len="sm"/>
          </a:ln>
        </p:spPr>
      </p:cxnSp>
      <p:sp>
        <p:nvSpPr>
          <p:cNvPr id="22" name="title-Vitals need exposure context">
            <a:extLst xmlns:a="http://schemas.openxmlformats.org/drawingml/2006/main">
              <a:ext uri="{FF2B5EF4-FFF2-40B4-BE49-F238E27FC236}">
                <a16:creationId xmlns:a16="http://schemas.microsoft.com/office/drawing/2014/main" id="{30A99151-C6C1-4AF6-B8B6-AF38B912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Vitals need exposure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52831-4CD6-4992-AB1C-AEF31E0A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A7472"/>
            </a:solidFill>
            <a:prstDash val="solid"/>
          </a:ln>
        </p:spPr>
      </p:sp>
      <p:sp>
        <p:nvSpPr>
          <p:cNvPr id="3" name="context-lead">
            <a:extLst xmlns:a="http://schemas.openxmlformats.org/drawingml/2006/main">
              <a:ext uri="{FF2B5EF4-FFF2-40B4-BE49-F238E27FC236}">
                <a16:creationId xmlns:a16="http://schemas.microsoft.com/office/drawing/2014/main" id="{95527C3F-BBD8-4D5F-8691-CBF67916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4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A person's pulse sits inside a changing environment. VALOR combines both views on the device for a local first-pass assessment.</a:t>
            </a:r>
          </a:p>
        </p:txBody>
      </p:sp>
      <p:sp>
        <p:nvSpPr>
          <p:cNvPr id="4" name="context-person-box">
            <a:extLst xmlns:a="http://schemas.openxmlformats.org/drawingml/2006/main">
              <a:ext uri="{FF2B5EF4-FFF2-40B4-BE49-F238E27FC236}">
                <a16:creationId xmlns:a16="http://schemas.microsoft.com/office/drawing/2014/main" id="{A681CE3D-DCA3-4EED-8400-DFF892F0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0003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DD8"/>
            </a:solidFill>
            <a:prstDash val="solid"/>
          </a:ln>
        </p:spPr>
      </p:sp>
      <p:sp>
        <p:nvSpPr>
          <p:cNvPr id="5" name="context-person-accent">
            <a:extLst xmlns:a="http://schemas.openxmlformats.org/drawingml/2006/main">
              <a:ext uri="{FF2B5EF4-FFF2-40B4-BE49-F238E27FC236}">
                <a16:creationId xmlns:a16="http://schemas.microsoft.com/office/drawing/2014/main" id="{DF43FB69-6640-46D8-88DD-E2BC72A3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D4D"/>
          </a:solidFill>
          <a:ln xmlns:a="http://schemas.openxmlformats.org/drawingml/2006/main" w="0">
            <a:solidFill>
              <a:srgbClr val="D36D4D"/>
            </a:solidFill>
            <a:prstDash val="solid"/>
          </a:ln>
        </p:spPr>
      </p:sp>
      <p:sp>
        <p:nvSpPr>
          <p:cNvPr id="6" name="context-person-heading">
            <a:extLst xmlns:a="http://schemas.openxmlformats.org/drawingml/2006/main">
              <a:ext uri="{FF2B5EF4-FFF2-40B4-BE49-F238E27FC236}">
                <a16:creationId xmlns:a16="http://schemas.microsoft.com/office/drawing/2014/main" id="{E18FBEF2-E7F7-401F-A1E4-B5D9EAEF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5241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D36D4D"/>
                </a:solidFill>
                <a:latin typeface="Segoe UI"/>
                <a:ea typeface="Segoe UI"/>
                <a:cs typeface="Segoe UI"/>
              </a:rPr>
              <a:t>PERSON</a:t>
            </a:r>
          </a:p>
        </p:txBody>
      </p:sp>
      <p:sp>
        <p:nvSpPr>
          <p:cNvPr id="7" name="context-person-copy">
            <a:extLst xmlns:a="http://schemas.openxmlformats.org/drawingml/2006/main">
              <a:ext uri="{FF2B5EF4-FFF2-40B4-BE49-F238E27FC236}">
                <a16:creationId xmlns:a16="http://schemas.microsoft.com/office/drawing/2014/main" id="{7CA6A9F0-D9E5-480B-A563-498FF271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24175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002"/>
          </a:bodyPr>
          <a:lstStyle xmlns:a="http://schemas.openxmlformats.org/drawingml/2006/main">
            <a:def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Heart rate, SpO₂, beat intervals, breathing estimate</a:t>
            </a:r>
          </a:p>
        </p:txBody>
      </p:sp>
      <p:sp>
        <p:nvSpPr>
          <p:cNvPr id="8" name="context-exposure-box">
            <a:extLst xmlns:a="http://schemas.openxmlformats.org/drawingml/2006/main">
              <a:ext uri="{FF2B5EF4-FFF2-40B4-BE49-F238E27FC236}">
                <a16:creationId xmlns:a16="http://schemas.microsoft.com/office/drawing/2014/main" id="{3C77F974-E1A6-439D-AACD-7C6A6D13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0003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DD8"/>
            </a:solidFill>
            <a:prstDash val="solid"/>
          </a:ln>
        </p:spPr>
      </p:sp>
      <p:sp>
        <p:nvSpPr>
          <p:cNvPr id="9" name="context-exposure-accent">
            <a:extLst xmlns:a="http://schemas.openxmlformats.org/drawingml/2006/main">
              <a:ext uri="{FF2B5EF4-FFF2-40B4-BE49-F238E27FC236}">
                <a16:creationId xmlns:a16="http://schemas.microsoft.com/office/drawing/2014/main" id="{26D4CAEC-8CB3-47C2-9FC4-9F326BCE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472"/>
          </a:solidFill>
          <a:ln xmlns:a="http://schemas.openxmlformats.org/drawingml/2006/main" w="0">
            <a:solidFill>
              <a:srgbClr val="1A7472"/>
            </a:solidFill>
            <a:prstDash val="solid"/>
          </a:ln>
        </p:spPr>
      </p:sp>
      <p:sp>
        <p:nvSpPr>
          <p:cNvPr id="10" name="context-exposure-heading">
            <a:extLst xmlns:a="http://schemas.openxmlformats.org/drawingml/2006/main">
              <a:ext uri="{FF2B5EF4-FFF2-40B4-BE49-F238E27FC236}">
                <a16:creationId xmlns:a16="http://schemas.microsoft.com/office/drawing/2014/main" id="{9E1C9C31-29CB-49F2-B49B-4325A294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767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A7472"/>
                </a:solidFill>
                <a:latin typeface="Segoe UI"/>
                <a:ea typeface="Segoe UI"/>
                <a:cs typeface="Segoe UI"/>
              </a:rPr>
              <a:t>SURROUNDINGS</a:t>
            </a:r>
          </a:p>
        </p:txBody>
      </p:sp>
      <p:sp>
        <p:nvSpPr>
          <p:cNvPr id="11" name="context-exposure-copy">
            <a:extLst xmlns:a="http://schemas.openxmlformats.org/drawingml/2006/main">
              <a:ext uri="{FF2B5EF4-FFF2-40B4-BE49-F238E27FC236}">
                <a16:creationId xmlns:a16="http://schemas.microsoft.com/office/drawing/2014/main" id="{14D8F338-9234-4A34-8624-E7E3536F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76775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357"/>
          </a:bodyPr>
          <a:lstStyle xmlns:a="http://schemas.openxmlformats.org/drawingml/2006/main">
            <a:def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Ambient heat and humidity, PM₂.₅, pressure trend, motion</a:t>
            </a:r>
          </a:p>
        </p:txBody>
      </p:sp>
      <p:sp>
        <p:nvSpPr>
          <p:cNvPr id="12" name="context-triage-box">
            <a:extLst xmlns:a="http://schemas.openxmlformats.org/drawingml/2006/main">
              <a:ext uri="{FF2B5EF4-FFF2-40B4-BE49-F238E27FC236}">
                <a16:creationId xmlns:a16="http://schemas.microsoft.com/office/drawing/2014/main" id="{AF6CC908-D893-470E-A930-4AA496E2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26860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8"/>
          </a:solidFill>
          <a:ln xmlns:a="http://schemas.openxmlformats.org/drawingml/2006/main" w="9525">
            <a:solidFill>
              <a:srgbClr val="0E1A28"/>
            </a:solidFill>
            <a:prstDash val="solid"/>
          </a:ln>
        </p:spPr>
      </p:sp>
      <p:sp>
        <p:nvSpPr>
          <p:cNvPr id="13" name="context-triage-heading">
            <a:extLst xmlns:a="http://schemas.openxmlformats.org/drawingml/2006/main">
              <a:ext uri="{FF2B5EF4-FFF2-40B4-BE49-F238E27FC236}">
                <a16:creationId xmlns:a16="http://schemas.microsoft.com/office/drawing/2014/main" id="{720A456B-DE22-4883-B61F-7C6D6D85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385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LOCAL TRIAGE</a:t>
            </a:r>
          </a:p>
        </p:txBody>
      </p:sp>
      <p:sp>
        <p:nvSpPr>
          <p:cNvPr id="14" name="context-triage-copy">
            <a:extLst xmlns:a="http://schemas.openxmlformats.org/drawingml/2006/main">
              <a:ext uri="{FF2B5EF4-FFF2-40B4-BE49-F238E27FC236}">
                <a16:creationId xmlns:a16="http://schemas.microsoft.com/office/drawing/2014/main" id="{ACC0CDA6-F6ED-4216-94CF-8C675697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95725"/>
            <a:ext cx="219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4DDD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D4DDD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D4DDD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D4DDD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D4DDD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D4DDD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D4DDD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D4DDD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D4DDD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D4DDD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4DDD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4DDDF"/>
                </a:solidFill>
                <a:latin typeface="Segoe UI"/>
                <a:ea typeface="Segoe UI"/>
                <a:cs typeface="Segoe UI"/>
              </a:rPr>
              <a:t>Signal checks</a:t>
            </a:r>
          </a:p>
          <a:p xmlns:a="http://schemas.openxmlformats.org/drawingml/2006/main">
            <a:pPr algn="l">
              <a:defRPr sz="1650" b="0">
                <a:solidFill>
                  <a:srgbClr val="D4DDD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4DDDF"/>
                </a:solidFill>
                <a:latin typeface="Segoe UI"/>
                <a:ea typeface="Segoe UI"/>
                <a:cs typeface="Segoe UI"/>
              </a:rPr>
              <a:t>Clinical rules</a:t>
            </a:r>
          </a:p>
          <a:p xmlns:a="http://schemas.openxmlformats.org/drawingml/2006/main">
            <a:pPr algn="l">
              <a:defRPr sz="1650" b="0">
                <a:solidFill>
                  <a:srgbClr val="D4DDD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4DDDF"/>
                </a:solidFill>
                <a:latin typeface="Segoe UI"/>
                <a:ea typeface="Segoe UI"/>
                <a:cs typeface="Segoe UI"/>
              </a:rPr>
              <a:t>Hazard rules</a:t>
            </a:r>
          </a:p>
        </p:txBody>
      </p:sp>
      <p:sp>
        <p:nvSpPr>
          <p:cNvPr id="15" name="context-output-box">
            <a:extLst xmlns:a="http://schemas.openxmlformats.org/drawingml/2006/main">
              <a:ext uri="{FF2B5EF4-FFF2-40B4-BE49-F238E27FC236}">
                <a16:creationId xmlns:a16="http://schemas.microsoft.com/office/drawing/2014/main" id="{F4642E65-C9C2-496C-BF3E-CA9C135C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24200"/>
            <a:ext cx="32004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8"/>
          </a:solidFill>
          <a:ln xmlns:a="http://schemas.openxmlformats.org/drawingml/2006/main" w="14288">
            <a:solidFill>
              <a:srgbClr val="1A7472"/>
            </a:solidFill>
            <a:prstDash val="solid"/>
          </a:ln>
        </p:spPr>
      </p:sp>
      <p:sp>
        <p:nvSpPr>
          <p:cNvPr id="16" name="context-output-heading">
            <a:extLst xmlns:a="http://schemas.openxmlformats.org/drawingml/2006/main">
              <a:ext uri="{FF2B5EF4-FFF2-40B4-BE49-F238E27FC236}">
                <a16:creationId xmlns:a16="http://schemas.microsoft.com/office/drawing/2014/main" id="{E7C60CDC-BFA3-4920-A0DF-DA5E1334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290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A7472"/>
                </a:solidFill>
                <a:latin typeface="Segoe UI"/>
                <a:ea typeface="Segoe UI"/>
                <a:cs typeface="Segoe UI"/>
              </a:rPr>
              <a:t>LOCAL OUTPUTS</a:t>
            </a:r>
          </a:p>
        </p:txBody>
      </p:sp>
      <p:sp>
        <p:nvSpPr>
          <p:cNvPr id="17" name="context-output-copy">
            <a:extLst xmlns:a="http://schemas.openxmlformats.org/drawingml/2006/main">
              <a:ext uri="{FF2B5EF4-FFF2-40B4-BE49-F238E27FC236}">
                <a16:creationId xmlns:a16="http://schemas.microsoft.com/office/drawing/2014/main" id="{6E7B346D-179B-4FD2-A6A3-2DEF44AC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24300"/>
            <a:ext cx="2667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OLED, LED, buzzer</a:t>
            </a:r>
          </a:p>
          <a:p xmlns:a="http://schemas.openxmlformats.org/drawingml/2006/main">
            <a:pPr algn="l">
              <a:defRPr sz="172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and a nearby phone page</a:t>
            </a:r>
          </a:p>
        </p:txBody>
      </p:sp>
      <p:sp>
        <p:nvSpPr>
          <p:cNvPr id="21" name="context-footnote">
            <a:extLst xmlns:a="http://schemas.openxmlformats.org/drawingml/2006/main">
              <a:ext uri="{FF2B5EF4-FFF2-40B4-BE49-F238E27FC236}">
                <a16:creationId xmlns:a16="http://schemas.microsoft.com/office/drawing/2014/main" id="{06FF0CFF-A7BE-46C2-B5A8-628882E1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The first-pass sensing and decision path does not depend on an internet connection.</a:t>
            </a:r>
          </a:p>
        </p:txBody>
      </p:sp>
    </p:spTree>
    <p:extLst>
      <p:ext uri="{BB962C8B-B14F-4D97-AF65-F5344CB8AC3E}">
        <p14:creationId xmlns:p14="http://schemas.microsoft.com/office/powerpoint/2010/main" val="2122368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998970-80FA-4F31-AEE7-E49AF2A382E4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5881688" y="5019675"/>
            <a:ext cx="952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36D4D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DD0AFA-3904-4BCA-A1A3-746F7CFA7EFC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667625" y="378142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A7472"/>
            </a:solidFill>
            <a:prstDash val="solid"/>
            <a:tailEnd type="arrow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7EEC03-5041-4604-BC52-DB60A69B471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467100" y="37814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A7472"/>
            </a:solidFill>
            <a:prstDash val="solid"/>
            <a:tailEnd type="arrow" w="med" len="med"/>
          </a:ln>
        </p:spPr>
      </p:cxnSp>
      <p:sp>
        <p:nvSpPr>
          <p:cNvPr id="42" name="title-System architecture">
            <a:extLst xmlns:a="http://schemas.openxmlformats.org/drawingml/2006/main">
              <a:ext uri="{FF2B5EF4-FFF2-40B4-BE49-F238E27FC236}">
                <a16:creationId xmlns:a16="http://schemas.microsoft.com/office/drawing/2014/main" id="{40E1DBB5-28CB-429C-B1B4-41B8608B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36D02-90E7-45C4-BE8F-7F72005A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A7472"/>
            </a:solidFill>
            <a:prstDash val="solid"/>
          </a:ln>
        </p:spPr>
      </p:sp>
      <p:sp>
        <p:nvSpPr>
          <p:cNvPr id="3" name="architecture-sensors">
            <a:extLst xmlns:a="http://schemas.openxmlformats.org/drawingml/2006/main">
              <a:ext uri="{FF2B5EF4-FFF2-40B4-BE49-F238E27FC236}">
                <a16:creationId xmlns:a16="http://schemas.microsoft.com/office/drawing/2014/main" id="{D0C867CB-0601-41AC-A72F-0E20B375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28765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DD8"/>
            </a:solidFill>
            <a:prstDash val="solid"/>
          </a:ln>
        </p:spPr>
      </p:sp>
      <p:sp>
        <p:nvSpPr>
          <p:cNvPr id="4" name="architecture-sensors-heading">
            <a:extLst xmlns:a="http://schemas.openxmlformats.org/drawingml/2006/main">
              <a:ext uri="{FF2B5EF4-FFF2-40B4-BE49-F238E27FC236}">
                <a16:creationId xmlns:a16="http://schemas.microsoft.com/office/drawing/2014/main" id="{C53385A0-4086-40B1-83CB-EC1411EC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A7472"/>
                </a:solidFill>
                <a:latin typeface="Segoe UI"/>
                <a:ea typeface="Segoe UI"/>
                <a:cs typeface="Segoe UI"/>
              </a:rPr>
              <a:t>SENSORS</a:t>
            </a:r>
          </a:p>
        </p:txBody>
      </p:sp>
      <p:sp>
        <p:nvSpPr>
          <p:cNvPr id="5" name="architecture-sensor-0-name">
            <a:extLst xmlns:a="http://schemas.openxmlformats.org/drawingml/2006/main">
              <a:ext uri="{FF2B5EF4-FFF2-40B4-BE49-F238E27FC236}">
                <a16:creationId xmlns:a16="http://schemas.microsoft.com/office/drawing/2014/main" id="{CB5F9CA7-DB9E-4100-8FFA-FC10F1E5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305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MAX30102</a:t>
            </a:r>
          </a:p>
        </p:txBody>
      </p:sp>
      <p:sp>
        <p:nvSpPr>
          <p:cNvPr id="6" name="architecture-sensor-0-detail">
            <a:extLst xmlns:a="http://schemas.openxmlformats.org/drawingml/2006/main">
              <a:ext uri="{FF2B5EF4-FFF2-40B4-BE49-F238E27FC236}">
                <a16:creationId xmlns:a16="http://schemas.microsoft.com/office/drawing/2014/main" id="{A3971D2B-68B2-41C7-8238-8A12C551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Red and IR optical PPG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63B2B-4EAF-4C62-B7FD-EE89033D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BE6"/>
            </a:solidFill>
            <a:prstDash val="solid"/>
          </a:ln>
        </p:spPr>
      </p:sp>
      <p:sp>
        <p:nvSpPr>
          <p:cNvPr id="8" name="architecture-sensor-1-name">
            <a:extLst xmlns:a="http://schemas.openxmlformats.org/drawingml/2006/main">
              <a:ext uri="{FF2B5EF4-FFF2-40B4-BE49-F238E27FC236}">
                <a16:creationId xmlns:a16="http://schemas.microsoft.com/office/drawing/2014/main" id="{E5676D8D-38D1-4A4B-A689-5907CE2C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305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BME280</a:t>
            </a:r>
          </a:p>
        </p:txBody>
      </p:sp>
      <p:sp>
        <p:nvSpPr>
          <p:cNvPr id="9" name="architecture-sensor-1-detail">
            <a:extLst xmlns:a="http://schemas.openxmlformats.org/drawingml/2006/main">
              <a:ext uri="{FF2B5EF4-FFF2-40B4-BE49-F238E27FC236}">
                <a16:creationId xmlns:a16="http://schemas.microsoft.com/office/drawing/2014/main" id="{CBE4C8F5-B785-4F0E-A03A-38B23D23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45"/>
          </a:bodyPr>
          <a:lstStyle xmlns:a="http://schemas.openxmlformats.org/drawingml/2006/main">
            <a:def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Ambient temperature, RH, pressure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1CD10-CA50-48E5-B454-28645FE2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BE6"/>
            </a:solidFill>
            <a:prstDash val="solid"/>
          </a:ln>
        </p:spPr>
      </p:sp>
      <p:sp>
        <p:nvSpPr>
          <p:cNvPr id="11" name="architecture-sensor-2-name">
            <a:extLst xmlns:a="http://schemas.openxmlformats.org/drawingml/2006/main">
              <a:ext uri="{FF2B5EF4-FFF2-40B4-BE49-F238E27FC236}">
                <a16:creationId xmlns:a16="http://schemas.microsoft.com/office/drawing/2014/main" id="{C550D909-B11D-4A45-9060-3C89F60A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305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PMS5003</a:t>
            </a:r>
          </a:p>
        </p:txBody>
      </p:sp>
      <p:sp>
        <p:nvSpPr>
          <p:cNvPr id="12" name="architecture-sensor-2-detail">
            <a:extLst xmlns:a="http://schemas.openxmlformats.org/drawingml/2006/main">
              <a:ext uri="{FF2B5EF4-FFF2-40B4-BE49-F238E27FC236}">
                <a16:creationId xmlns:a16="http://schemas.microsoft.com/office/drawing/2014/main" id="{A254A0B5-62E9-4842-BE1C-6397630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Particulate matter, UART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C040A-39B1-4335-A508-7DF9EF39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BE6"/>
            </a:solidFill>
            <a:prstDash val="solid"/>
          </a:ln>
        </p:spPr>
      </p:sp>
      <p:sp>
        <p:nvSpPr>
          <p:cNvPr id="14" name="architecture-sensor-3-name">
            <a:extLst xmlns:a="http://schemas.openxmlformats.org/drawingml/2006/main">
              <a:ext uri="{FF2B5EF4-FFF2-40B4-BE49-F238E27FC236}">
                <a16:creationId xmlns:a16="http://schemas.microsoft.com/office/drawing/2014/main" id="{A79E4BBA-C75C-4BC7-BFE3-362151C5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305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MPU6050</a:t>
            </a:r>
          </a:p>
        </p:txBody>
      </p:sp>
      <p:sp>
        <p:nvSpPr>
          <p:cNvPr id="15" name="architecture-sensor-3-detail">
            <a:extLst xmlns:a="http://schemas.openxmlformats.org/drawingml/2006/main">
              <a:ext uri="{FF2B5EF4-FFF2-40B4-BE49-F238E27FC236}">
                <a16:creationId xmlns:a16="http://schemas.microsoft.com/office/drawing/2014/main" id="{CF3EAB3B-E18B-45BE-80CC-B66BFE38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Motion and fall cues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A6A8C-7B29-417A-8C7F-95D0D14D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BE6"/>
            </a:solidFill>
            <a:prstDash val="solid"/>
          </a:ln>
        </p:spPr>
      </p:sp>
      <p:sp>
        <p:nvSpPr>
          <p:cNvPr id="17" name="architecture-sensor-4-name">
            <a:extLst xmlns:a="http://schemas.openxmlformats.org/drawingml/2006/main">
              <a:ext uri="{FF2B5EF4-FFF2-40B4-BE49-F238E27FC236}">
                <a16:creationId xmlns:a16="http://schemas.microsoft.com/office/drawing/2014/main" id="{CD649D9A-C5E4-410D-9389-8A6F8E1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2305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GNSS</a:t>
            </a:r>
          </a:p>
        </p:txBody>
      </p:sp>
      <p:sp>
        <p:nvSpPr>
          <p:cNvPr id="18" name="architecture-sensor-4-detail">
            <a:extLst xmlns:a="http://schemas.openxmlformats.org/drawingml/2006/main">
              <a:ext uri="{FF2B5EF4-FFF2-40B4-BE49-F238E27FC236}">
                <a16:creationId xmlns:a16="http://schemas.microsoft.com/office/drawing/2014/main" id="{762A98E7-BEDB-4C31-B0A2-8668EC9B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Outdoor position</a:t>
            </a:r>
          </a:p>
        </p:txBody>
      </p:sp>
      <p:sp>
        <p:nvSpPr>
          <p:cNvPr id="19" name="architecture-esp32">
            <a:extLst xmlns:a="http://schemas.openxmlformats.org/drawingml/2006/main">
              <a:ext uri="{FF2B5EF4-FFF2-40B4-BE49-F238E27FC236}">
                <a16:creationId xmlns:a16="http://schemas.microsoft.com/office/drawing/2014/main" id="{A9170C4F-6E29-44A5-94EF-BC38CF9C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43175"/>
            <a:ext cx="35718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8"/>
          </a:solidFill>
          <a:ln xmlns:a="http://schemas.openxmlformats.org/drawingml/2006/main" w="9525">
            <a:solidFill>
              <a:srgbClr val="0E1A28"/>
            </a:solidFill>
            <a:prstDash val="solid"/>
          </a:ln>
        </p:spPr>
      </p:sp>
      <p:sp>
        <p:nvSpPr>
          <p:cNvPr id="20" name="architecture-esp32-title">
            <a:extLst xmlns:a="http://schemas.openxmlformats.org/drawingml/2006/main">
              <a:ext uri="{FF2B5EF4-FFF2-40B4-BE49-F238E27FC236}">
                <a16:creationId xmlns:a16="http://schemas.microsoft.com/office/drawing/2014/main" id="{AC6A3E7F-663B-4358-B96C-059B01BE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ESP32-S3</a:t>
            </a:r>
          </a:p>
        </p:txBody>
      </p:sp>
      <p:sp>
        <p:nvSpPr>
          <p:cNvPr id="21" name="architecture-esp32-copy">
            <a:extLst xmlns:a="http://schemas.openxmlformats.org/drawingml/2006/main">
              <a:ext uri="{FF2B5EF4-FFF2-40B4-BE49-F238E27FC236}">
                <a16:creationId xmlns:a16="http://schemas.microsoft.com/office/drawing/2014/main" id="{63A2CEA3-8531-42CE-9B4B-AB51F828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76600"/>
            <a:ext cx="304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646"/>
          </a:bodyPr>
          <a:lstStyle xmlns:a="http://schemas.openxmlformats.org/drawingml/2006/main">
            <a:defPPr algn="l">
              <a:defRPr sz="165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2DDE0"/>
                </a:solidFill>
                <a:latin typeface="Segoe UI"/>
                <a:ea typeface="Segoe UI"/>
                <a:cs typeface="Segoe UI"/>
              </a:rPr>
              <a:t>Core 0  PPG capture and pulse analytics</a:t>
            </a:r>
          </a:p>
          <a:p xmlns:a="http://schemas.openxmlformats.org/drawingml/2006/main">
            <a:pPr algn="l">
              <a:defRPr sz="165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2DDE0"/>
                </a:solidFill>
                <a:latin typeface="Segoe UI"/>
                <a:ea typeface="Segoe UI"/>
                <a:cs typeface="Segoe UI"/>
              </a:rPr>
              <a:t>Core 1  clinical and hazard assessment</a:t>
            </a:r>
          </a:p>
          <a:p xmlns:a="http://schemas.openxmlformats.org/drawingml/2006/main">
            <a:pPr algn="l">
              <a:defRPr sz="165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2DDE0"/>
                </a:solidFill>
                <a:latin typeface="Segoe UI"/>
                <a:ea typeface="Segoe UI"/>
                <a:cs typeface="Segoe UI"/>
              </a:rPr>
              <a:t>FreeRTOS tasks share local device state</a:t>
            </a:r>
          </a:p>
        </p:txBody>
      </p:sp>
      <p:sp>
        <p:nvSpPr>
          <p:cNvPr id="22" name="architecture-forgefpga">
            <a:extLst xmlns:a="http://schemas.openxmlformats.org/drawingml/2006/main">
              <a:ext uri="{FF2B5EF4-FFF2-40B4-BE49-F238E27FC236}">
                <a16:creationId xmlns:a16="http://schemas.microsoft.com/office/drawing/2014/main" id="{7BBEA42C-305C-4973-A0B1-587DF694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14950"/>
            <a:ext cx="2714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A7472"/>
            </a:solidFill>
            <a:prstDash val="solid"/>
          </a:ln>
        </p:spPr>
      </p:sp>
      <p:sp>
        <p:nvSpPr>
          <p:cNvPr id="23" name="architecture-forgefpga-title">
            <a:extLst xmlns:a="http://schemas.openxmlformats.org/drawingml/2006/main">
              <a:ext uri="{FF2B5EF4-FFF2-40B4-BE49-F238E27FC236}">
                <a16:creationId xmlns:a16="http://schemas.microsoft.com/office/drawing/2014/main" id="{C633A45C-A89B-4B0E-B285-68E2BEAC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102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ForgeFPGA SLG47910</a:t>
            </a:r>
          </a:p>
        </p:txBody>
      </p:sp>
      <p:sp>
        <p:nvSpPr>
          <p:cNvPr id="24" name="architecture-forgefpga-copy">
            <a:extLst xmlns:a="http://schemas.openxmlformats.org/drawingml/2006/main">
              <a:ext uri="{FF2B5EF4-FFF2-40B4-BE49-F238E27FC236}">
                <a16:creationId xmlns:a16="http://schemas.microsoft.com/office/drawing/2014/main" id="{06285C9F-6C88-4E01-BEFE-507A41D5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762625"/>
            <a:ext cx="2324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A7472"/>
                </a:solidFill>
                <a:latin typeface="Segoe UI"/>
                <a:ea typeface="Segoe UI"/>
                <a:cs typeface="Segoe UI"/>
              </a:rPr>
              <a:t>50 MHz filter and beat timer</a:t>
            </a:r>
          </a:p>
          <a:p xmlns:a="http://schemas.openxmlformats.org/drawingml/2006/main">
            <a:pPr algn="l">
              <a:defRPr sz="1425" b="0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A7472"/>
                </a:solidFill>
                <a:latin typeface="Segoe UI"/>
                <a:ea typeface="Segoe UI"/>
                <a:cs typeface="Segoe UI"/>
              </a:rPr>
              <a:t>8-bit mode-0 SPI</a:t>
            </a:r>
          </a:p>
        </p:txBody>
      </p:sp>
      <p:sp>
        <p:nvSpPr>
          <p:cNvPr id="25" name="architecture-outputs">
            <a:extLst xmlns:a="http://schemas.openxmlformats.org/drawingml/2006/main">
              <a:ext uri="{FF2B5EF4-FFF2-40B4-BE49-F238E27FC236}">
                <a16:creationId xmlns:a16="http://schemas.microsoft.com/office/drawing/2014/main" id="{2A1D8A16-E266-4DF6-940E-FE9C0F94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62125"/>
            <a:ext cx="30670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DD8"/>
            </a:solidFill>
            <a:prstDash val="solid"/>
          </a:ln>
        </p:spPr>
      </p:sp>
      <p:sp>
        <p:nvSpPr>
          <p:cNvPr id="26" name="architecture-outputs-heading">
            <a:extLst xmlns:a="http://schemas.openxmlformats.org/drawingml/2006/main">
              <a:ext uri="{FF2B5EF4-FFF2-40B4-BE49-F238E27FC236}">
                <a16:creationId xmlns:a16="http://schemas.microsoft.com/office/drawing/2014/main" id="{34D95FC5-1B76-4447-AD1D-82C200B2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92405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A7472"/>
                </a:solidFill>
                <a:latin typeface="Segoe UI"/>
                <a:ea typeface="Segoe UI"/>
                <a:cs typeface="Segoe UI"/>
              </a:rPr>
              <a:t>LOCAL OUTPUTS</a:t>
            </a:r>
          </a:p>
        </p:txBody>
      </p:sp>
      <p:sp>
        <p:nvSpPr>
          <p:cNvPr id="27" name="architecture-output-0-name">
            <a:extLst xmlns:a="http://schemas.openxmlformats.org/drawingml/2006/main">
              <a:ext uri="{FF2B5EF4-FFF2-40B4-BE49-F238E27FC236}">
                <a16:creationId xmlns:a16="http://schemas.microsoft.com/office/drawing/2014/main" id="{A719A5F0-A054-404A-8CFD-F9945201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4384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128 × 64 OLED</a:t>
            </a:r>
          </a:p>
        </p:txBody>
      </p:sp>
      <p:sp>
        <p:nvSpPr>
          <p:cNvPr id="28" name="architecture-output-0-detail">
            <a:extLst xmlns:a="http://schemas.openxmlformats.org/drawingml/2006/main">
              <a:ext uri="{FF2B5EF4-FFF2-40B4-BE49-F238E27FC236}">
                <a16:creationId xmlns:a16="http://schemas.microsoft.com/office/drawing/2014/main" id="{A1F213AE-6C16-4396-A038-8E994928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752725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Vitals and alert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A993E7-4D54-4381-A542-EF66752C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162300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BE6"/>
            </a:solidFill>
            <a:prstDash val="solid"/>
          </a:ln>
        </p:spPr>
      </p:sp>
      <p:sp>
        <p:nvSpPr>
          <p:cNvPr id="30" name="architecture-output-1-name">
            <a:extLst xmlns:a="http://schemas.openxmlformats.org/drawingml/2006/main">
              <a:ext uri="{FF2B5EF4-FFF2-40B4-BE49-F238E27FC236}">
                <a16:creationId xmlns:a16="http://schemas.microsoft.com/office/drawing/2014/main" id="{75203AA9-E7EC-4528-A736-81B3AA24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28975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LED and buzzer</a:t>
            </a:r>
          </a:p>
        </p:txBody>
      </p:sp>
      <p:sp>
        <p:nvSpPr>
          <p:cNvPr id="31" name="architecture-output-1-detail">
            <a:extLst xmlns:a="http://schemas.openxmlformats.org/drawingml/2006/main">
              <a:ext uri="{FF2B5EF4-FFF2-40B4-BE49-F238E27FC236}">
                <a16:creationId xmlns:a16="http://schemas.microsoft.com/office/drawing/2014/main" id="{6FA0F718-5B9C-4C92-96E1-196CECD6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5433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At-device alert cues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3A5627-4469-4A4C-8669-183A27EB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952875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BE6"/>
            </a:solidFill>
            <a:prstDash val="solid"/>
          </a:ln>
        </p:spPr>
      </p:sp>
      <p:sp>
        <p:nvSpPr>
          <p:cNvPr id="33" name="architecture-output-2-name">
            <a:extLst xmlns:a="http://schemas.openxmlformats.org/drawingml/2006/main">
              <a:ext uri="{FF2B5EF4-FFF2-40B4-BE49-F238E27FC236}">
                <a16:creationId xmlns:a16="http://schemas.microsoft.com/office/drawing/2014/main" id="{CBA37CB7-3CC9-4279-A0F0-E2D2E9A7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01955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ESP32 SoftAP</a:t>
            </a:r>
          </a:p>
        </p:txBody>
      </p:sp>
      <p:sp>
        <p:nvSpPr>
          <p:cNvPr id="34" name="architecture-output-2-detail">
            <a:extLst xmlns:a="http://schemas.openxmlformats.org/drawingml/2006/main">
              <a:ext uri="{FF2B5EF4-FFF2-40B4-BE49-F238E27FC236}">
                <a16:creationId xmlns:a16="http://schemas.microsoft.com/office/drawing/2014/main" id="{C8C7554A-8BC1-4C5D-83D6-F0A70825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333875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Phone status page and history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1F3A37-95F7-45F3-8D45-DDB3C52A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743450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BE6"/>
            </a:solidFill>
            <a:prstDash val="solid"/>
          </a:ln>
        </p:spPr>
      </p:sp>
      <p:sp>
        <p:nvSpPr>
          <p:cNvPr id="36" name="architecture-output-3-name">
            <a:extLst xmlns:a="http://schemas.openxmlformats.org/drawingml/2006/main">
              <a:ext uri="{FF2B5EF4-FFF2-40B4-BE49-F238E27FC236}">
                <a16:creationId xmlns:a16="http://schemas.microsoft.com/office/drawing/2014/main" id="{23161E28-5932-48F9-9DF4-18CBE79A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810125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USB serial</a:t>
            </a:r>
          </a:p>
        </p:txBody>
      </p:sp>
      <p:sp>
        <p:nvSpPr>
          <p:cNvPr id="37" name="architecture-output-3-detail">
            <a:extLst xmlns:a="http://schemas.openxmlformats.org/drawingml/2006/main">
              <a:ext uri="{FF2B5EF4-FFF2-40B4-BE49-F238E27FC236}">
                <a16:creationId xmlns:a16="http://schemas.microsoft.com/office/drawing/2014/main" id="{12B2ADEF-8EDC-4C4F-995D-E6F5B404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1244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Detailed desktop dashboard</a:t>
            </a:r>
          </a:p>
        </p:txBody>
      </p:sp>
      <p:sp>
        <p:nvSpPr>
          <p:cNvPr id="41" name="architecture-bus-caption">
            <a:extLst xmlns:a="http://schemas.openxmlformats.org/drawingml/2006/main">
              <a:ext uri="{FF2B5EF4-FFF2-40B4-BE49-F238E27FC236}">
                <a16:creationId xmlns:a16="http://schemas.microsoft.com/office/drawing/2014/main" id="{010BBD81-C870-456B-85DA-3486BAF0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Sensor buses: I²C / UART. FPGA link: 8-bit mode-0 SPI.</a:t>
            </a:r>
          </a:p>
        </p:txBody>
      </p:sp>
    </p:spTree>
    <p:extLst>
      <p:ext uri="{BB962C8B-B14F-4D97-AF65-F5344CB8AC3E}">
        <p14:creationId xmlns:p14="http://schemas.microsoft.com/office/powerpoint/2010/main" val="1292167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A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8AB7D5-D251-46D6-840D-56846B723C1D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286875" y="23431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5A33E"/>
            </a:solidFill>
            <a:prstDash val="solid"/>
            <a:tailEnd type="arrow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91C4CF-95D9-47C7-A367-3ACE596E96C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067550" y="23431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5A33E"/>
            </a:solidFill>
            <a:prstDash val="solid"/>
            <a:tailEnd type="arrow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3997BC-59C8-4E6A-8BD7-7C9F27EABC2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48225" y="23431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5A33E"/>
            </a:solidFill>
            <a:prstDash val="solid"/>
            <a:tailEnd type="arrow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BCF3B3-DB45-46DF-945E-B210F6CEAF6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28900" y="23431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5A33E"/>
            </a:solidFill>
            <a:prstDash val="solid"/>
            <a:tailEnd type="arrow" w="sm" len="sm"/>
          </a:ln>
        </p:spPr>
      </p:cxnSp>
      <p:sp>
        <p:nvSpPr>
          <p:cNvPr id="34" name="title-FPGA beat timing">
            <a:extLst xmlns:a="http://schemas.openxmlformats.org/drawingml/2006/main">
              <a:ext uri="{FF2B5EF4-FFF2-40B4-BE49-F238E27FC236}">
                <a16:creationId xmlns:a16="http://schemas.microsoft.com/office/drawing/2014/main" id="{A6A54F08-A4CE-4A22-98D0-1D05273A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FPGA beat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40AFB-6028-4DE0-AD86-06F6B1B4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36D4D"/>
            </a:solidFill>
            <a:prstDash val="solid"/>
          </a:ln>
        </p:spPr>
      </p:sp>
      <p:sp>
        <p:nvSpPr>
          <p:cNvPr id="3" name="ppg-stage-0">
            <a:extLst xmlns:a="http://schemas.openxmlformats.org/drawingml/2006/main">
              <a:ext uri="{FF2B5EF4-FFF2-40B4-BE49-F238E27FC236}">
                <a16:creationId xmlns:a16="http://schemas.microsoft.com/office/drawing/2014/main" id="{BE5F28E2-429A-4AC6-8715-DE915BCC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2076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3D"/>
          </a:solidFill>
          <a:ln xmlns:a="http://schemas.openxmlformats.org/drawingml/2006/main" w="11430">
            <a:solidFill>
              <a:srgbClr val="385062"/>
            </a:solidFill>
            <a:prstDash val="solid"/>
          </a:ln>
        </p:spPr>
      </p:sp>
      <p:sp>
        <p:nvSpPr>
          <p:cNvPr id="4" name="ppg-stage-0-accent">
            <a:extLst xmlns:a="http://schemas.openxmlformats.org/drawingml/2006/main">
              <a:ext uri="{FF2B5EF4-FFF2-40B4-BE49-F238E27FC236}">
                <a16:creationId xmlns:a16="http://schemas.microsoft.com/office/drawing/2014/main" id="{9CD1A140-AFAE-4AF3-A190-90A4119D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D4D"/>
          </a:solidFill>
          <a:ln xmlns:a="http://schemas.openxmlformats.org/drawingml/2006/main" w="0">
            <a:solidFill>
              <a:srgbClr val="D36D4D"/>
            </a:solidFill>
            <a:prstDash val="solid"/>
          </a:ln>
        </p:spPr>
      </p:sp>
      <p:sp>
        <p:nvSpPr>
          <p:cNvPr id="5" name="ppg-stage-0-title">
            <a:extLst xmlns:a="http://schemas.openxmlformats.org/drawingml/2006/main">
              <a:ext uri="{FF2B5EF4-FFF2-40B4-BE49-F238E27FC236}">
                <a16:creationId xmlns:a16="http://schemas.microsoft.com/office/drawing/2014/main" id="{CC713D21-BA9A-4B36-9FE3-6BACD9FD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95475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IR sample</a:t>
            </a:r>
          </a:p>
        </p:txBody>
      </p:sp>
      <p:sp>
        <p:nvSpPr>
          <p:cNvPr id="6" name="ppg-stage-0-body">
            <a:extLst xmlns:a="http://schemas.openxmlformats.org/drawingml/2006/main">
              <a:ext uri="{FF2B5EF4-FFF2-40B4-BE49-F238E27FC236}">
                <a16:creationId xmlns:a16="http://schemas.microsoft.com/office/drawing/2014/main" id="{FFBF9523-5B31-4D30-B2B3-5C52D9DA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169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CFD9DD"/>
                </a:solidFill>
                <a:latin typeface="Segoe UI"/>
                <a:ea typeface="Segoe UI"/>
                <a:cs typeface="Segoe UI"/>
              </a:rPr>
              <a:t>MAX30102 via ESP32</a:t>
            </a:r>
          </a:p>
        </p:txBody>
      </p:sp>
      <p:sp>
        <p:nvSpPr>
          <p:cNvPr id="7" name="ppg-stage-1">
            <a:extLst xmlns:a="http://schemas.openxmlformats.org/drawingml/2006/main">
              <a:ext uri="{FF2B5EF4-FFF2-40B4-BE49-F238E27FC236}">
                <a16:creationId xmlns:a16="http://schemas.microsoft.com/office/drawing/2014/main" id="{365D78DB-DD19-4B41-B136-576617E1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33550"/>
            <a:ext cx="2076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3D"/>
          </a:solidFill>
          <a:ln xmlns:a="http://schemas.openxmlformats.org/drawingml/2006/main" w="11430">
            <a:solidFill>
              <a:srgbClr val="385062"/>
            </a:solidFill>
            <a:prstDash val="solid"/>
          </a:ln>
        </p:spPr>
      </p:sp>
      <p:sp>
        <p:nvSpPr>
          <p:cNvPr id="8" name="ppg-stage-1-accent">
            <a:extLst xmlns:a="http://schemas.openxmlformats.org/drawingml/2006/main">
              <a:ext uri="{FF2B5EF4-FFF2-40B4-BE49-F238E27FC236}">
                <a16:creationId xmlns:a16="http://schemas.microsoft.com/office/drawing/2014/main" id="{EA77521D-2BC3-435C-8162-E3C76418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335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472"/>
          </a:solidFill>
          <a:ln xmlns:a="http://schemas.openxmlformats.org/drawingml/2006/main" w="0">
            <a:solidFill>
              <a:srgbClr val="1A7472"/>
            </a:solidFill>
            <a:prstDash val="solid"/>
          </a:ln>
        </p:spPr>
      </p:sp>
      <p:sp>
        <p:nvSpPr>
          <p:cNvPr id="9" name="ppg-stage-1-title">
            <a:extLst xmlns:a="http://schemas.openxmlformats.org/drawingml/2006/main">
              <a:ext uri="{FF2B5EF4-FFF2-40B4-BE49-F238E27FC236}">
                <a16:creationId xmlns:a16="http://schemas.microsoft.com/office/drawing/2014/main" id="{0B45FCB6-714C-425C-96DE-72D83A8C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95475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8-tap average</a:t>
            </a:r>
          </a:p>
        </p:txBody>
      </p:sp>
      <p:sp>
        <p:nvSpPr>
          <p:cNvPr id="10" name="ppg-stage-1-body">
            <a:extLst xmlns:a="http://schemas.openxmlformats.org/drawingml/2006/main">
              <a:ext uri="{FF2B5EF4-FFF2-40B4-BE49-F238E27FC236}">
                <a16:creationId xmlns:a16="http://schemas.microsoft.com/office/drawing/2014/main" id="{9398A4D2-87E4-4756-8097-9A4175D6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24100"/>
            <a:ext cx="169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CFD9DD"/>
                </a:solidFill>
                <a:latin typeface="Segoe UI"/>
                <a:ea typeface="Segoe UI"/>
                <a:cs typeface="Segoe UI"/>
              </a:rPr>
              <a:t>Running-sum filter</a:t>
            </a:r>
          </a:p>
        </p:txBody>
      </p:sp>
      <p:sp>
        <p:nvSpPr>
          <p:cNvPr id="11" name="ppg-stage-2">
            <a:extLst xmlns:a="http://schemas.openxmlformats.org/drawingml/2006/main">
              <a:ext uri="{FF2B5EF4-FFF2-40B4-BE49-F238E27FC236}">
                <a16:creationId xmlns:a16="http://schemas.microsoft.com/office/drawing/2014/main" id="{65AA7F6D-145F-4911-B30E-33061B4D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33550"/>
            <a:ext cx="2076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3D"/>
          </a:solidFill>
          <a:ln xmlns:a="http://schemas.openxmlformats.org/drawingml/2006/main" w="11430">
            <a:solidFill>
              <a:srgbClr val="385062"/>
            </a:solidFill>
            <a:prstDash val="solid"/>
          </a:ln>
        </p:spPr>
      </p:sp>
      <p:sp>
        <p:nvSpPr>
          <p:cNvPr id="12" name="ppg-stage-2-accent">
            <a:extLst xmlns:a="http://schemas.openxmlformats.org/drawingml/2006/main">
              <a:ext uri="{FF2B5EF4-FFF2-40B4-BE49-F238E27FC236}">
                <a16:creationId xmlns:a16="http://schemas.microsoft.com/office/drawing/2014/main" id="{1EC26072-A4DE-49FC-AD0D-8D363DFA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335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472"/>
          </a:solidFill>
          <a:ln xmlns:a="http://schemas.openxmlformats.org/drawingml/2006/main" w="0">
            <a:solidFill>
              <a:srgbClr val="1A7472"/>
            </a:solidFill>
            <a:prstDash val="solid"/>
          </a:ln>
        </p:spPr>
      </p:sp>
      <p:sp>
        <p:nvSpPr>
          <p:cNvPr id="13" name="ppg-stage-2-title">
            <a:extLst xmlns:a="http://schemas.openxmlformats.org/drawingml/2006/main">
              <a:ext uri="{FF2B5EF4-FFF2-40B4-BE49-F238E27FC236}">
                <a16:creationId xmlns:a16="http://schemas.microsoft.com/office/drawing/2014/main" id="{AEA2D919-376D-49D6-AE26-E746153D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95475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Peak detector</a:t>
            </a:r>
          </a:p>
        </p:txBody>
      </p:sp>
      <p:sp>
        <p:nvSpPr>
          <p:cNvPr id="14" name="ppg-stage-2-body">
            <a:extLst xmlns:a="http://schemas.openxmlformats.org/drawingml/2006/main">
              <a:ext uri="{FF2B5EF4-FFF2-40B4-BE49-F238E27FC236}">
                <a16:creationId xmlns:a16="http://schemas.microsoft.com/office/drawing/2014/main" id="{FB81344C-4682-4B18-8028-D8B3C854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24100"/>
            <a:ext cx="169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CFD9DD"/>
                </a:solidFill>
                <a:latin typeface="Segoe UI"/>
                <a:ea typeface="Segoe UI"/>
                <a:cs typeface="Segoe UI"/>
              </a:rPr>
              <a:t>Crest rule, 250 ms refractory</a:t>
            </a:r>
          </a:p>
        </p:txBody>
      </p:sp>
      <p:sp>
        <p:nvSpPr>
          <p:cNvPr id="15" name="ppg-stage-3">
            <a:extLst xmlns:a="http://schemas.openxmlformats.org/drawingml/2006/main">
              <a:ext uri="{FF2B5EF4-FFF2-40B4-BE49-F238E27FC236}">
                <a16:creationId xmlns:a16="http://schemas.microsoft.com/office/drawing/2014/main" id="{B1446CB3-7F6A-432B-97E5-E6766A33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733550"/>
            <a:ext cx="2076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3D"/>
          </a:solidFill>
          <a:ln xmlns:a="http://schemas.openxmlformats.org/drawingml/2006/main" w="11430">
            <a:solidFill>
              <a:srgbClr val="385062"/>
            </a:solidFill>
            <a:prstDash val="solid"/>
          </a:ln>
        </p:spPr>
      </p:sp>
      <p:sp>
        <p:nvSpPr>
          <p:cNvPr id="16" name="ppg-stage-3-accent">
            <a:extLst xmlns:a="http://schemas.openxmlformats.org/drawingml/2006/main">
              <a:ext uri="{FF2B5EF4-FFF2-40B4-BE49-F238E27FC236}">
                <a16:creationId xmlns:a16="http://schemas.microsoft.com/office/drawing/2014/main" id="{DBA8DE16-247D-4512-84D3-BE5EAB6F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7335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472"/>
          </a:solidFill>
          <a:ln xmlns:a="http://schemas.openxmlformats.org/drawingml/2006/main" w="0">
            <a:solidFill>
              <a:srgbClr val="1A7472"/>
            </a:solidFill>
            <a:prstDash val="solid"/>
          </a:ln>
        </p:spPr>
      </p:sp>
      <p:sp>
        <p:nvSpPr>
          <p:cNvPr id="17" name="ppg-stage-3-title">
            <a:extLst xmlns:a="http://schemas.openxmlformats.org/drawingml/2006/main">
              <a:ext uri="{FF2B5EF4-FFF2-40B4-BE49-F238E27FC236}">
                <a16:creationId xmlns:a16="http://schemas.microsoft.com/office/drawing/2014/main" id="{5F7736C1-E493-4E37-B280-192420C1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895475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IBI capture</a:t>
            </a:r>
          </a:p>
        </p:txBody>
      </p:sp>
      <p:sp>
        <p:nvSpPr>
          <p:cNvPr id="18" name="ppg-stage-3-body">
            <a:extLst xmlns:a="http://schemas.openxmlformats.org/drawingml/2006/main">
              <a:ext uri="{FF2B5EF4-FFF2-40B4-BE49-F238E27FC236}">
                <a16:creationId xmlns:a16="http://schemas.microsoft.com/office/drawing/2014/main" id="{2CB67D74-C2B8-422F-8C02-C3A9D8B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24100"/>
            <a:ext cx="169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CFD9DD"/>
                </a:solidFill>
                <a:latin typeface="Segoe UI"/>
                <a:ea typeface="Segoe UI"/>
                <a:cs typeface="Segoe UI"/>
              </a:rPr>
              <a:t>32-bit count at 50 MHz</a:t>
            </a:r>
          </a:p>
        </p:txBody>
      </p:sp>
      <p:sp>
        <p:nvSpPr>
          <p:cNvPr id="19" name="ppg-stage-4">
            <a:extLst xmlns:a="http://schemas.openxmlformats.org/drawingml/2006/main">
              <a:ext uri="{FF2B5EF4-FFF2-40B4-BE49-F238E27FC236}">
                <a16:creationId xmlns:a16="http://schemas.microsoft.com/office/drawing/2014/main" id="{B7E85465-B430-432D-82C0-041796C6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33550"/>
            <a:ext cx="2076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3D"/>
          </a:solidFill>
          <a:ln xmlns:a="http://schemas.openxmlformats.org/drawingml/2006/main" w="11430">
            <a:solidFill>
              <a:srgbClr val="385062"/>
            </a:solidFill>
            <a:prstDash val="solid"/>
          </a:ln>
        </p:spPr>
      </p:sp>
      <p:sp>
        <p:nvSpPr>
          <p:cNvPr id="20" name="ppg-stage-4-accent">
            <a:extLst xmlns:a="http://schemas.openxmlformats.org/drawingml/2006/main">
              <a:ext uri="{FF2B5EF4-FFF2-40B4-BE49-F238E27FC236}">
                <a16:creationId xmlns:a16="http://schemas.microsoft.com/office/drawing/2014/main" id="{B2D6BCEE-CED3-415C-8817-BD99C01B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335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472"/>
          </a:solidFill>
          <a:ln xmlns:a="http://schemas.openxmlformats.org/drawingml/2006/main" w="0">
            <a:solidFill>
              <a:srgbClr val="1A7472"/>
            </a:solidFill>
            <a:prstDash val="solid"/>
          </a:ln>
        </p:spPr>
      </p:sp>
      <p:sp>
        <p:nvSpPr>
          <p:cNvPr id="21" name="ppg-stage-4-title">
            <a:extLst xmlns:a="http://schemas.openxmlformats.org/drawingml/2006/main">
              <a:ext uri="{FF2B5EF4-FFF2-40B4-BE49-F238E27FC236}">
                <a16:creationId xmlns:a16="http://schemas.microsoft.com/office/drawing/2014/main" id="{F0CFA32E-717A-4CAA-BD5B-6456D9F0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95475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SPI return</a:t>
            </a:r>
          </a:p>
        </p:txBody>
      </p:sp>
      <p:sp>
        <p:nvSpPr>
          <p:cNvPr id="22" name="ppg-stage-4-body">
            <a:extLst xmlns:a="http://schemas.openxmlformats.org/drawingml/2006/main">
              <a:ext uri="{FF2B5EF4-FFF2-40B4-BE49-F238E27FC236}">
                <a16:creationId xmlns:a16="http://schemas.microsoft.com/office/drawing/2014/main" id="{35FE8FEB-D180-4C59-B03F-1B6E23A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24100"/>
            <a:ext cx="169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FD9D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CFD9DD"/>
                </a:solidFill>
                <a:latin typeface="Segoe UI"/>
                <a:ea typeface="Segoe UI"/>
                <a:cs typeface="Segoe UI"/>
              </a:rPr>
              <a:t>0xC3 plus 32-bit interval</a:t>
            </a:r>
          </a:p>
        </p:txBody>
      </p:sp>
      <p:sp>
        <p:nvSpPr>
          <p:cNvPr id="27" name="ppg-wave-title">
            <a:extLst xmlns:a="http://schemas.openxmlformats.org/drawingml/2006/main">
              <a:ext uri="{FF2B5EF4-FFF2-40B4-BE49-F238E27FC236}">
                <a16:creationId xmlns:a16="http://schemas.microsoft.com/office/drawing/2014/main" id="{B24EAE4D-0CAF-4170-93C4-1D6A7BDB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5A33E"/>
                </a:solidFill>
                <a:latin typeface="Segoe UI"/>
                <a:ea typeface="Segoe UI"/>
                <a:cs typeface="Segoe UI"/>
              </a:rPr>
              <a:t>RTL simulation trace</a:t>
            </a:r>
          </a:p>
        </p:txBody>
      </p:sp>
      <p:sp>
        <p:nvSpPr>
          <p:cNvPr id="28" name="ppg-waveform-frame">
            <a:extLst xmlns:a="http://schemas.openxmlformats.org/drawingml/2006/main">
              <a:ext uri="{FF2B5EF4-FFF2-40B4-BE49-F238E27FC236}">
                <a16:creationId xmlns:a16="http://schemas.microsoft.com/office/drawing/2014/main" id="{5A46D4BE-CC2C-4C63-A781-814C1BEA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714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DD8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C27438-20B1-4C8C-8F59-4BE4655AA5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867a2d21f44a5"/>
          <a:stretch xmlns:a="http://schemas.openxmlformats.org/drawingml/2006/main"/>
        </p:blipFill>
        <p:spPr>
          <a:xfrm xmlns:a="http://schemas.openxmlformats.org/drawingml/2006/main">
            <a:off x="1905382" y="3733800"/>
            <a:ext cx="4514085" cy="2152650"/>
          </a:xfrm>
          <a:prstGeom xmlns:a="http://schemas.openxmlformats.org/drawingml/2006/main" prst="rect">
            <a:avLst/>
          </a:prstGeom>
        </p:spPr>
      </p:pic>
      <p:sp>
        <p:nvSpPr>
          <p:cNvPr id="30" name="ppg-tick-title">
            <a:extLst xmlns:a="http://schemas.openxmlformats.org/drawingml/2006/main">
              <a:ext uri="{FF2B5EF4-FFF2-40B4-BE49-F238E27FC236}">
                <a16:creationId xmlns:a16="http://schemas.microsoft.com/office/drawing/2014/main" id="{F5FA93D1-CF89-486C-BBF6-7A194565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800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6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6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6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6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6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6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6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6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6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D36D4D"/>
                </a:solidFill>
                <a:latin typeface="Segoe UI"/>
                <a:ea typeface="Segoe UI"/>
                <a:cs typeface="Segoe UI"/>
              </a:rPr>
              <a:t>20 ns</a:t>
            </a:r>
          </a:p>
        </p:txBody>
      </p:sp>
      <p:sp>
        <p:nvSpPr>
          <p:cNvPr id="31" name="ppg-tick-copy">
            <a:extLst xmlns:a="http://schemas.openxmlformats.org/drawingml/2006/main">
              <a:ext uri="{FF2B5EF4-FFF2-40B4-BE49-F238E27FC236}">
                <a16:creationId xmlns:a16="http://schemas.microsoft.com/office/drawing/2014/main" id="{8F52A148-8E74-4F77-8FC4-3DB4DC46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5770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D2DDE0"/>
                </a:solidFill>
                <a:latin typeface="Segoe UI"/>
                <a:ea typeface="Segoe UI"/>
                <a:cs typeface="Segoe UI"/>
              </a:rPr>
              <a:t>Counter tick at 50 MHz. This is timer resolution, not beat accuracy.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56DBFF-4844-4388-B900-73B0B81E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054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261"/>
            </a:solidFill>
            <a:prstDash val="solid"/>
          </a:ln>
        </p:spPr>
      </p:sp>
      <p:sp>
        <p:nvSpPr>
          <p:cNvPr id="33" name="ppg-red-copy">
            <a:extLst xmlns:a="http://schemas.openxmlformats.org/drawingml/2006/main">
              <a:ext uri="{FF2B5EF4-FFF2-40B4-BE49-F238E27FC236}">
                <a16:creationId xmlns:a16="http://schemas.microsoft.com/office/drawing/2014/main" id="{315F8E63-F588-448C-AF33-AD15FAB0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57825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667"/>
          </a:bodyPr>
          <a:lstStyle xmlns:a="http://schemas.openxmlformats.org/drawingml/2006/main">
            <a:defPPr algn="l">
              <a:defRPr sz="150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2DDE0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D2DDE0"/>
                </a:solidFill>
                <a:latin typeface="Segoe UI"/>
                <a:ea typeface="Segoe UI"/>
                <a:cs typeface="Segoe UI"/>
              </a:rPr>
              <a:t>Red optical samples stay on the ESP32-S3 for SpO₂ ratio processing. Firmware checks IBI plausibility before publishing pulse metrics.</a:t>
            </a:r>
          </a:p>
        </p:txBody>
      </p:sp>
    </p:spTree>
    <p:extLst>
      <p:ext uri="{BB962C8B-B14F-4D97-AF65-F5344CB8AC3E}">
        <p14:creationId xmlns:p14="http://schemas.microsoft.com/office/powerpoint/2010/main" val="812571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EA0B1-40AD-44E4-A78E-E5AD8CA48477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429500" y="3709988"/>
            <a:ext cx="809625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36D4D"/>
            </a:solidFill>
            <a:prstDash val="solid"/>
            <a:tail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EA179-C585-4474-9ACA-15548384B2A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429500" y="2671763"/>
            <a:ext cx="809625" cy="1038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A7472"/>
            </a:solidFill>
            <a:prstDash val="solid"/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7580C-7241-465F-B099-B1EC1FA9F46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429000" y="3771900"/>
            <a:ext cx="819150" cy="814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5A33E"/>
            </a:solidFill>
            <a:prstDash val="solid"/>
            <a:tailEnd type="arrow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98FBF-5E1C-4FC4-A619-10345ABCE3D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429000" y="2671763"/>
            <a:ext cx="819150" cy="11001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A7472"/>
            </a:solidFill>
            <a:prstDash val="solid"/>
            <a:tailEnd type="arrow" w="sm" len="sm"/>
          </a:ln>
        </p:spPr>
      </p:cxnSp>
      <p:sp>
        <p:nvSpPr>
          <p:cNvPr id="25" name="title-Rules and TinyML in the risk path">
            <a:extLst xmlns:a="http://schemas.openxmlformats.org/drawingml/2006/main">
              <a:ext uri="{FF2B5EF4-FFF2-40B4-BE49-F238E27FC236}">
                <a16:creationId xmlns:a16="http://schemas.microsoft.com/office/drawing/2014/main" id="{E91EB1A5-B7F6-42E0-B42A-F70EE2E5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Rules and TinyML in the risk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4BC2D-CEF7-4790-9257-7B799800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A7472"/>
            </a:solidFill>
            <a:prstDash val="solid"/>
          </a:ln>
        </p:spPr>
      </p:sp>
      <p:sp>
        <p:nvSpPr>
          <p:cNvPr id="3" name="risk-intro">
            <a:extLst xmlns:a="http://schemas.openxmlformats.org/drawingml/2006/main">
              <a:ext uri="{FF2B5EF4-FFF2-40B4-BE49-F238E27FC236}">
                <a16:creationId xmlns:a16="http://schemas.microsoft.com/office/drawing/2014/main" id="{6749123E-282B-4BB1-AA64-03AC2113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The model is an advisory path. Deterministic rules retain the hard safety thresholds.</a:t>
            </a:r>
          </a:p>
        </p:txBody>
      </p:sp>
      <p:sp>
        <p:nvSpPr>
          <p:cNvPr id="4" name="risk-inputs">
            <a:extLst xmlns:a="http://schemas.openxmlformats.org/drawingml/2006/main">
              <a:ext uri="{FF2B5EF4-FFF2-40B4-BE49-F238E27FC236}">
                <a16:creationId xmlns:a16="http://schemas.microsoft.com/office/drawing/2014/main" id="{1C63B591-C4E4-4C71-9D91-04A1491B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819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DD8"/>
            </a:solidFill>
            <a:prstDash val="solid"/>
          </a:ln>
        </p:spPr>
      </p:sp>
      <p:sp>
        <p:nvSpPr>
          <p:cNvPr id="5" name="risk-inputs-title">
            <a:extLst xmlns:a="http://schemas.openxmlformats.org/drawingml/2006/main">
              <a:ext uri="{FF2B5EF4-FFF2-40B4-BE49-F238E27FC236}">
                <a16:creationId xmlns:a16="http://schemas.microsoft.com/office/drawing/2014/main" id="{9B6F61A7-BCDD-420F-A203-50C8DF85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A7472"/>
                </a:solidFill>
                <a:latin typeface="Segoe UI"/>
                <a:ea typeface="Segoe UI"/>
                <a:cs typeface="Segoe UI"/>
              </a:rPr>
              <a:t>ON-DEVICE SIGNALS</a:t>
            </a:r>
          </a:p>
        </p:txBody>
      </p:sp>
      <p:sp>
        <p:nvSpPr>
          <p:cNvPr id="6" name="risk-inputs-person-title">
            <a:extLst xmlns:a="http://schemas.openxmlformats.org/drawingml/2006/main">
              <a:ext uri="{FF2B5EF4-FFF2-40B4-BE49-F238E27FC236}">
                <a16:creationId xmlns:a16="http://schemas.microsoft.com/office/drawing/2014/main" id="{42E526DC-DA54-4ADF-8D6E-56E06C7F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Person</a:t>
            </a:r>
          </a:p>
        </p:txBody>
      </p:sp>
      <p:sp>
        <p:nvSpPr>
          <p:cNvPr id="7" name="risk-inputs-person">
            <a:extLst xmlns:a="http://schemas.openxmlformats.org/drawingml/2006/main">
              <a:ext uri="{FF2B5EF4-FFF2-40B4-BE49-F238E27FC236}">
                <a16:creationId xmlns:a16="http://schemas.microsoft.com/office/drawing/2014/main" id="{5CFAF85B-51AC-4D25-8099-BA62CB73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HR, SpO₂, RR, RMSSD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413A2-C758-45EA-89A3-202D4D18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BE6"/>
            </a:solidFill>
            <a:prstDash val="solid"/>
          </a:ln>
        </p:spPr>
      </p:sp>
      <p:sp>
        <p:nvSpPr>
          <p:cNvPr id="9" name="risk-inputs-exposure-title">
            <a:extLst xmlns:a="http://schemas.openxmlformats.org/drawingml/2006/main">
              <a:ext uri="{FF2B5EF4-FFF2-40B4-BE49-F238E27FC236}">
                <a16:creationId xmlns:a16="http://schemas.microsoft.com/office/drawing/2014/main" id="{62BDB516-88CB-4ECA-8F6B-C5419642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Exposure</a:t>
            </a:r>
          </a:p>
        </p:txBody>
      </p:sp>
      <p:sp>
        <p:nvSpPr>
          <p:cNvPr id="10" name="risk-inputs-exposure">
            <a:extLst xmlns:a="http://schemas.openxmlformats.org/drawingml/2006/main">
              <a:ext uri="{FF2B5EF4-FFF2-40B4-BE49-F238E27FC236}">
                <a16:creationId xmlns:a16="http://schemas.microsoft.com/office/drawing/2014/main" id="{0E816869-57E2-40C5-B3FE-97FE4929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2362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Ambient temperature and RH, PM₂.₅, pressure trend, motion</a:t>
            </a:r>
          </a:p>
        </p:txBody>
      </p:sp>
      <p:sp>
        <p:nvSpPr>
          <p:cNvPr id="11" name="risk-rules">
            <a:extLst xmlns:a="http://schemas.openxmlformats.org/drawingml/2006/main">
              <a:ext uri="{FF2B5EF4-FFF2-40B4-BE49-F238E27FC236}">
                <a16:creationId xmlns:a16="http://schemas.microsoft.com/office/drawing/2014/main" id="{9D2B5442-BEED-42FC-B96E-1EEC22E1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31813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8"/>
          </a:solidFill>
          <a:ln xmlns:a="http://schemas.openxmlformats.org/drawingml/2006/main" w="9525">
            <a:solidFill>
              <a:srgbClr val="0E1A28"/>
            </a:solidFill>
            <a:prstDash val="solid"/>
          </a:ln>
        </p:spPr>
      </p:sp>
      <p:sp>
        <p:nvSpPr>
          <p:cNvPr id="12" name="risk-rules-title">
            <a:extLst xmlns:a="http://schemas.openxmlformats.org/drawingml/2006/main">
              <a:ext uri="{FF2B5EF4-FFF2-40B4-BE49-F238E27FC236}">
                <a16:creationId xmlns:a16="http://schemas.microsoft.com/office/drawing/2014/main" id="{5490D3D5-4DD1-4F3B-A2F3-92858B32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145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D5A33E"/>
                </a:solidFill>
                <a:latin typeface="Segoe UI"/>
                <a:ea typeface="Segoe UI"/>
                <a:cs typeface="Segoe UI"/>
              </a:rPr>
              <a:t>DETERMINISTIC RULES</a:t>
            </a:r>
          </a:p>
        </p:txBody>
      </p:sp>
      <p:sp>
        <p:nvSpPr>
          <p:cNvPr id="13" name="risk-rules-copy">
            <a:extLst xmlns:a="http://schemas.openxmlformats.org/drawingml/2006/main">
              <a:ext uri="{FF2B5EF4-FFF2-40B4-BE49-F238E27FC236}">
                <a16:creationId xmlns:a16="http://schemas.microsoft.com/office/drawing/2014/main" id="{C0679242-724E-43E0-B9CC-0A7B1E85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24125"/>
            <a:ext cx="2686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437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mNEWS2 subset for HR, SpO₂ and RR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Environmental thresholds and fall logic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Hard overrides</a:t>
            </a:r>
          </a:p>
        </p:txBody>
      </p:sp>
      <p:sp>
        <p:nvSpPr>
          <p:cNvPr id="14" name="risk-model">
            <a:extLst xmlns:a="http://schemas.openxmlformats.org/drawingml/2006/main">
              <a:ext uri="{FF2B5EF4-FFF2-40B4-BE49-F238E27FC236}">
                <a16:creationId xmlns:a16="http://schemas.microsoft.com/office/drawing/2014/main" id="{66FBECAF-31C2-4C96-9A19-C6E46023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81425"/>
            <a:ext cx="318135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8"/>
          </a:solidFill>
          <a:ln xmlns:a="http://schemas.openxmlformats.org/drawingml/2006/main" w="14288">
            <a:solidFill>
              <a:srgbClr val="1A7472"/>
            </a:solidFill>
            <a:prstDash val="solid"/>
          </a:ln>
        </p:spPr>
      </p:sp>
      <p:sp>
        <p:nvSpPr>
          <p:cNvPr id="15" name="risk-model-title">
            <a:extLst xmlns:a="http://schemas.openxmlformats.org/drawingml/2006/main">
              <a:ext uri="{FF2B5EF4-FFF2-40B4-BE49-F238E27FC236}">
                <a16:creationId xmlns:a16="http://schemas.microsoft.com/office/drawing/2014/main" id="{258F4CE0-F68F-4AA5-A02F-25B9C953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338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A7472"/>
                </a:solidFill>
                <a:latin typeface="Segoe UI"/>
                <a:ea typeface="Segoe UI"/>
                <a:cs typeface="Segoe UI"/>
              </a:rPr>
              <a:t>TINYML ADVISORY</a:t>
            </a:r>
          </a:p>
        </p:txBody>
      </p:sp>
      <p:sp>
        <p:nvSpPr>
          <p:cNvPr id="16" name="risk-model-copy">
            <a:extLst xmlns:a="http://schemas.openxmlformats.org/drawingml/2006/main">
              <a:ext uri="{FF2B5EF4-FFF2-40B4-BE49-F238E27FC236}">
                <a16:creationId xmlns:a16="http://schemas.microsoft.com/office/drawing/2014/main" id="{B80AA72A-8383-4768-A290-86FED0AA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33875"/>
            <a:ext cx="2686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262"/>
          </a:bodyPr>
          <a:lstStyle xmlns:a="http://schemas.openxmlformats.org/drawingml/2006/main">
            <a:def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Layer sizes 6-24-16-3</a:t>
            </a:r>
          </a:p>
          <a:p xmlns:a="http://schemas.openxmlformats.org/drawingml/2006/main">
            <a: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619 bytes of INT8 weights</a:t>
            </a:r>
          </a:p>
          <a:p xmlns:a="http://schemas.openxmlformats.org/drawingml/2006/main">
            <a: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88.39% synthetic-teacher agreement</a:t>
            </a:r>
          </a:p>
        </p:txBody>
      </p:sp>
      <p:sp>
        <p:nvSpPr>
          <p:cNvPr id="17" name="risk-fusion">
            <a:extLst xmlns:a="http://schemas.openxmlformats.org/drawingml/2006/main">
              <a:ext uri="{FF2B5EF4-FFF2-40B4-BE49-F238E27FC236}">
                <a16:creationId xmlns:a16="http://schemas.microsoft.com/office/drawing/2014/main" id="{DA586A5C-7BE3-4D6E-8D89-6D35EB69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33675"/>
            <a:ext cx="32861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36D4D"/>
            </a:solidFill>
            <a:prstDash val="solid"/>
          </a:ln>
        </p:spPr>
      </p:sp>
      <p:sp>
        <p:nvSpPr>
          <p:cNvPr id="18" name="risk-fusion-title">
            <a:extLst xmlns:a="http://schemas.openxmlformats.org/drawingml/2006/main">
              <a:ext uri="{FF2B5EF4-FFF2-40B4-BE49-F238E27FC236}">
                <a16:creationId xmlns:a16="http://schemas.microsoft.com/office/drawing/2014/main" id="{E1BE3C79-96A6-4017-8127-15EDC141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4322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D36D4D"/>
                </a:solidFill>
                <a:latin typeface="Segoe UI"/>
                <a:ea typeface="Segoe UI"/>
                <a:cs typeface="Segoe UI"/>
              </a:rPr>
              <a:t>FUSED TRIAGE</a:t>
            </a:r>
          </a:p>
        </p:txBody>
      </p:sp>
      <p:sp>
        <p:nvSpPr>
          <p:cNvPr id="19" name="risk-fusion-copy">
            <a:extLst xmlns:a="http://schemas.openxmlformats.org/drawingml/2006/main">
              <a:ext uri="{FF2B5EF4-FFF2-40B4-BE49-F238E27FC236}">
                <a16:creationId xmlns:a16="http://schemas.microsoft.com/office/drawing/2014/main" id="{7C06DBF5-9267-436D-98BC-09D50A23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48050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657"/>
          </a:bodyPr>
          <a:lstStyle xmlns:a="http://schemas.openxmlformats.org/drawingml/2006/main">
            <a:def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Clinical and hazard outputs</a:t>
            </a:r>
          </a:p>
          <a:p xmlns:a="http://schemas.openxmlformats.org/drawingml/2006/main">
            <a: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combined locally. The model may</a:t>
            </a:r>
          </a:p>
          <a:p xmlns:a="http://schemas.openxmlformats.org/drawingml/2006/main">
            <a: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raise an environmental tier.</a:t>
            </a:r>
          </a:p>
        </p:txBody>
      </p:sp>
      <p:sp>
        <p:nvSpPr>
          <p:cNvPr id="24" name="risk-caveat">
            <a:extLst xmlns:a="http://schemas.openxmlformats.org/drawingml/2006/main">
              <a:ext uri="{FF2B5EF4-FFF2-40B4-BE49-F238E27FC236}">
                <a16:creationId xmlns:a16="http://schemas.microsoft.com/office/drawing/2014/main" id="{743B203E-1839-4480-9560-A05909E8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BME280 temperature is ambient, not body temperature. Teacher agreement on synthetic data is not clinical accuracy.</a:t>
            </a:r>
          </a:p>
        </p:txBody>
      </p:sp>
    </p:spTree>
    <p:extLst>
      <p:ext uri="{BB962C8B-B14F-4D97-AF65-F5344CB8AC3E}">
        <p14:creationId xmlns:p14="http://schemas.microsoft.com/office/powerpoint/2010/main" val="13994386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A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Offline access on the ESP32-S3">
            <a:extLst xmlns:a="http://schemas.openxmlformats.org/drawingml/2006/main">
              <a:ext uri="{FF2B5EF4-FFF2-40B4-BE49-F238E27FC236}">
                <a16:creationId xmlns:a16="http://schemas.microsoft.com/office/drawing/2014/main" id="{98D4EA9D-DE51-40C7-A777-DF8FD669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Offline access on the ESP32-S3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FD885-0EF9-4B63-99E5-7C4EDE19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36D4D"/>
            </a:solidFill>
            <a:prstDash val="solid"/>
          </a:ln>
        </p:spPr>
      </p:sp>
      <p:sp>
        <p:nvSpPr>
          <p:cNvPr id="3" name="dashboard-preview-frame">
            <a:extLst xmlns:a="http://schemas.openxmlformats.org/drawingml/2006/main">
              <a:ext uri="{FF2B5EF4-FFF2-40B4-BE49-F238E27FC236}">
                <a16:creationId xmlns:a16="http://schemas.microsoft.com/office/drawing/2014/main" id="{FE517D85-DDB7-4CA3-AB5E-D7C3D25B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9913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3D"/>
          </a:solidFill>
          <a:ln xmlns:a="http://schemas.openxmlformats.org/drawingml/2006/main" w="11430">
            <a:solidFill>
              <a:srgbClr val="D7DDD8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AB280-89F4-446B-AFB8-C5E105C6D1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1429e0064462d"/>
          <a:srcRect xmlns:a="http://schemas.openxmlformats.org/drawingml/2006/main" l="0" t="0" r="0" b="42000"/>
          <a:stretch xmlns:a="http://schemas.openxmlformats.org/drawingml/2006/main"/>
        </p:blipFill>
        <p:spPr>
          <a:xfrm xmlns:a="http://schemas.openxmlformats.org/drawingml/2006/main">
            <a:off x="723900" y="1685925"/>
            <a:ext cx="6762750" cy="4210050"/>
          </a:xfrm>
          <a:prstGeom xmlns:a="http://schemas.openxmlformats.org/drawingml/2006/main" prst="rect">
            <a:avLst/>
          </a:prstGeom>
        </p:spPr>
      </p:pic>
      <p:sp>
        <p:nvSpPr>
          <p:cNvPr id="5" name="dashboard-preview-caption">
            <a:extLst xmlns:a="http://schemas.openxmlformats.org/drawingml/2006/main">
              <a:ext uri="{FF2B5EF4-FFF2-40B4-BE49-F238E27FC236}">
                <a16:creationId xmlns:a16="http://schemas.microsoft.com/office/drawing/2014/main" id="{0F22E777-8D62-49C1-9784-590F7A24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EBBC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AEBBC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AEBBC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AEBBC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AEBBC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AEBBC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AEBBC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AEBBC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AEBBC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AEBBC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EBBC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EBBC0"/>
                </a:solidFill>
                <a:latin typeface="Segoe UI"/>
                <a:ea typeface="Segoe UI"/>
                <a:cs typeface="Segoe UI"/>
              </a:rPr>
              <a:t>Desktop dashboard preview. This screenshot uses a simulation profile.</a:t>
            </a:r>
          </a:p>
        </p:txBody>
      </p:sp>
      <p:sp>
        <p:nvSpPr>
          <p:cNvPr id="6" name="offline-label-0">
            <a:extLst xmlns:a="http://schemas.openxmlformats.org/drawingml/2006/main">
              <a:ext uri="{FF2B5EF4-FFF2-40B4-BE49-F238E27FC236}">
                <a16:creationId xmlns:a16="http://schemas.microsoft.com/office/drawing/2014/main" id="{57EA02AF-9EFD-4873-9466-0549E4DE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D5A33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5A33E"/>
                </a:solidFill>
                <a:latin typeface="Segoe UI"/>
                <a:ea typeface="Segoe UI"/>
                <a:cs typeface="Segoe UI"/>
              </a:rPr>
              <a:t>ON THE DEVICE</a:t>
            </a:r>
          </a:p>
        </p:txBody>
      </p:sp>
      <p:sp>
        <p:nvSpPr>
          <p:cNvPr id="7" name="offline-copy-0">
            <a:extLst xmlns:a="http://schemas.openxmlformats.org/drawingml/2006/main">
              <a:ext uri="{FF2B5EF4-FFF2-40B4-BE49-F238E27FC236}">
                <a16:creationId xmlns:a16="http://schemas.microsoft.com/office/drawing/2014/main" id="{B0FA4245-774B-46B0-B005-128FBD85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OLED, LED and buzzer provide local alert cues.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EBFCD-C88D-4F5A-B571-FFE3474B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76525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261"/>
            </a:solidFill>
            <a:prstDash val="solid"/>
          </a:ln>
        </p:spPr>
      </p:sp>
      <p:sp>
        <p:nvSpPr>
          <p:cNvPr id="9" name="offline-label-1">
            <a:extLst xmlns:a="http://schemas.openxmlformats.org/drawingml/2006/main">
              <a:ext uri="{FF2B5EF4-FFF2-40B4-BE49-F238E27FC236}">
                <a16:creationId xmlns:a16="http://schemas.microsoft.com/office/drawing/2014/main" id="{D1072BCB-2AF8-4739-992C-0156A7D9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A7472"/>
                </a:solidFill>
                <a:latin typeface="Segoe UI"/>
                <a:ea typeface="Segoe UI"/>
                <a:cs typeface="Segoe UI"/>
              </a:rPr>
              <a:t>PHONE NEARBY</a:t>
            </a:r>
          </a:p>
        </p:txBody>
      </p:sp>
      <p:sp>
        <p:nvSpPr>
          <p:cNvPr id="10" name="offline-copy-1">
            <a:extLst xmlns:a="http://schemas.openxmlformats.org/drawingml/2006/main">
              <a:ext uri="{FF2B5EF4-FFF2-40B4-BE49-F238E27FC236}">
                <a16:creationId xmlns:a16="http://schemas.microsoft.com/office/drawing/2014/main" id="{1E9C0DC6-EE29-44B9-A0E7-57D97890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ESP32 SoftAP serves a compact status page and history.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94E7B-6125-4D6C-B12E-246EBDA4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261"/>
            </a:solidFill>
            <a:prstDash val="solid"/>
          </a:ln>
        </p:spPr>
      </p:sp>
      <p:sp>
        <p:nvSpPr>
          <p:cNvPr id="12" name="offline-label-2">
            <a:extLst xmlns:a="http://schemas.openxmlformats.org/drawingml/2006/main">
              <a:ext uri="{FF2B5EF4-FFF2-40B4-BE49-F238E27FC236}">
                <a16:creationId xmlns:a16="http://schemas.microsoft.com/office/drawing/2014/main" id="{3D93E02D-7B6A-452D-84AC-A997A83E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A7472"/>
                </a:solidFill>
                <a:latin typeface="Segoe UI"/>
                <a:ea typeface="Segoe UI"/>
                <a:cs typeface="Segoe UI"/>
              </a:rPr>
              <a:t>DESKTOP VIEW</a:t>
            </a:r>
          </a:p>
        </p:txBody>
      </p:sp>
      <p:sp>
        <p:nvSpPr>
          <p:cNvPr id="13" name="offline-copy-2">
            <a:extLst xmlns:a="http://schemas.openxmlformats.org/drawingml/2006/main">
              <a:ext uri="{FF2B5EF4-FFF2-40B4-BE49-F238E27FC236}">
                <a16:creationId xmlns:a16="http://schemas.microsoft.com/office/drawing/2014/main" id="{98691DAA-D7E3-4DA4-B9A6-4374CA22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richer dashboard can connect over USB serial.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CE903-58E2-4BCB-8A61-16290FCD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86325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261"/>
            </a:solidFill>
            <a:prstDash val="solid"/>
          </a:ln>
        </p:spPr>
      </p:sp>
      <p:sp>
        <p:nvSpPr>
          <p:cNvPr id="15" name="offline-label-3">
            <a:extLst xmlns:a="http://schemas.openxmlformats.org/drawingml/2006/main">
              <a:ext uri="{FF2B5EF4-FFF2-40B4-BE49-F238E27FC236}">
                <a16:creationId xmlns:a16="http://schemas.microsoft.com/office/drawing/2014/main" id="{46E051E7-5BDA-49E2-A839-7BB220C0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A7472"/>
                </a:solidFill>
                <a:latin typeface="Segoe UI"/>
                <a:ea typeface="Segoe UI"/>
                <a:cs typeface="Segoe UI"/>
              </a:rPr>
              <a:t>NETWORK PATH</a:t>
            </a:r>
          </a:p>
        </p:txBody>
      </p:sp>
      <p:sp>
        <p:nvSpPr>
          <p:cNvPr id="16" name="offline-copy-3">
            <a:extLst xmlns:a="http://schemas.openxmlformats.org/drawingml/2006/main">
              <a:ext uri="{FF2B5EF4-FFF2-40B4-BE49-F238E27FC236}">
                <a16:creationId xmlns:a16="http://schemas.microsoft.com/office/drawing/2014/main" id="{A9C4A210-D3DD-405F-AF02-F66EA29E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340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 cloud or external CDN is required for local status.</a:t>
            </a:r>
          </a:p>
        </p:txBody>
      </p:sp>
    </p:spTree>
    <p:extLst>
      <p:ext uri="{BB962C8B-B14F-4D97-AF65-F5344CB8AC3E}">
        <p14:creationId xmlns:p14="http://schemas.microsoft.com/office/powerpoint/2010/main" val="1995271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Measured implementation evidence">
            <a:extLst xmlns:a="http://schemas.openxmlformats.org/drawingml/2006/main">
              <a:ext uri="{FF2B5EF4-FFF2-40B4-BE49-F238E27FC236}">
                <a16:creationId xmlns:a16="http://schemas.microsoft.com/office/drawing/2014/main" id="{3D961700-6C3A-4DAC-BC88-A6DD1B03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Measured implementation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1161E-02D6-43CA-B17D-E5CC06CA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A7472"/>
            </a:solidFill>
            <a:prstDash val="solid"/>
          </a:ln>
        </p:spPr>
      </p:sp>
      <p:sp>
        <p:nvSpPr>
          <p:cNvPr id="3" name="evidence-forge-label">
            <a:extLst xmlns:a="http://schemas.openxmlformats.org/drawingml/2006/main">
              <a:ext uri="{FF2B5EF4-FFF2-40B4-BE49-F238E27FC236}">
                <a16:creationId xmlns:a16="http://schemas.microsoft.com/office/drawing/2014/main" id="{84F4D6F3-79F8-4435-944E-9BF757C0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82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A7472"/>
                </a:solidFill>
                <a:latin typeface="Segoe UI"/>
                <a:ea typeface="Segoe UI"/>
                <a:cs typeface="Segoe UI"/>
              </a:rPr>
              <a:t>ACTIVE BUILD · RENESAS FORGEFPGA</a:t>
            </a:r>
          </a:p>
        </p:txBody>
      </p:sp>
      <p:sp>
        <p:nvSpPr>
          <p:cNvPr id="4" name="evidence-forge-luts">
            <a:extLst xmlns:a="http://schemas.openxmlformats.org/drawingml/2006/main">
              <a:ext uri="{FF2B5EF4-FFF2-40B4-BE49-F238E27FC236}">
                <a16:creationId xmlns:a16="http://schemas.microsoft.com/office/drawing/2014/main" id="{9B85F6A5-4FD6-49EE-88A0-D5FF354B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5829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4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4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4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4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4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4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4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4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4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515 / 1,120</a:t>
            </a:r>
          </a:p>
        </p:txBody>
      </p:sp>
      <p:sp>
        <p:nvSpPr>
          <p:cNvPr id="5" name="evidence-forge-lut-caption">
            <a:extLst xmlns:a="http://schemas.openxmlformats.org/drawingml/2006/main">
              <a:ext uri="{FF2B5EF4-FFF2-40B4-BE49-F238E27FC236}">
                <a16:creationId xmlns:a16="http://schemas.microsoft.com/office/drawing/2014/main" id="{FDBD2C0E-0059-40BD-A6D5-31F7D787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47950"/>
            <a:ext cx="581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LUT5 resources in the current fitter report</a:t>
            </a:r>
          </a:p>
        </p:txBody>
      </p:sp>
      <p:sp>
        <p:nvSpPr>
          <p:cNvPr id="6" name="evidence-forge-ff">
            <a:extLst xmlns:a="http://schemas.openxmlformats.org/drawingml/2006/main">
              <a:ext uri="{FF2B5EF4-FFF2-40B4-BE49-F238E27FC236}">
                <a16:creationId xmlns:a16="http://schemas.microsoft.com/office/drawing/2014/main" id="{C083751D-7E9C-4C29-B48A-52828C4F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303 flip-flops; 105 of 140 CLBs used</a:t>
            </a:r>
          </a:p>
        </p:txBody>
      </p:sp>
      <p:sp>
        <p:nvSpPr>
          <p:cNvPr id="7" name="evidence-forge-timing">
            <a:extLst xmlns:a="http://schemas.openxmlformats.org/drawingml/2006/main">
              <a:ext uri="{FF2B5EF4-FFF2-40B4-BE49-F238E27FC236}">
                <a16:creationId xmlns:a16="http://schemas.microsoft.com/office/drawing/2014/main" id="{A4412452-D978-4BCB-B41B-50A49B41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3852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WNS +7.316 ns at 50 MHz; TNS = 0</a:t>
            </a:r>
          </a:p>
        </p:txBody>
      </p:sp>
      <p:sp>
        <p:nvSpPr>
          <p:cNvPr id="8" name="evidence-forge-frequency">
            <a:extLst xmlns:a="http://schemas.openxmlformats.org/drawingml/2006/main">
              <a:ext uri="{FF2B5EF4-FFF2-40B4-BE49-F238E27FC236}">
                <a16:creationId xmlns:a16="http://schemas.microsoft.com/office/drawing/2014/main" id="{A73B6854-6D03-4C63-AE4C-2AC962AE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2905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Reported achievable frequency: 78.85 MHz</a:t>
            </a:r>
          </a:p>
        </p:txBody>
      </p:sp>
      <p:sp>
        <p:nvSpPr>
          <p:cNvPr id="9" name="floorplan-view-frame">
            <a:extLst xmlns:a="http://schemas.openxmlformats.org/drawingml/2006/main">
              <a:ext uri="{FF2B5EF4-FFF2-40B4-BE49-F238E27FC236}">
                <a16:creationId xmlns:a16="http://schemas.microsoft.com/office/drawing/2014/main" id="{067BB349-E159-4D8D-97DC-6614DFC0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24000"/>
            <a:ext cx="4476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8"/>
          </a:solidFill>
          <a:ln xmlns:a="http://schemas.openxmlformats.org/drawingml/2006/main" w="11430">
            <a:solidFill>
              <a:srgbClr val="D7DDD8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72584-EABA-4BD8-B1DB-8AE9A1450C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ae3d2cc6e4251"/>
          <a:stretch xmlns:a="http://schemas.openxmlformats.org/drawingml/2006/main"/>
        </p:blipFill>
        <p:spPr>
          <a:xfrm xmlns:a="http://schemas.openxmlformats.org/drawingml/2006/main">
            <a:off x="7767479" y="1638300"/>
            <a:ext cx="3076891" cy="3295650"/>
          </a:xfrm>
          <a:prstGeom xmlns:a="http://schemas.openxmlformats.org/drawingml/2006/main" prst="rect">
            <a:avLst/>
          </a:prstGeom>
        </p:spPr>
      </p:pic>
      <p:sp>
        <p:nvSpPr>
          <p:cNvPr id="11" name="floorplan-caption">
            <a:extLst xmlns:a="http://schemas.openxmlformats.org/drawingml/2006/main">
              <a:ext uri="{FF2B5EF4-FFF2-40B4-BE49-F238E27FC236}">
                <a16:creationId xmlns:a16="http://schemas.microsoft.com/office/drawing/2014/main" id="{EE1A1100-7002-4E9C-9415-A752E8B4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14925"/>
            <a:ext cx="424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ForgeFPGA placement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85610-BEDB-4DBE-8F10-A847776E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588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DDD8"/>
            </a:solidFill>
            <a:prstDash val="solid"/>
          </a:ln>
        </p:spPr>
      </p:sp>
      <p:sp>
        <p:nvSpPr>
          <p:cNvPr id="13" name="evidence-zynq-label">
            <a:extLst xmlns:a="http://schemas.openxmlformats.org/drawingml/2006/main">
              <a:ext uri="{FF2B5EF4-FFF2-40B4-BE49-F238E27FC236}">
                <a16:creationId xmlns:a16="http://schemas.microsoft.com/office/drawing/2014/main" id="{919895E0-60AA-4B56-ABFD-2C1A2920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36D4D"/>
                </a:solidFill>
                <a:latin typeface="Segoe UI"/>
                <a:ea typeface="Segoe UI"/>
                <a:cs typeface="Segoe UI"/>
              </a:rPr>
              <a:t>PRESERVED REFERENCE · XILINX ZYNQ-7000</a:t>
            </a:r>
          </a:p>
        </p:txBody>
      </p:sp>
      <p:sp>
        <p:nvSpPr>
          <p:cNvPr id="14" name="evidence-zynq-line1">
            <a:extLst xmlns:a="http://schemas.openxmlformats.org/drawingml/2006/main">
              <a:ext uri="{FF2B5EF4-FFF2-40B4-BE49-F238E27FC236}">
                <a16:creationId xmlns:a16="http://schemas.microsoft.com/office/drawing/2014/main" id="{A82394C3-B1FF-4D19-B3F7-0A4D90F6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185 LUT, 16 LUTRAM, 266 FF, 0 DSP48, 0 BRAM</a:t>
            </a:r>
          </a:p>
        </p:txBody>
      </p:sp>
      <p:sp>
        <p:nvSpPr>
          <p:cNvPr id="15" name="evidence-zynq-line2">
            <a:extLst xmlns:a="http://schemas.openxmlformats.org/drawingml/2006/main">
              <a:ext uri="{FF2B5EF4-FFF2-40B4-BE49-F238E27FC236}">
                <a16:creationId xmlns:a16="http://schemas.microsoft.com/office/drawing/2014/main" id="{EF3ED04B-CE80-490C-BEE0-63F72D78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WNS +5.603 ns · WHS +0.184 ns · Fmax 69.45 MHz · 6/6 tests</a:t>
            </a:r>
          </a:p>
        </p:txBody>
      </p:sp>
      <p:sp>
        <p:nvSpPr>
          <p:cNvPr id="16" name="evidence-caveat">
            <a:extLst xmlns:a="http://schemas.openxmlformats.org/drawingml/2006/main">
              <a:ext uri="{FF2B5EF4-FFF2-40B4-BE49-F238E27FC236}">
                <a16:creationId xmlns:a16="http://schemas.microsoft.com/office/drawing/2014/main" id="{7553142B-B8E5-4516-B083-DB71BF09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Separate devices and tool flows; utilization figures are not directly comparable.</a:t>
            </a:r>
          </a:p>
        </p:txBody>
      </p:sp>
    </p:spTree>
    <p:extLst>
      <p:ext uri="{BB962C8B-B14F-4D97-AF65-F5344CB8AC3E}">
        <p14:creationId xmlns:p14="http://schemas.microsoft.com/office/powerpoint/2010/main" val="16608091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Prototype status and validation gaps">
            <a:extLst xmlns:a="http://schemas.openxmlformats.org/drawingml/2006/main">
              <a:ext uri="{FF2B5EF4-FFF2-40B4-BE49-F238E27FC236}">
                <a16:creationId xmlns:a16="http://schemas.microsoft.com/office/drawing/2014/main" id="{64A34E48-26D6-4CE8-974E-1D09E9BB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Prototype status and validation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925D9-AC06-4839-8A4F-AF91D35B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A7472"/>
            </a:solidFill>
            <a:prstDash val="solid"/>
          </a:ln>
        </p:spPr>
      </p:sp>
      <p:sp>
        <p:nvSpPr>
          <p:cNvPr id="3" name="prototype-photo-frame">
            <a:extLst xmlns:a="http://schemas.openxmlformats.org/drawingml/2006/main">
              <a:ext uri="{FF2B5EF4-FFF2-40B4-BE49-F238E27FC236}">
                <a16:creationId xmlns:a16="http://schemas.microsoft.com/office/drawing/2014/main" id="{A0C2D655-EF47-4FBD-BBE4-59EC85EC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33387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DD8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1567F-3622-43A4-80EF-1361BB70DC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4fdd26cbb4308"/>
          <a:srcRect xmlns:a="http://schemas.openxmlformats.org/drawingml/2006/main" l="3000" t="22000" r="3000" b="5000"/>
          <a:stretch xmlns:a="http://schemas.openxmlformats.org/drawingml/2006/main"/>
        </p:blipFill>
        <p:spPr>
          <a:xfrm xmlns:a="http://schemas.openxmlformats.org/drawingml/2006/main">
            <a:off x="723900" y="1638300"/>
            <a:ext cx="4105275" cy="4114800"/>
          </a:xfrm>
          <a:prstGeom xmlns:a="http://schemas.openxmlformats.org/drawingml/2006/main" prst="rect">
            <a:avLst/>
          </a:prstGeom>
        </p:spPr>
      </p:pic>
      <p:sp>
        <p:nvSpPr>
          <p:cNvPr id="5" name="prototype-photo-caption">
            <a:extLst xmlns:a="http://schemas.openxmlformats.org/drawingml/2006/main">
              <a:ext uri="{FF2B5EF4-FFF2-40B4-BE49-F238E27FC236}">
                <a16:creationId xmlns:a16="http://schemas.microsoft.com/office/drawing/2014/main" id="{C5F023D9-02B7-4977-85E2-CCEF6958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574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47A"/>
                </a:solidFill>
                <a:latin typeface="Segoe UI"/>
                <a:ea typeface="Segoe UI"/>
                <a:cs typeface="Segoe UI"/>
              </a:rPr>
              <a:t>Bench prototype shown</a:t>
            </a:r>
          </a:p>
        </p:txBody>
      </p:sp>
      <p:sp>
        <p:nvSpPr>
          <p:cNvPr id="6" name="prototype-build-label">
            <a:extLst xmlns:a="http://schemas.openxmlformats.org/drawingml/2006/main">
              <a:ext uri="{FF2B5EF4-FFF2-40B4-BE49-F238E27FC236}">
                <a16:creationId xmlns:a16="http://schemas.microsoft.com/office/drawing/2014/main" id="{F1FB049E-5702-4E02-AFD1-F91437DE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38300"/>
            <a:ext cx="590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A7472"/>
                </a:solidFill>
                <a:latin typeface="Segoe UI"/>
                <a:ea typeface="Segoe UI"/>
                <a:cs typeface="Segoe UI"/>
              </a:rPr>
              <a:t>CURRENT BUILD</a:t>
            </a:r>
          </a:p>
        </p:txBody>
      </p:sp>
      <p:sp>
        <p:nvSpPr>
          <p:cNvPr id="7" name="prototype-build-copy">
            <a:extLst xmlns:a="http://schemas.openxmlformats.org/drawingml/2006/main">
              <a:ext uri="{FF2B5EF4-FFF2-40B4-BE49-F238E27FC236}">
                <a16:creationId xmlns:a16="http://schemas.microsoft.com/office/drawing/2014/main" id="{6D9724B2-D156-4E58-824E-E3F0A9A7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71675"/>
            <a:ext cx="590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ESP32-S3 and ForgeFPGA with optical PPG, environmental sensors, motion sensing, GNSS and OLED.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85638-65FB-4B2D-B49A-C19CDE8F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71775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9" name="prototype-limits-label">
            <a:extLst xmlns:a="http://schemas.openxmlformats.org/drawingml/2006/main">
              <a:ext uri="{FF2B5EF4-FFF2-40B4-BE49-F238E27FC236}">
                <a16:creationId xmlns:a16="http://schemas.microsoft.com/office/drawing/2014/main" id="{57E459C9-00B8-46B4-A72D-967F540C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62275"/>
            <a:ext cx="590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D36D4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36D4D"/>
                </a:solidFill>
                <a:latin typeface="Segoe UI"/>
                <a:ea typeface="Segoe UI"/>
                <a:cs typeface="Segoe UI"/>
              </a:rPr>
              <a:t>VALIDATION BOUNDARIES</a:t>
            </a:r>
          </a:p>
        </p:txBody>
      </p:sp>
      <p:sp>
        <p:nvSpPr>
          <p:cNvPr id="10" name="prototype-limits-copy">
            <a:extLst xmlns:a="http://schemas.openxmlformats.org/drawingml/2006/main">
              <a:ext uri="{FF2B5EF4-FFF2-40B4-BE49-F238E27FC236}">
                <a16:creationId xmlns:a16="http://schemas.microsoft.com/office/drawing/2014/main" id="{36C9EBAD-A9DA-456A-9029-FE18FA35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95650"/>
            <a:ext cx="5905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This is an engineering prototype. The BME280 measures ambient air; body temperature is not instrumented. The model was compared with a synthetic teacher, not clinical outcomes.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DF66A-FC85-480B-8CB3-6923F817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29125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12" name="prototype-next-label">
            <a:extLst xmlns:a="http://schemas.openxmlformats.org/drawingml/2006/main">
              <a:ext uri="{FF2B5EF4-FFF2-40B4-BE49-F238E27FC236}">
                <a16:creationId xmlns:a16="http://schemas.microsoft.com/office/drawing/2014/main" id="{4890A0D6-B89B-4A1F-8FF7-6FE007C7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19625"/>
            <a:ext cx="590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A747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A7472"/>
                </a:solidFill>
                <a:latin typeface="Segoe UI"/>
                <a:ea typeface="Segoe UI"/>
                <a:cs typeface="Segoe UI"/>
              </a:rPr>
              <a:t>NEXT ENGINEERING WORK</a:t>
            </a:r>
          </a:p>
        </p:txBody>
      </p:sp>
      <p:sp>
        <p:nvSpPr>
          <p:cNvPr id="13" name="prototype-next-copy">
            <a:extLst xmlns:a="http://schemas.openxmlformats.org/drawingml/2006/main">
              <a:ext uri="{FF2B5EF4-FFF2-40B4-BE49-F238E27FC236}">
                <a16:creationId xmlns:a16="http://schemas.microsoft.com/office/drawing/2014/main" id="{35CB359B-2AA2-4579-9DF6-D3B4B942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53000"/>
            <a:ext cx="590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23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42231"/>
                </a:solidFill>
                <a:latin typeface="Segoe UI"/>
                <a:ea typeface="Segoe UI"/>
                <a:cs typeface="Segoe UI"/>
              </a:rPr>
              <a:t>Build and test an enclosure, validate sensors and power under field conditions, and add access control before exposing sensitive data over the open SoftAP.</a:t>
            </a:r>
          </a:p>
        </p:txBody>
      </p:sp>
    </p:spTree>
    <p:extLst>
      <p:ext uri="{BB962C8B-B14F-4D97-AF65-F5344CB8AC3E}">
        <p14:creationId xmlns:p14="http://schemas.microsoft.com/office/powerpoint/2010/main" val="1833364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2026-10-25T18:06:51.6490000Z</dcterms:created>
  <dcterms:modified xsi:type="dcterms:W3CDTF">2026-10-25T18:06:51.6490000Z</dcterms:modified>
</coreProperties>
</file>